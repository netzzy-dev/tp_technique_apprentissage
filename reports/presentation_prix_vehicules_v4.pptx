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7556671-1d41-ca1e-5145-469ea8a6c832}">
          <p14:sldIdLst>
            <p14:sldId id="256"/>
          </p14:sldIdLst>
        </p14:section>
        <p14:section name="Données" id="{32c3e9e7-9a43-69ef-3373-bb6c310b6767}">
          <p14:sldIdLst>
            <p14:sldId id="257"/>
            <p14:sldId id="258"/>
          </p14:sldIdLst>
        </p14:section>
        <p14:section name="Protocole" id="{3f27b539-521c-1e88-892a-93fb2fdbfbe1}">
          <p14:sldIdLst>
            <p14:sldId id="259"/>
          </p14:sldIdLst>
        </p14:section>
        <p14:section name="Modèles" id="{db7acc1c-b74c-4fa8-5328-2f8420effad1}">
          <p14:sldIdLst>
            <p14:sldId id="260"/>
            <p14:sldId id="261"/>
            <p14:sldId id="262"/>
          </p14:sldIdLst>
        </p14:section>
        <p14:section name="Résultats" id="{d280aae1-242a-d86a-4e73-ed833f22cace}">
          <p14:sldIdLst>
            <p14:sldId id="263"/>
            <p14:sldId id="264"/>
            <p14:sldId id="265"/>
            <p14:sldId id="266"/>
          </p14:sldIdLst>
        </p14:section>
        <p14:section name="Conclusion" id="{f7e378ee-c6a8-188d-3b5a-a750b1dfaa56}">
          <p14:sldIdLst>
            <p14:sldId id="267"/>
          </p14:sldIdLst>
        </p14:section>
        <p14:section name="Annexes" id="{844a4950-8fdc-6b7e-c32f-31f823a11c0d}">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Nombre de véhicules par tranche de prix (5 000 $)</a:t>
            </a:r>
          </a:p>
        </c:rich>
      </c:tx>
      <c:layout/>
      <c:overlay val="0"/>
    </c:title>
    <c:autoTitleDeleted val="0"/>
    <c:plotArea>
      <c:layout/>
      <c:barChart>
        <c:barDir val="col"/>
        <c:grouping val="clustered"/>
        <c:varyColors val="0"/>
        <c:ser>
          <c:idx val="0"/>
          <c:order val="0"/>
          <c:tx>
            <c:strRef>
              <c:f>Sheet1!$B$1</c:f>
              <c:strCache>
                <c:ptCount val="1"/>
                <c:pt idx="0">
                  <c:v>Véhicules</c:v>
                </c:pt>
              </c:strCache>
            </c:strRef>
          </c:tx>
          <c:spPr>
            <a:solidFill>
              <a:srgbClr val="3E7C8C"/>
            </a:solidFill>
            <a:effectLst/>
          </c:spPr>
          <c:invertIfNegative val="0"/>
          <c:dLbls>
            <c:numFmt formatCode="#,##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cat>
            <c:multiLvlStrRef>
              <c:f>Sheet1!$A$2:$A$12</c:f>
              <c:multiLvlStrCache>
                <c:ptCount val="11"/>
                <c:lvl>
                  <c:pt idx="0">
                    <c:v>5–10k</c:v>
                  </c:pt>
                  <c:pt idx="1">
                    <c:v>10–15k</c:v>
                  </c:pt>
                  <c:pt idx="2">
                    <c:v>15–20k</c:v>
                  </c:pt>
                  <c:pt idx="3">
                    <c:v>20–25k</c:v>
                  </c:pt>
                  <c:pt idx="4">
                    <c:v>25–30k</c:v>
                  </c:pt>
                  <c:pt idx="5">
                    <c:v>30–35k</c:v>
                  </c:pt>
                  <c:pt idx="6">
                    <c:v>35–40k</c:v>
                  </c:pt>
                  <c:pt idx="7">
                    <c:v>40–45k</c:v>
                  </c:pt>
                  <c:pt idx="8">
                    <c:v>45–50k</c:v>
                  </c:pt>
                  <c:pt idx="9">
                    <c:v>50–60k</c:v>
                  </c:pt>
                  <c:pt idx="10">
                    <c:v>60k+</c:v>
                  </c:pt>
                </c:lvl>
              </c:multiLvlStrCache>
            </c:multiLvlStrRef>
          </c:cat>
          <c:val>
            <c:numRef>
              <c:f>Sheet1!$B$2:$B$12</c:f>
              <c:numCache>
                <c:formatCode>General</c:formatCode>
                <c:ptCount val="11"/>
                <c:pt idx="0">
                  <c:v>8</c:v>
                </c:pt>
                <c:pt idx="1">
                  <c:v>185</c:v>
                </c:pt>
                <c:pt idx="2">
                  <c:v>495</c:v>
                </c:pt>
                <c:pt idx="3">
                  <c:v>459</c:v>
                </c:pt>
                <c:pt idx="4">
                  <c:v>302</c:v>
                </c:pt>
                <c:pt idx="5">
                  <c:v>183</c:v>
                </c:pt>
                <c:pt idx="6">
                  <c:v>78</c:v>
                </c:pt>
                <c:pt idx="7">
                  <c:v>19</c:v>
                </c:pt>
                <c:pt idx="8">
                  <c:v>10</c:v>
                </c:pt>
                <c:pt idx="9">
                  <c:v>4</c:v>
                </c:pt>
                <c:pt idx="10">
                  <c:v>5</c:v>
                </c:pt>
              </c:numCache>
            </c:numRef>
          </c:val>
        </c:ser>
        <c:dLbls>
          <c:numFmt formatCode="#,##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0D6"/>
            </a:solidFill>
            <a:prstDash val="solid"/>
            <a:round/>
          </a:ln>
        </c:spPr>
        <c:txPr>
          <a:bodyPr/>
          <a:lstStyle/>
          <a:p>
            <a:pPr>
              <a:defRPr sz="1000" b="0" i="0" u="none" strike="noStrike">
                <a:solidFill>
                  <a:srgbClr val="6B7A8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Erreur moyenne au test (MAE, $) — plus bas = mieux</a:t>
            </a:r>
          </a:p>
        </c:rich>
      </c:tx>
      <c:layout/>
      <c:overlay val="0"/>
    </c:title>
    <c:autoTitleDeleted val="0"/>
    <c:plotArea>
      <c:layout/>
      <c:barChart>
        <c:barDir val="bar"/>
        <c:grouping val="clustered"/>
        <c:varyColors val="0"/>
        <c:ser>
          <c:idx val="0"/>
          <c:order val="0"/>
          <c:tx>
            <c:strRef>
              <c:f>Sheet1!$B$1</c:f>
              <c:strCache>
                <c:ptCount val="1"/>
                <c:pt idx="0">
                  <c:v>MAE test ($)</c:v>
                </c:pt>
              </c:strCache>
            </c:strRef>
          </c:tx>
          <c:spPr>
            <a:solidFill>
              <a:srgbClr val="9AA5B1"/>
            </a:solidFill>
            <a:effectLst/>
          </c:spPr>
          <c:invertIfNegative val="0"/>
          <c:dLbls>
            <c:numFmt formatCode="# ##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D5DAE0"/>
              </a:solidFill>
              <a:effectLst/>
            </c:spPr>
          </c:dPt>
          <c:dPt>
            <c:idx val="2"/>
            <c:invertIfNegative val="0"/>
            <c:bubble3D val="0"/>
            <c:spPr>
              <a:solidFill>
                <a:srgbClr val="3E7C8C"/>
              </a:solidFill>
              <a:effectLst/>
            </c:spPr>
          </c:dPt>
          <c:dPt>
            <c:idx val="3"/>
            <c:invertIfNegative val="0"/>
            <c:bubble3D val="0"/>
            <c:spPr>
              <a:solidFill>
                <a:srgbClr val="9EC3CC"/>
              </a:solidFill>
              <a:effectLst/>
            </c:spPr>
          </c:dPt>
          <c:dPt>
            <c:idx val="4"/>
            <c:invertIfNegative val="0"/>
            <c:bubble3D val="0"/>
            <c:spPr>
              <a:solidFill>
                <a:srgbClr val="3E7C8C"/>
              </a:solidFill>
              <a:effectLst/>
            </c:spPr>
          </c:dPt>
          <c:dPt>
            <c:idx val="5"/>
            <c:invertIfNegative val="0"/>
            <c:bubble3D val="0"/>
            <c:spPr>
              <a:solidFill>
                <a:srgbClr val="9EC3CC"/>
              </a:solidFill>
              <a:effectLst/>
            </c:spPr>
          </c:dPt>
          <c:dPt>
            <c:idx val="6"/>
            <c:invertIfNegative val="0"/>
            <c:bubble3D val="0"/>
            <c:spPr>
              <a:solidFill>
                <a:srgbClr val="9EC3CC"/>
              </a:solidFill>
              <a:effectLst/>
            </c:spPr>
          </c:dPt>
          <c:dPt>
            <c:idx val="7"/>
            <c:invertIfNegative val="0"/>
            <c:bubble3D val="0"/>
            <c:spPr>
              <a:solidFill>
                <a:srgbClr val="E8A317"/>
              </a:solidFill>
              <a:effectLst/>
            </c:spPr>
          </c:dPt>
          <c:cat>
            <c:multiLvlStrRef>
              <c:f>Sheet1!$A$2:$A$9</c:f>
              <c:multiLvlStrCache>
                <c:ptCount val="8"/>
                <c:lvl>
                  <c:pt idx="0">
                    <c:v>Linéaire (notebook)</c:v>
                  </c:pt>
                  <c:pt idx="1">
                    <c:v>Linéaire, solveur exact*</c:v>
                  </c:pt>
                  <c:pt idx="2">
                    <c:v>Ridge α=1</c:v>
                  </c:pt>
                  <c:pt idx="3">
                    <c:v>Ridge α=10</c:v>
                  </c:pt>
                  <c:pt idx="4">
                    <c:v>Lasso α=1</c:v>
                  </c:pt>
                  <c:pt idx="5">
                    <c:v>Lasso α=10</c:v>
                  </c:pt>
                  <c:pt idx="6">
                    <c:v>ElasticNet α=1</c:v>
                  </c:pt>
                  <c:pt idx="7">
                    <c:v>ElasticNetCV</c:v>
                  </c:pt>
                </c:lvl>
              </c:multiLvlStrCache>
            </c:multiLvlStrRef>
          </c:cat>
          <c:val>
            <c:numRef>
              <c:f>Sheet1!$B$2:$B$9</c:f>
              <c:numCache>
                <c:formatCode>General</c:formatCode>
                <c:ptCount val="8"/>
                <c:pt idx="0">
                  <c:v>2274</c:v>
                </c:pt>
                <c:pt idx="1">
                  <c:v>1690</c:v>
                </c:pt>
                <c:pt idx="2">
                  <c:v>1832</c:v>
                </c:pt>
                <c:pt idx="3">
                  <c:v>2137</c:v>
                </c:pt>
                <c:pt idx="4">
                  <c:v>1726</c:v>
                </c:pt>
                <c:pt idx="5">
                  <c:v>2136</c:v>
                </c:pt>
                <c:pt idx="6">
                  <c:v>3424</c:v>
                </c:pt>
                <c:pt idx="7">
                  <c:v>1800</c:v>
                </c:pt>
              </c:numCache>
            </c:numRef>
          </c:val>
        </c:ser>
        <c:dLbls>
          <c:numFmt formatCode="# ##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0D6"/>
            </a:solidFill>
            <a:prstDash val="solid"/>
            <a:round/>
          </a:ln>
        </c:spPr>
        <c:txPr>
          <a:bodyPr/>
          <a:lstStyle/>
          <a:p>
            <a:pPr>
              <a:defRPr sz="1200" b="0" i="0" u="none" strike="noStrike">
                <a:solidFill>
                  <a:srgbClr val="6B7A8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Arbre de décision : R² selon la taille minimale des feuilles</a:t>
            </a:r>
          </a:p>
        </c:rich>
      </c:tx>
      <c:layout/>
      <c:overlay val="0"/>
    </c:title>
    <c:autoTitleDeleted val="0"/>
    <c:plotArea>
      <c:layout/>
      <c:barChart>
        <c:barDir val="col"/>
        <c:grouping val="clustered"/>
        <c:varyColors val="0"/>
        <c:ser>
          <c:idx val="0"/>
          <c:order val="0"/>
          <c:tx>
            <c:strRef>
              <c:f>Sheet1!$B$1</c:f>
              <c:strCache>
                <c:ptCount val="1"/>
                <c:pt idx="0">
                  <c:v>R² entraînement</c:v>
                </c:pt>
              </c:strCache>
            </c:strRef>
          </c:tx>
          <c:spPr>
            <a:solidFill>
              <a:srgbClr val="9AA5B1"/>
            </a:solidFill>
            <a:effectLst/>
          </c:spPr>
          <c:invertIfNegative val="0"/>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5</c:v>
                  </c:pt>
                  <c:pt idx="3">
                    <c:v>10</c:v>
                  </c:pt>
                  <c:pt idx="4">
                    <c:v>20</c:v>
                  </c:pt>
                </c:lvl>
              </c:multiLvlStrCache>
            </c:multiLvlStrRef>
          </c:cat>
          <c:val>
            <c:numRef>
              <c:f>Sheet1!$B$2:$B$6</c:f>
              <c:numCache>
                <c:formatCode>General</c:formatCode>
                <c:ptCount val="5"/>
                <c:pt idx="0">
                  <c:v>1</c:v>
                </c:pt>
                <c:pt idx="1">
                  <c:v>0.949</c:v>
                </c:pt>
                <c:pt idx="2">
                  <c:v>0.796</c:v>
                </c:pt>
                <c:pt idx="3">
                  <c:v>0.724</c:v>
                </c:pt>
                <c:pt idx="4">
                  <c:v>0.66</c:v>
                </c:pt>
              </c:numCache>
            </c:numRef>
          </c:val>
        </c:ser>
        <c:ser>
          <c:idx val="1"/>
          <c:order val="1"/>
          <c:tx>
            <c:strRef>
              <c:f>Sheet1!$C$1</c:f>
              <c:strCache>
                <c:ptCount val="1"/>
                <c:pt idx="0">
                  <c:v>R² test</c:v>
                </c:pt>
              </c:strCache>
            </c:strRef>
          </c:tx>
          <c:spPr>
            <a:solidFill>
              <a:srgbClr val="3E7C8C"/>
            </a:solidFill>
            <a:effectLst/>
          </c:spPr>
          <c:invertIfNegative val="0"/>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5</c:v>
                  </c:pt>
                  <c:pt idx="3">
                    <c:v>10</c:v>
                  </c:pt>
                  <c:pt idx="4">
                    <c:v>20</c:v>
                  </c:pt>
                </c:lvl>
              </c:multiLvlStrCache>
            </c:multiLvlStrRef>
          </c:cat>
          <c:val>
            <c:numRef>
              <c:f>Sheet1!$C$2:$C$6</c:f>
              <c:numCache>
                <c:formatCode>General</c:formatCode>
                <c:ptCount val="5"/>
                <c:pt idx="0">
                  <c:v>0.509</c:v>
                </c:pt>
                <c:pt idx="1">
                  <c:v>0.645</c:v>
                </c:pt>
                <c:pt idx="2">
                  <c:v>0.589</c:v>
                </c:pt>
                <c:pt idx="3">
                  <c:v>0.533</c:v>
                </c:pt>
                <c:pt idx="4">
                  <c:v>0.546</c:v>
                </c:pt>
              </c:numCache>
            </c:numRef>
          </c:val>
        </c:ser>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B7A89"/>
                    </a:solidFill>
                    <a:latin typeface="Arial"/>
                  </a:defRPr>
                </a:pPr>
                <a:r>
                  <a:rPr sz="1100" b="0" i="0" u="none" strike="noStrike">
                    <a:solidFill>
                      <a:srgbClr val="6B7A89"/>
                    </a:solidFill>
                    <a:latin typeface="Arial"/>
                  </a:rPr>
                  <a:t>véhicules minimum par feuille</a:t>
                </a:r>
              </a:p>
            </c:rich>
          </c:tx>
          <c:layout/>
          <c:overlay val="0"/>
        </c:title>
        <c:numFmt formatCode="General" sourceLinked="1"/>
        <c:majorTickMark val="out"/>
        <c:minorTickMark val="none"/>
        <c:tickLblPos val="low"/>
        <c:spPr>
          <a:ln w="12700" cap="flat">
            <a:solidFill>
              <a:srgbClr val="C9D0D6"/>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Les 5 finalistes : R² au test et en validation croisée</a:t>
            </a:r>
          </a:p>
        </c:rich>
      </c:tx>
      <c:layout/>
      <c:overlay val="0"/>
    </c:title>
    <c:autoTitleDeleted val="0"/>
    <c:plotArea>
      <c:layout/>
      <c:barChart>
        <c:barDir val="col"/>
        <c:grouping val="clustered"/>
        <c:varyColors val="0"/>
        <c:ser>
          <c:idx val="0"/>
          <c:order val="0"/>
          <c:tx>
            <c:strRef>
              <c:f>Sheet1!$B$1</c:f>
              <c:strCache>
                <c:ptCount val="1"/>
                <c:pt idx="0">
                  <c:v>R² test</c:v>
                </c:pt>
              </c:strCache>
            </c:strRef>
          </c:tx>
          <c:spPr>
            <a:solidFill>
              <a:srgbClr val="3E7C8C"/>
            </a:solidFill>
            <a:effectLst/>
          </c:spPr>
          <c:invertIfNegative val="0"/>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cat>
            <c:multiLvlStrRef>
              <c:f>Sheet1!$A$2:$A$6</c:f>
              <c:multiLvlStrCache>
                <c:ptCount val="5"/>
                <c:lvl>
                  <c:pt idx="0">
                    <c:v>Linéaire</c:v>
                  </c:pt>
                  <c:pt idx="1">
                    <c:v>RidgeCV</c:v>
                  </c:pt>
                  <c:pt idx="2">
                    <c:v>Lasso α=1</c:v>
                  </c:pt>
                  <c:pt idx="3">
                    <c:v>ElasticNetCV ★</c:v>
                  </c:pt>
                  <c:pt idx="4">
                    <c:v>XGBoost</c:v>
                  </c:pt>
                </c:lvl>
              </c:multiLvlStrCache>
            </c:multiLvlStrRef>
          </c:cat>
          <c:val>
            <c:numRef>
              <c:f>Sheet1!$B$2:$B$6</c:f>
              <c:numCache>
                <c:formatCode>General</c:formatCode>
                <c:ptCount val="5"/>
                <c:pt idx="0">
                  <c:v>0.7048</c:v>
                </c:pt>
                <c:pt idx="1">
                  <c:v>0.766</c:v>
                </c:pt>
                <c:pt idx="2">
                  <c:v>0.7572</c:v>
                </c:pt>
                <c:pt idx="3">
                  <c:v>0.7692</c:v>
                </c:pt>
                <c:pt idx="4">
                  <c:v>0.6675</c:v>
                </c:pt>
              </c:numCache>
            </c:numRef>
          </c:val>
        </c:ser>
        <c:ser>
          <c:idx val="1"/>
          <c:order val="1"/>
          <c:tx>
            <c:strRef>
              <c:f>Sheet1!$C$1</c:f>
              <c:strCache>
                <c:ptCount val="1"/>
                <c:pt idx="0">
                  <c:v>R² CV moyen</c:v>
                </c:pt>
              </c:strCache>
            </c:strRef>
          </c:tx>
          <c:spPr>
            <a:solidFill>
              <a:srgbClr val="9EC3CC"/>
            </a:solidFill>
            <a:effectLst/>
          </c:spPr>
          <c:invertIfNegative val="0"/>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cat>
            <c:multiLvlStrRef>
              <c:f>Sheet1!$A$2:$A$6</c:f>
              <c:multiLvlStrCache>
                <c:ptCount val="5"/>
                <c:lvl>
                  <c:pt idx="0">
                    <c:v>Linéaire</c:v>
                  </c:pt>
                  <c:pt idx="1">
                    <c:v>RidgeCV</c:v>
                  </c:pt>
                  <c:pt idx="2">
                    <c:v>Lasso α=1</c:v>
                  </c:pt>
                  <c:pt idx="3">
                    <c:v>ElasticNetCV ★</c:v>
                  </c:pt>
                  <c:pt idx="4">
                    <c:v>XGBoost</c:v>
                  </c:pt>
                </c:lvl>
              </c:multiLvlStrCache>
            </c:multiLvlStrRef>
          </c:cat>
          <c:val>
            <c:numRef>
              <c:f>Sheet1!$C$2:$C$6</c:f>
              <c:numCache>
                <c:formatCode>General</c:formatCode>
                <c:ptCount val="5"/>
                <c:pt idx="0">
                  <c:v>0.723</c:v>
                </c:pt>
                <c:pt idx="1">
                  <c:v>0.764</c:v>
                </c:pt>
                <c:pt idx="2">
                  <c:v>0.755</c:v>
                </c:pt>
                <c:pt idx="3">
                  <c:v>0.772</c:v>
                </c:pt>
                <c:pt idx="4">
                  <c:v>0.769</c:v>
                </c:pt>
              </c:numCache>
            </c:numRef>
          </c:val>
        </c:ser>
        <c:dLbls>
          <c:numFmt formatCode="0.0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0D6"/>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noMultiLvlLbl val="1"/>
      </c:catAx>
      <c:valAx>
        <c:axId val="2094734552"/>
        <c:scaling>
          <c:orientation val="minMax"/>
          <c:max val="0.82"/>
          <c:min val="0.5"/>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Prix prédit vs prix réel — 350 véhicules du test ($)</a:t>
            </a:r>
          </a:p>
        </c:rich>
      </c:tx>
      <c:layout/>
      <c:overlay val="0"/>
    </c:title>
    <c:autoTitleDeleted val="0"/>
    <c:plotArea>
      <c:layout/>
      <c:scatterChart>
        <c:scatterStyle val="lineMarker"/>
        <c:varyColors val="0"/>
        <c:ser>
          <c:idx val="0"/>
          <c:order val="0"/>
          <c:tx>
            <c:strRef>
              <c:f>Sheet1!$B$1</c:f>
              <c:strCache>
                <c:ptCount val="1"/>
                <c:pt idx="0">
                  <c:v>Prédit (ElasticNetCV)</c:v>
                </c:pt>
              </c:strCache>
            </c:strRef>
          </c:tx>
          <c:spPr>
            <a:solidFill>
              <a:srgbClr val="3E7C8C"/>
            </a:solidFill>
            <a:ln>
              <a:noFill/>
            </a:ln>
            <a:effectLst/>
          </c:spPr>
          <c:marker>
            <c:symbol val="circle"/>
            <c:size val="5"/>
            <c:spPr>
              <a:solidFill>
                <a:srgbClr val="3E7C8C"/>
              </a:solidFill>
              <a:ln w="9525" cap="flat">
                <a:solidFill>
                  <a:srgbClr val="3E7C8C"/>
                </a:solidFill>
                <a:prstDash val="solid"/>
                <a:round/>
              </a:ln>
              <a:effectLst/>
            </c:spPr>
          </c:marker>
          <c:xVal>
            <c:numRef>
              <c:f>Sheet1!$A$2:$A$386</c:f>
              <c:numCache>
                <c:formatCode>General</c:formatCode>
                <c:ptCount val="385"/>
                <c:pt idx="0">
                  <c:v>26495</c:v>
                </c:pt>
                <c:pt idx="1">
                  <c:v>45995</c:v>
                </c:pt>
                <c:pt idx="2">
                  <c:v>25495</c:v>
                </c:pt>
                <c:pt idx="3">
                  <c:v>22995</c:v>
                </c:pt>
                <c:pt idx="4">
                  <c:v>32995</c:v>
                </c:pt>
                <c:pt idx="5">
                  <c:v>20995</c:v>
                </c:pt>
                <c:pt idx="6">
                  <c:v>43995</c:v>
                </c:pt>
                <c:pt idx="7">
                  <c:v>32995</c:v>
                </c:pt>
                <c:pt idx="8">
                  <c:v>23995</c:v>
                </c:pt>
                <c:pt idx="9">
                  <c:v>18495</c:v>
                </c:pt>
                <c:pt idx="10">
                  <c:v>25995</c:v>
                </c:pt>
                <c:pt idx="11">
                  <c:v>25995</c:v>
                </c:pt>
                <c:pt idx="12">
                  <c:v>22995</c:v>
                </c:pt>
                <c:pt idx="13">
                  <c:v>22995</c:v>
                </c:pt>
                <c:pt idx="14">
                  <c:v>14995</c:v>
                </c:pt>
                <c:pt idx="15">
                  <c:v>23995</c:v>
                </c:pt>
                <c:pt idx="16">
                  <c:v>24495</c:v>
                </c:pt>
                <c:pt idx="17">
                  <c:v>19995</c:v>
                </c:pt>
                <c:pt idx="18">
                  <c:v>12995</c:v>
                </c:pt>
                <c:pt idx="19">
                  <c:v>27495</c:v>
                </c:pt>
                <c:pt idx="20">
                  <c:v>30995</c:v>
                </c:pt>
                <c:pt idx="21">
                  <c:v>22995</c:v>
                </c:pt>
                <c:pt idx="22">
                  <c:v>19495</c:v>
                </c:pt>
                <c:pt idx="23">
                  <c:v>29995</c:v>
                </c:pt>
                <c:pt idx="24">
                  <c:v>26995</c:v>
                </c:pt>
                <c:pt idx="25">
                  <c:v>25495</c:v>
                </c:pt>
                <c:pt idx="26">
                  <c:v>19995</c:v>
                </c:pt>
                <c:pt idx="27">
                  <c:v>17995</c:v>
                </c:pt>
                <c:pt idx="28">
                  <c:v>15995</c:v>
                </c:pt>
                <c:pt idx="29">
                  <c:v>20995</c:v>
                </c:pt>
                <c:pt idx="30">
                  <c:v>15995</c:v>
                </c:pt>
                <c:pt idx="31">
                  <c:v>19995</c:v>
                </c:pt>
                <c:pt idx="32">
                  <c:v>14995</c:v>
                </c:pt>
                <c:pt idx="33">
                  <c:v>22995</c:v>
                </c:pt>
                <c:pt idx="34">
                  <c:v>17995</c:v>
                </c:pt>
                <c:pt idx="35">
                  <c:v>21995</c:v>
                </c:pt>
                <c:pt idx="36">
                  <c:v>18995</c:v>
                </c:pt>
                <c:pt idx="37">
                  <c:v>24995</c:v>
                </c:pt>
                <c:pt idx="38">
                  <c:v>23995</c:v>
                </c:pt>
                <c:pt idx="39">
                  <c:v>13995</c:v>
                </c:pt>
                <c:pt idx="40">
                  <c:v>35995</c:v>
                </c:pt>
                <c:pt idx="41">
                  <c:v>15995</c:v>
                </c:pt>
                <c:pt idx="42">
                  <c:v>29995</c:v>
                </c:pt>
                <c:pt idx="43">
                  <c:v>28495</c:v>
                </c:pt>
                <c:pt idx="44">
                  <c:v>29995</c:v>
                </c:pt>
                <c:pt idx="45">
                  <c:v>15495</c:v>
                </c:pt>
                <c:pt idx="46">
                  <c:v>29995</c:v>
                </c:pt>
                <c:pt idx="47">
                  <c:v>27495</c:v>
                </c:pt>
                <c:pt idx="48">
                  <c:v>37995</c:v>
                </c:pt>
                <c:pt idx="49">
                  <c:v>32995</c:v>
                </c:pt>
                <c:pt idx="50">
                  <c:v>29995</c:v>
                </c:pt>
                <c:pt idx="51">
                  <c:v>19995</c:v>
                </c:pt>
                <c:pt idx="52">
                  <c:v>23495</c:v>
                </c:pt>
                <c:pt idx="53">
                  <c:v>28995</c:v>
                </c:pt>
                <c:pt idx="54">
                  <c:v>20995</c:v>
                </c:pt>
                <c:pt idx="55">
                  <c:v>19995</c:v>
                </c:pt>
                <c:pt idx="56">
                  <c:v>22995</c:v>
                </c:pt>
                <c:pt idx="57">
                  <c:v>30495</c:v>
                </c:pt>
                <c:pt idx="58">
                  <c:v>15995</c:v>
                </c:pt>
                <c:pt idx="59">
                  <c:v>30995</c:v>
                </c:pt>
                <c:pt idx="60">
                  <c:v>25995</c:v>
                </c:pt>
                <c:pt idx="61">
                  <c:v>28495</c:v>
                </c:pt>
                <c:pt idx="62">
                  <c:v>13495</c:v>
                </c:pt>
                <c:pt idx="63">
                  <c:v>17495</c:v>
                </c:pt>
                <c:pt idx="64">
                  <c:v>22495</c:v>
                </c:pt>
                <c:pt idx="65">
                  <c:v>14495</c:v>
                </c:pt>
                <c:pt idx="66">
                  <c:v>34995</c:v>
                </c:pt>
                <c:pt idx="67">
                  <c:v>12995</c:v>
                </c:pt>
                <c:pt idx="68">
                  <c:v>16495</c:v>
                </c:pt>
                <c:pt idx="69">
                  <c:v>20495</c:v>
                </c:pt>
                <c:pt idx="70">
                  <c:v>22495</c:v>
                </c:pt>
                <c:pt idx="71">
                  <c:v>21995</c:v>
                </c:pt>
                <c:pt idx="72">
                  <c:v>24995</c:v>
                </c:pt>
                <c:pt idx="73">
                  <c:v>19995</c:v>
                </c:pt>
                <c:pt idx="74">
                  <c:v>25995</c:v>
                </c:pt>
                <c:pt idx="75">
                  <c:v>22495</c:v>
                </c:pt>
                <c:pt idx="76">
                  <c:v>22995</c:v>
                </c:pt>
                <c:pt idx="77">
                  <c:v>29995</c:v>
                </c:pt>
                <c:pt idx="78">
                  <c:v>16495</c:v>
                </c:pt>
                <c:pt idx="79">
                  <c:v>23995</c:v>
                </c:pt>
                <c:pt idx="80">
                  <c:v>12495</c:v>
                </c:pt>
                <c:pt idx="81">
                  <c:v>14995</c:v>
                </c:pt>
                <c:pt idx="82">
                  <c:v>22495</c:v>
                </c:pt>
                <c:pt idx="83">
                  <c:v>20495</c:v>
                </c:pt>
                <c:pt idx="84">
                  <c:v>18495</c:v>
                </c:pt>
                <c:pt idx="85">
                  <c:v>17995</c:v>
                </c:pt>
                <c:pt idx="86">
                  <c:v>18995</c:v>
                </c:pt>
                <c:pt idx="87">
                  <c:v>16995</c:v>
                </c:pt>
                <c:pt idx="88">
                  <c:v>18995</c:v>
                </c:pt>
                <c:pt idx="89">
                  <c:v>22995</c:v>
                </c:pt>
                <c:pt idx="90">
                  <c:v>32995</c:v>
                </c:pt>
                <c:pt idx="91">
                  <c:v>25995</c:v>
                </c:pt>
                <c:pt idx="92">
                  <c:v>34995</c:v>
                </c:pt>
                <c:pt idx="93">
                  <c:v>20995</c:v>
                </c:pt>
                <c:pt idx="94">
                  <c:v>28995</c:v>
                </c:pt>
                <c:pt idx="95">
                  <c:v>14495</c:v>
                </c:pt>
                <c:pt idx="96">
                  <c:v>12995</c:v>
                </c:pt>
                <c:pt idx="97">
                  <c:v>14995</c:v>
                </c:pt>
                <c:pt idx="98">
                  <c:v>15995</c:v>
                </c:pt>
                <c:pt idx="99">
                  <c:v>27495</c:v>
                </c:pt>
                <c:pt idx="100">
                  <c:v>29995</c:v>
                </c:pt>
                <c:pt idx="101">
                  <c:v>31495</c:v>
                </c:pt>
                <c:pt idx="102">
                  <c:v>28495</c:v>
                </c:pt>
                <c:pt idx="103">
                  <c:v>15995</c:v>
                </c:pt>
                <c:pt idx="104">
                  <c:v>35995</c:v>
                </c:pt>
                <c:pt idx="105">
                  <c:v>25995</c:v>
                </c:pt>
                <c:pt idx="106">
                  <c:v>39995</c:v>
                </c:pt>
                <c:pt idx="107">
                  <c:v>32995</c:v>
                </c:pt>
                <c:pt idx="108">
                  <c:v>18995</c:v>
                </c:pt>
                <c:pt idx="109">
                  <c:v>19995</c:v>
                </c:pt>
                <c:pt idx="110">
                  <c:v>11495</c:v>
                </c:pt>
                <c:pt idx="111">
                  <c:v>17495</c:v>
                </c:pt>
                <c:pt idx="112">
                  <c:v>17495</c:v>
                </c:pt>
                <c:pt idx="113">
                  <c:v>23995</c:v>
                </c:pt>
                <c:pt idx="114">
                  <c:v>13995</c:v>
                </c:pt>
                <c:pt idx="115">
                  <c:v>17995</c:v>
                </c:pt>
                <c:pt idx="116">
                  <c:v>20995</c:v>
                </c:pt>
                <c:pt idx="117">
                  <c:v>12995</c:v>
                </c:pt>
                <c:pt idx="118">
                  <c:v>16995</c:v>
                </c:pt>
                <c:pt idx="119">
                  <c:v>17495</c:v>
                </c:pt>
                <c:pt idx="120">
                  <c:v>16995</c:v>
                </c:pt>
                <c:pt idx="121">
                  <c:v>21995</c:v>
                </c:pt>
                <c:pt idx="122">
                  <c:v>24495</c:v>
                </c:pt>
                <c:pt idx="123">
                  <c:v>16995</c:v>
                </c:pt>
                <c:pt idx="124">
                  <c:v>26495</c:v>
                </c:pt>
                <c:pt idx="125">
                  <c:v>17995</c:v>
                </c:pt>
                <c:pt idx="126">
                  <c:v>33995</c:v>
                </c:pt>
                <c:pt idx="127">
                  <c:v>19995</c:v>
                </c:pt>
                <c:pt idx="128">
                  <c:v>18995</c:v>
                </c:pt>
                <c:pt idx="129">
                  <c:v>34995</c:v>
                </c:pt>
                <c:pt idx="130">
                  <c:v>25995</c:v>
                </c:pt>
                <c:pt idx="131">
                  <c:v>25995</c:v>
                </c:pt>
                <c:pt idx="132">
                  <c:v>15995</c:v>
                </c:pt>
                <c:pt idx="133">
                  <c:v>22795</c:v>
                </c:pt>
                <c:pt idx="134">
                  <c:v>13995</c:v>
                </c:pt>
                <c:pt idx="135">
                  <c:v>14995</c:v>
                </c:pt>
                <c:pt idx="136">
                  <c:v>35995</c:v>
                </c:pt>
                <c:pt idx="137">
                  <c:v>19995</c:v>
                </c:pt>
                <c:pt idx="138">
                  <c:v>18495</c:v>
                </c:pt>
                <c:pt idx="139">
                  <c:v>24995</c:v>
                </c:pt>
                <c:pt idx="140">
                  <c:v>19995</c:v>
                </c:pt>
                <c:pt idx="141">
                  <c:v>18995</c:v>
                </c:pt>
                <c:pt idx="142">
                  <c:v>31995</c:v>
                </c:pt>
                <c:pt idx="143">
                  <c:v>24995</c:v>
                </c:pt>
                <c:pt idx="144">
                  <c:v>34495</c:v>
                </c:pt>
                <c:pt idx="145">
                  <c:v>19995</c:v>
                </c:pt>
                <c:pt idx="146">
                  <c:v>16995</c:v>
                </c:pt>
                <c:pt idx="147">
                  <c:v>15995</c:v>
                </c:pt>
                <c:pt idx="148">
                  <c:v>20495</c:v>
                </c:pt>
                <c:pt idx="149">
                  <c:v>19495</c:v>
                </c:pt>
                <c:pt idx="150">
                  <c:v>9995</c:v>
                </c:pt>
                <c:pt idx="151">
                  <c:v>18495</c:v>
                </c:pt>
                <c:pt idx="152">
                  <c:v>17995</c:v>
                </c:pt>
                <c:pt idx="153">
                  <c:v>14495</c:v>
                </c:pt>
                <c:pt idx="154">
                  <c:v>27995</c:v>
                </c:pt>
                <c:pt idx="155">
                  <c:v>22995</c:v>
                </c:pt>
                <c:pt idx="156">
                  <c:v>23995</c:v>
                </c:pt>
                <c:pt idx="157">
                  <c:v>28495</c:v>
                </c:pt>
                <c:pt idx="158">
                  <c:v>18995</c:v>
                </c:pt>
                <c:pt idx="159">
                  <c:v>18995</c:v>
                </c:pt>
                <c:pt idx="160">
                  <c:v>20495</c:v>
                </c:pt>
                <c:pt idx="161">
                  <c:v>19995</c:v>
                </c:pt>
                <c:pt idx="162">
                  <c:v>23995</c:v>
                </c:pt>
                <c:pt idx="163">
                  <c:v>11495</c:v>
                </c:pt>
                <c:pt idx="164">
                  <c:v>20995</c:v>
                </c:pt>
                <c:pt idx="165">
                  <c:v>14995</c:v>
                </c:pt>
                <c:pt idx="166">
                  <c:v>20995</c:v>
                </c:pt>
                <c:pt idx="167">
                  <c:v>15995</c:v>
                </c:pt>
                <c:pt idx="168">
                  <c:v>25995</c:v>
                </c:pt>
                <c:pt idx="169">
                  <c:v>14995</c:v>
                </c:pt>
                <c:pt idx="170">
                  <c:v>27495</c:v>
                </c:pt>
                <c:pt idx="171">
                  <c:v>17495</c:v>
                </c:pt>
                <c:pt idx="172">
                  <c:v>21995</c:v>
                </c:pt>
                <c:pt idx="173">
                  <c:v>23995</c:v>
                </c:pt>
                <c:pt idx="174">
                  <c:v>28495</c:v>
                </c:pt>
                <c:pt idx="175">
                  <c:v>31995</c:v>
                </c:pt>
                <c:pt idx="176">
                  <c:v>32995</c:v>
                </c:pt>
                <c:pt idx="177">
                  <c:v>20995</c:v>
                </c:pt>
                <c:pt idx="178">
                  <c:v>27495</c:v>
                </c:pt>
                <c:pt idx="179">
                  <c:v>14495</c:v>
                </c:pt>
                <c:pt idx="180">
                  <c:v>18995</c:v>
                </c:pt>
                <c:pt idx="181">
                  <c:v>18995</c:v>
                </c:pt>
                <c:pt idx="182">
                  <c:v>16995</c:v>
                </c:pt>
                <c:pt idx="183">
                  <c:v>69995</c:v>
                </c:pt>
                <c:pt idx="184">
                  <c:v>18995</c:v>
                </c:pt>
                <c:pt idx="185">
                  <c:v>18995</c:v>
                </c:pt>
                <c:pt idx="186">
                  <c:v>18995</c:v>
                </c:pt>
                <c:pt idx="187">
                  <c:v>32495</c:v>
                </c:pt>
                <c:pt idx="188">
                  <c:v>29495</c:v>
                </c:pt>
                <c:pt idx="189">
                  <c:v>21495</c:v>
                </c:pt>
                <c:pt idx="190">
                  <c:v>15995</c:v>
                </c:pt>
                <c:pt idx="191">
                  <c:v>25495</c:v>
                </c:pt>
                <c:pt idx="192">
                  <c:v>32495</c:v>
                </c:pt>
                <c:pt idx="193">
                  <c:v>11495</c:v>
                </c:pt>
                <c:pt idx="194">
                  <c:v>30995</c:v>
                </c:pt>
                <c:pt idx="195">
                  <c:v>23995</c:v>
                </c:pt>
                <c:pt idx="196">
                  <c:v>23995</c:v>
                </c:pt>
                <c:pt idx="197">
                  <c:v>25995</c:v>
                </c:pt>
                <c:pt idx="198">
                  <c:v>13995</c:v>
                </c:pt>
                <c:pt idx="199">
                  <c:v>17995</c:v>
                </c:pt>
                <c:pt idx="200">
                  <c:v>21995</c:v>
                </c:pt>
                <c:pt idx="201">
                  <c:v>22995</c:v>
                </c:pt>
                <c:pt idx="202">
                  <c:v>32995</c:v>
                </c:pt>
                <c:pt idx="203">
                  <c:v>31995</c:v>
                </c:pt>
                <c:pt idx="204">
                  <c:v>18995</c:v>
                </c:pt>
                <c:pt idx="205">
                  <c:v>17495</c:v>
                </c:pt>
                <c:pt idx="206">
                  <c:v>23495</c:v>
                </c:pt>
                <c:pt idx="207">
                  <c:v>14995</c:v>
                </c:pt>
                <c:pt idx="208">
                  <c:v>24495</c:v>
                </c:pt>
                <c:pt idx="209">
                  <c:v>35995</c:v>
                </c:pt>
                <c:pt idx="210">
                  <c:v>19495</c:v>
                </c:pt>
                <c:pt idx="211">
                  <c:v>33995</c:v>
                </c:pt>
                <c:pt idx="212">
                  <c:v>14495</c:v>
                </c:pt>
                <c:pt idx="213">
                  <c:v>8995</c:v>
                </c:pt>
                <c:pt idx="214">
                  <c:v>25495</c:v>
                </c:pt>
                <c:pt idx="215">
                  <c:v>31995</c:v>
                </c:pt>
                <c:pt idx="216">
                  <c:v>18995</c:v>
                </c:pt>
                <c:pt idx="217">
                  <c:v>30995</c:v>
                </c:pt>
                <c:pt idx="218">
                  <c:v>22995</c:v>
                </c:pt>
                <c:pt idx="219">
                  <c:v>23495</c:v>
                </c:pt>
                <c:pt idx="220">
                  <c:v>22995</c:v>
                </c:pt>
                <c:pt idx="221">
                  <c:v>24995</c:v>
                </c:pt>
                <c:pt idx="222">
                  <c:v>13995</c:v>
                </c:pt>
                <c:pt idx="223">
                  <c:v>17495</c:v>
                </c:pt>
                <c:pt idx="224">
                  <c:v>21995</c:v>
                </c:pt>
                <c:pt idx="225">
                  <c:v>20995</c:v>
                </c:pt>
                <c:pt idx="226">
                  <c:v>19995</c:v>
                </c:pt>
                <c:pt idx="227">
                  <c:v>17995</c:v>
                </c:pt>
                <c:pt idx="228">
                  <c:v>27995</c:v>
                </c:pt>
                <c:pt idx="229">
                  <c:v>19495</c:v>
                </c:pt>
                <c:pt idx="230">
                  <c:v>14995</c:v>
                </c:pt>
                <c:pt idx="231">
                  <c:v>15995</c:v>
                </c:pt>
                <c:pt idx="232">
                  <c:v>12495</c:v>
                </c:pt>
                <c:pt idx="233">
                  <c:v>19995</c:v>
                </c:pt>
                <c:pt idx="234">
                  <c:v>20995</c:v>
                </c:pt>
                <c:pt idx="235">
                  <c:v>24995</c:v>
                </c:pt>
                <c:pt idx="236">
                  <c:v>15995</c:v>
                </c:pt>
                <c:pt idx="237">
                  <c:v>17495</c:v>
                </c:pt>
                <c:pt idx="238">
                  <c:v>27995</c:v>
                </c:pt>
                <c:pt idx="239">
                  <c:v>9495</c:v>
                </c:pt>
                <c:pt idx="240">
                  <c:v>46995</c:v>
                </c:pt>
                <c:pt idx="241">
                  <c:v>16995</c:v>
                </c:pt>
                <c:pt idx="242">
                  <c:v>32495</c:v>
                </c:pt>
                <c:pt idx="243">
                  <c:v>27495</c:v>
                </c:pt>
                <c:pt idx="244">
                  <c:v>17995</c:v>
                </c:pt>
                <c:pt idx="245">
                  <c:v>14995</c:v>
                </c:pt>
                <c:pt idx="246">
                  <c:v>18995</c:v>
                </c:pt>
                <c:pt idx="247">
                  <c:v>14495</c:v>
                </c:pt>
                <c:pt idx="248">
                  <c:v>19495</c:v>
                </c:pt>
                <c:pt idx="249">
                  <c:v>20995</c:v>
                </c:pt>
                <c:pt idx="250">
                  <c:v>14995</c:v>
                </c:pt>
                <c:pt idx="251">
                  <c:v>25495</c:v>
                </c:pt>
                <c:pt idx="252">
                  <c:v>19495</c:v>
                </c:pt>
                <c:pt idx="253">
                  <c:v>18995</c:v>
                </c:pt>
                <c:pt idx="254">
                  <c:v>23495</c:v>
                </c:pt>
                <c:pt idx="255">
                  <c:v>87995</c:v>
                </c:pt>
                <c:pt idx="256">
                  <c:v>25995</c:v>
                </c:pt>
                <c:pt idx="257">
                  <c:v>23995</c:v>
                </c:pt>
                <c:pt idx="258">
                  <c:v>15995</c:v>
                </c:pt>
                <c:pt idx="259">
                  <c:v>31995</c:v>
                </c:pt>
                <c:pt idx="260">
                  <c:v>21995</c:v>
                </c:pt>
                <c:pt idx="261">
                  <c:v>8995</c:v>
                </c:pt>
                <c:pt idx="262">
                  <c:v>22995</c:v>
                </c:pt>
                <c:pt idx="263">
                  <c:v>17995</c:v>
                </c:pt>
                <c:pt idx="264">
                  <c:v>25995</c:v>
                </c:pt>
                <c:pt idx="265">
                  <c:v>26495</c:v>
                </c:pt>
                <c:pt idx="266">
                  <c:v>20995</c:v>
                </c:pt>
                <c:pt idx="267">
                  <c:v>20995</c:v>
                </c:pt>
                <c:pt idx="268">
                  <c:v>15995</c:v>
                </c:pt>
                <c:pt idx="269">
                  <c:v>26995</c:v>
                </c:pt>
                <c:pt idx="270">
                  <c:v>24995</c:v>
                </c:pt>
                <c:pt idx="271">
                  <c:v>23495</c:v>
                </c:pt>
                <c:pt idx="272">
                  <c:v>25995</c:v>
                </c:pt>
                <c:pt idx="273">
                  <c:v>26495</c:v>
                </c:pt>
                <c:pt idx="274">
                  <c:v>16995</c:v>
                </c:pt>
                <c:pt idx="275">
                  <c:v>19995</c:v>
                </c:pt>
                <c:pt idx="276">
                  <c:v>31995</c:v>
                </c:pt>
                <c:pt idx="277">
                  <c:v>13995</c:v>
                </c:pt>
                <c:pt idx="278">
                  <c:v>29995</c:v>
                </c:pt>
                <c:pt idx="279">
                  <c:v>14995</c:v>
                </c:pt>
                <c:pt idx="280">
                  <c:v>11995</c:v>
                </c:pt>
                <c:pt idx="281">
                  <c:v>26495</c:v>
                </c:pt>
                <c:pt idx="282">
                  <c:v>33995</c:v>
                </c:pt>
                <c:pt idx="283">
                  <c:v>14995</c:v>
                </c:pt>
                <c:pt idx="284">
                  <c:v>19995</c:v>
                </c:pt>
                <c:pt idx="285">
                  <c:v>23495</c:v>
                </c:pt>
                <c:pt idx="286">
                  <c:v>25995</c:v>
                </c:pt>
                <c:pt idx="287">
                  <c:v>21795</c:v>
                </c:pt>
                <c:pt idx="288">
                  <c:v>20495</c:v>
                </c:pt>
                <c:pt idx="289">
                  <c:v>26495</c:v>
                </c:pt>
                <c:pt idx="290">
                  <c:v>15995</c:v>
                </c:pt>
                <c:pt idx="291">
                  <c:v>17995</c:v>
                </c:pt>
                <c:pt idx="292">
                  <c:v>17995</c:v>
                </c:pt>
                <c:pt idx="293">
                  <c:v>11995</c:v>
                </c:pt>
                <c:pt idx="294">
                  <c:v>18995</c:v>
                </c:pt>
                <c:pt idx="295">
                  <c:v>28995</c:v>
                </c:pt>
                <c:pt idx="296">
                  <c:v>19995</c:v>
                </c:pt>
                <c:pt idx="297">
                  <c:v>19995</c:v>
                </c:pt>
                <c:pt idx="298">
                  <c:v>26995</c:v>
                </c:pt>
                <c:pt idx="299">
                  <c:v>15995</c:v>
                </c:pt>
                <c:pt idx="300">
                  <c:v>31995</c:v>
                </c:pt>
                <c:pt idx="301">
                  <c:v>17495</c:v>
                </c:pt>
                <c:pt idx="302">
                  <c:v>17995</c:v>
                </c:pt>
                <c:pt idx="303">
                  <c:v>29995</c:v>
                </c:pt>
                <c:pt idx="304">
                  <c:v>18995</c:v>
                </c:pt>
                <c:pt idx="305">
                  <c:v>21495</c:v>
                </c:pt>
                <c:pt idx="306">
                  <c:v>18995</c:v>
                </c:pt>
                <c:pt idx="307">
                  <c:v>26995</c:v>
                </c:pt>
                <c:pt idx="308">
                  <c:v>16995</c:v>
                </c:pt>
                <c:pt idx="309">
                  <c:v>14995</c:v>
                </c:pt>
                <c:pt idx="310">
                  <c:v>40995</c:v>
                </c:pt>
                <c:pt idx="311">
                  <c:v>18495</c:v>
                </c:pt>
                <c:pt idx="312">
                  <c:v>25995</c:v>
                </c:pt>
                <c:pt idx="313">
                  <c:v>24995</c:v>
                </c:pt>
                <c:pt idx="314">
                  <c:v>23995</c:v>
                </c:pt>
                <c:pt idx="315">
                  <c:v>18995</c:v>
                </c:pt>
                <c:pt idx="316">
                  <c:v>17995</c:v>
                </c:pt>
                <c:pt idx="317">
                  <c:v>36995</c:v>
                </c:pt>
                <c:pt idx="318">
                  <c:v>25495</c:v>
                </c:pt>
                <c:pt idx="319">
                  <c:v>16495</c:v>
                </c:pt>
                <c:pt idx="320">
                  <c:v>24495</c:v>
                </c:pt>
                <c:pt idx="321">
                  <c:v>18995</c:v>
                </c:pt>
                <c:pt idx="322">
                  <c:v>29995</c:v>
                </c:pt>
                <c:pt idx="323">
                  <c:v>15995</c:v>
                </c:pt>
                <c:pt idx="324">
                  <c:v>27995</c:v>
                </c:pt>
                <c:pt idx="325">
                  <c:v>23995</c:v>
                </c:pt>
                <c:pt idx="326">
                  <c:v>13495</c:v>
                </c:pt>
                <c:pt idx="327">
                  <c:v>21495</c:v>
                </c:pt>
                <c:pt idx="328">
                  <c:v>19795</c:v>
                </c:pt>
                <c:pt idx="329">
                  <c:v>36495</c:v>
                </c:pt>
                <c:pt idx="330">
                  <c:v>18995</c:v>
                </c:pt>
                <c:pt idx="331">
                  <c:v>13995</c:v>
                </c:pt>
                <c:pt idx="332">
                  <c:v>26995</c:v>
                </c:pt>
                <c:pt idx="333">
                  <c:v>19995</c:v>
                </c:pt>
                <c:pt idx="334">
                  <c:v>32995</c:v>
                </c:pt>
                <c:pt idx="335">
                  <c:v>22995</c:v>
                </c:pt>
                <c:pt idx="336">
                  <c:v>19495</c:v>
                </c:pt>
                <c:pt idx="337">
                  <c:v>24995</c:v>
                </c:pt>
                <c:pt idx="338">
                  <c:v>16995</c:v>
                </c:pt>
                <c:pt idx="339">
                  <c:v>28995</c:v>
                </c:pt>
                <c:pt idx="340">
                  <c:v>24995</c:v>
                </c:pt>
                <c:pt idx="341">
                  <c:v>25995</c:v>
                </c:pt>
                <c:pt idx="342">
                  <c:v>15995</c:v>
                </c:pt>
                <c:pt idx="343">
                  <c:v>17495</c:v>
                </c:pt>
                <c:pt idx="344">
                  <c:v>23995</c:v>
                </c:pt>
                <c:pt idx="345">
                  <c:v>18995</c:v>
                </c:pt>
                <c:pt idx="346">
                  <c:v>22495</c:v>
                </c:pt>
                <c:pt idx="347">
                  <c:v>27995</c:v>
                </c:pt>
                <c:pt idx="348">
                  <c:v>22995</c:v>
                </c:pt>
                <c:pt idx="349">
                  <c:v>29995</c:v>
                </c:pt>
                <c:pt idx="350">
                  <c:v>4000</c:v>
                </c:pt>
                <c:pt idx="351">
                  <c:v>6500</c:v>
                </c:pt>
                <c:pt idx="352">
                  <c:v>9000</c:v>
                </c:pt>
                <c:pt idx="353">
                  <c:v>11500</c:v>
                </c:pt>
                <c:pt idx="354">
                  <c:v>14000</c:v>
                </c:pt>
                <c:pt idx="355">
                  <c:v>16500</c:v>
                </c:pt>
                <c:pt idx="356">
                  <c:v>19000</c:v>
                </c:pt>
                <c:pt idx="357">
                  <c:v>21500</c:v>
                </c:pt>
                <c:pt idx="358">
                  <c:v>24000</c:v>
                </c:pt>
                <c:pt idx="359">
                  <c:v>26500</c:v>
                </c:pt>
                <c:pt idx="360">
                  <c:v>29000</c:v>
                </c:pt>
                <c:pt idx="361">
                  <c:v>31500</c:v>
                </c:pt>
                <c:pt idx="362">
                  <c:v>34000</c:v>
                </c:pt>
                <c:pt idx="363">
                  <c:v>36500</c:v>
                </c:pt>
                <c:pt idx="364">
                  <c:v>39000</c:v>
                </c:pt>
                <c:pt idx="365">
                  <c:v>41500</c:v>
                </c:pt>
                <c:pt idx="366">
                  <c:v>44000</c:v>
                </c:pt>
                <c:pt idx="367">
                  <c:v>46500</c:v>
                </c:pt>
                <c:pt idx="368">
                  <c:v>49000</c:v>
                </c:pt>
                <c:pt idx="369">
                  <c:v>51500</c:v>
                </c:pt>
                <c:pt idx="370">
                  <c:v>54000</c:v>
                </c:pt>
                <c:pt idx="371">
                  <c:v>56500</c:v>
                </c:pt>
                <c:pt idx="372">
                  <c:v>59000</c:v>
                </c:pt>
                <c:pt idx="373">
                  <c:v>61500</c:v>
                </c:pt>
                <c:pt idx="374">
                  <c:v>64000</c:v>
                </c:pt>
                <c:pt idx="375">
                  <c:v>66500</c:v>
                </c:pt>
                <c:pt idx="376">
                  <c:v>69000</c:v>
                </c:pt>
                <c:pt idx="377">
                  <c:v>71500</c:v>
                </c:pt>
                <c:pt idx="378">
                  <c:v>74000</c:v>
                </c:pt>
                <c:pt idx="379">
                  <c:v>76500</c:v>
                </c:pt>
                <c:pt idx="380">
                  <c:v>79000</c:v>
                </c:pt>
                <c:pt idx="381">
                  <c:v>81500</c:v>
                </c:pt>
                <c:pt idx="382">
                  <c:v>84000</c:v>
                </c:pt>
                <c:pt idx="383">
                  <c:v>86500</c:v>
                </c:pt>
                <c:pt idx="384">
                  <c:v>89000</c:v>
                </c:pt>
              </c:numCache>
            </c:numRef>
          </c:xVal>
          <c:yVal>
            <c:numRef>
              <c:f>Sheet1!$B$2:$B$386</c:f>
              <c:numCache>
                <c:formatCode>General</c:formatCode>
                <c:ptCount val="385"/>
                <c:pt idx="0">
                  <c:v>24987</c:v>
                </c:pt>
                <c:pt idx="1">
                  <c:v>39789</c:v>
                </c:pt>
                <c:pt idx="2">
                  <c:v>24777</c:v>
                </c:pt>
                <c:pt idx="3">
                  <c:v>23418</c:v>
                </c:pt>
                <c:pt idx="4">
                  <c:v>27472</c:v>
                </c:pt>
                <c:pt idx="5">
                  <c:v>24976</c:v>
                </c:pt>
                <c:pt idx="6">
                  <c:v>42721</c:v>
                </c:pt>
                <c:pt idx="7">
                  <c:v>31602</c:v>
                </c:pt>
                <c:pt idx="8">
                  <c:v>26165</c:v>
                </c:pt>
                <c:pt idx="9">
                  <c:v>18816</c:v>
                </c:pt>
                <c:pt idx="10">
                  <c:v>25662</c:v>
                </c:pt>
                <c:pt idx="11">
                  <c:v>25675</c:v>
                </c:pt>
                <c:pt idx="12">
                  <c:v>23123</c:v>
                </c:pt>
                <c:pt idx="13">
                  <c:v>25244</c:v>
                </c:pt>
                <c:pt idx="14">
                  <c:v>14673</c:v>
                </c:pt>
                <c:pt idx="15">
                  <c:v>23708</c:v>
                </c:pt>
                <c:pt idx="16">
                  <c:v>25572</c:v>
                </c:pt>
                <c:pt idx="17">
                  <c:v>19439</c:v>
                </c:pt>
                <c:pt idx="18">
                  <c:v>11055</c:v>
                </c:pt>
                <c:pt idx="19">
                  <c:v>25009</c:v>
                </c:pt>
                <c:pt idx="20">
                  <c:v>29725</c:v>
                </c:pt>
                <c:pt idx="21">
                  <c:v>23720</c:v>
                </c:pt>
                <c:pt idx="22">
                  <c:v>21521</c:v>
                </c:pt>
                <c:pt idx="23">
                  <c:v>26811</c:v>
                </c:pt>
                <c:pt idx="24">
                  <c:v>26116</c:v>
                </c:pt>
                <c:pt idx="25">
                  <c:v>27179</c:v>
                </c:pt>
                <c:pt idx="26">
                  <c:v>21193</c:v>
                </c:pt>
                <c:pt idx="27">
                  <c:v>17438</c:v>
                </c:pt>
                <c:pt idx="28">
                  <c:v>16922</c:v>
                </c:pt>
                <c:pt idx="29">
                  <c:v>21693</c:v>
                </c:pt>
                <c:pt idx="30">
                  <c:v>14685</c:v>
                </c:pt>
                <c:pt idx="31">
                  <c:v>20684</c:v>
                </c:pt>
                <c:pt idx="32">
                  <c:v>11778</c:v>
                </c:pt>
                <c:pt idx="33">
                  <c:v>25619</c:v>
                </c:pt>
                <c:pt idx="34">
                  <c:v>16206</c:v>
                </c:pt>
                <c:pt idx="35">
                  <c:v>23777</c:v>
                </c:pt>
                <c:pt idx="36">
                  <c:v>17540</c:v>
                </c:pt>
                <c:pt idx="37">
                  <c:v>23890</c:v>
                </c:pt>
                <c:pt idx="38">
                  <c:v>23214</c:v>
                </c:pt>
                <c:pt idx="39">
                  <c:v>15437</c:v>
                </c:pt>
                <c:pt idx="40">
                  <c:v>34583</c:v>
                </c:pt>
                <c:pt idx="41">
                  <c:v>14070</c:v>
                </c:pt>
                <c:pt idx="42">
                  <c:v>29626</c:v>
                </c:pt>
                <c:pt idx="43">
                  <c:v>25380</c:v>
                </c:pt>
                <c:pt idx="44">
                  <c:v>29511</c:v>
                </c:pt>
                <c:pt idx="45">
                  <c:v>14131</c:v>
                </c:pt>
                <c:pt idx="46">
                  <c:v>28096</c:v>
                </c:pt>
                <c:pt idx="47">
                  <c:v>29072</c:v>
                </c:pt>
                <c:pt idx="48">
                  <c:v>30922</c:v>
                </c:pt>
                <c:pt idx="49">
                  <c:v>31463</c:v>
                </c:pt>
                <c:pt idx="50">
                  <c:v>28362</c:v>
                </c:pt>
                <c:pt idx="51">
                  <c:v>16734</c:v>
                </c:pt>
                <c:pt idx="52">
                  <c:v>25358</c:v>
                </c:pt>
                <c:pt idx="53">
                  <c:v>29505</c:v>
                </c:pt>
                <c:pt idx="54">
                  <c:v>19895</c:v>
                </c:pt>
                <c:pt idx="55">
                  <c:v>19633</c:v>
                </c:pt>
                <c:pt idx="56">
                  <c:v>24148</c:v>
                </c:pt>
                <c:pt idx="57">
                  <c:v>31545</c:v>
                </c:pt>
                <c:pt idx="58">
                  <c:v>12071</c:v>
                </c:pt>
                <c:pt idx="59">
                  <c:v>31473</c:v>
                </c:pt>
                <c:pt idx="60">
                  <c:v>28518</c:v>
                </c:pt>
                <c:pt idx="61">
                  <c:v>26752</c:v>
                </c:pt>
                <c:pt idx="62">
                  <c:v>12998</c:v>
                </c:pt>
                <c:pt idx="63">
                  <c:v>20744</c:v>
                </c:pt>
                <c:pt idx="64">
                  <c:v>25572</c:v>
                </c:pt>
                <c:pt idx="65">
                  <c:v>14741</c:v>
                </c:pt>
                <c:pt idx="66">
                  <c:v>37861</c:v>
                </c:pt>
                <c:pt idx="67">
                  <c:v>13552</c:v>
                </c:pt>
                <c:pt idx="68">
                  <c:v>17287</c:v>
                </c:pt>
                <c:pt idx="69">
                  <c:v>20881</c:v>
                </c:pt>
                <c:pt idx="70">
                  <c:v>22870</c:v>
                </c:pt>
                <c:pt idx="71">
                  <c:v>19865</c:v>
                </c:pt>
                <c:pt idx="72">
                  <c:v>25555</c:v>
                </c:pt>
                <c:pt idx="73">
                  <c:v>20712</c:v>
                </c:pt>
                <c:pt idx="74">
                  <c:v>27380</c:v>
                </c:pt>
                <c:pt idx="75">
                  <c:v>22540</c:v>
                </c:pt>
                <c:pt idx="76">
                  <c:v>24781</c:v>
                </c:pt>
                <c:pt idx="77">
                  <c:v>29878</c:v>
                </c:pt>
                <c:pt idx="78">
                  <c:v>16467</c:v>
                </c:pt>
                <c:pt idx="79">
                  <c:v>24897</c:v>
                </c:pt>
                <c:pt idx="80">
                  <c:v>9900</c:v>
                </c:pt>
                <c:pt idx="81">
                  <c:v>15196</c:v>
                </c:pt>
                <c:pt idx="82">
                  <c:v>23487</c:v>
                </c:pt>
                <c:pt idx="83">
                  <c:v>25920</c:v>
                </c:pt>
                <c:pt idx="84">
                  <c:v>16517</c:v>
                </c:pt>
                <c:pt idx="85">
                  <c:v>19756</c:v>
                </c:pt>
                <c:pt idx="86">
                  <c:v>17877</c:v>
                </c:pt>
                <c:pt idx="87">
                  <c:v>17110</c:v>
                </c:pt>
                <c:pt idx="88">
                  <c:v>18010</c:v>
                </c:pt>
                <c:pt idx="89">
                  <c:v>22278</c:v>
                </c:pt>
                <c:pt idx="90">
                  <c:v>29764</c:v>
                </c:pt>
                <c:pt idx="91">
                  <c:v>25815</c:v>
                </c:pt>
                <c:pt idx="92">
                  <c:v>36231</c:v>
                </c:pt>
                <c:pt idx="93">
                  <c:v>17704</c:v>
                </c:pt>
                <c:pt idx="94">
                  <c:v>31296</c:v>
                </c:pt>
                <c:pt idx="95">
                  <c:v>13585</c:v>
                </c:pt>
                <c:pt idx="96">
                  <c:v>12126</c:v>
                </c:pt>
                <c:pt idx="97">
                  <c:v>12002</c:v>
                </c:pt>
                <c:pt idx="98">
                  <c:v>16217</c:v>
                </c:pt>
                <c:pt idx="99">
                  <c:v>28034</c:v>
                </c:pt>
                <c:pt idx="100">
                  <c:v>28880</c:v>
                </c:pt>
                <c:pt idx="101">
                  <c:v>28905</c:v>
                </c:pt>
                <c:pt idx="102">
                  <c:v>28038</c:v>
                </c:pt>
                <c:pt idx="103">
                  <c:v>17648</c:v>
                </c:pt>
                <c:pt idx="104">
                  <c:v>31331</c:v>
                </c:pt>
                <c:pt idx="105">
                  <c:v>28464</c:v>
                </c:pt>
                <c:pt idx="106">
                  <c:v>35010</c:v>
                </c:pt>
                <c:pt idx="107">
                  <c:v>31629</c:v>
                </c:pt>
                <c:pt idx="108">
                  <c:v>19827</c:v>
                </c:pt>
                <c:pt idx="109">
                  <c:v>21764</c:v>
                </c:pt>
                <c:pt idx="110">
                  <c:v>9569</c:v>
                </c:pt>
                <c:pt idx="111">
                  <c:v>18025</c:v>
                </c:pt>
                <c:pt idx="112">
                  <c:v>17303</c:v>
                </c:pt>
                <c:pt idx="113">
                  <c:v>25800</c:v>
                </c:pt>
                <c:pt idx="114">
                  <c:v>14320</c:v>
                </c:pt>
                <c:pt idx="115">
                  <c:v>20089</c:v>
                </c:pt>
                <c:pt idx="116">
                  <c:v>22538</c:v>
                </c:pt>
                <c:pt idx="117">
                  <c:v>11797</c:v>
                </c:pt>
                <c:pt idx="118">
                  <c:v>15908</c:v>
                </c:pt>
                <c:pt idx="119">
                  <c:v>16880</c:v>
                </c:pt>
                <c:pt idx="120">
                  <c:v>18095</c:v>
                </c:pt>
                <c:pt idx="121">
                  <c:v>23966</c:v>
                </c:pt>
                <c:pt idx="122">
                  <c:v>26745</c:v>
                </c:pt>
                <c:pt idx="123">
                  <c:v>16278</c:v>
                </c:pt>
                <c:pt idx="124">
                  <c:v>29658</c:v>
                </c:pt>
                <c:pt idx="125">
                  <c:v>20775</c:v>
                </c:pt>
                <c:pt idx="126">
                  <c:v>34396</c:v>
                </c:pt>
                <c:pt idx="127">
                  <c:v>17879</c:v>
                </c:pt>
                <c:pt idx="128">
                  <c:v>21740</c:v>
                </c:pt>
                <c:pt idx="129">
                  <c:v>37786</c:v>
                </c:pt>
                <c:pt idx="130">
                  <c:v>24247</c:v>
                </c:pt>
                <c:pt idx="131">
                  <c:v>28789</c:v>
                </c:pt>
                <c:pt idx="132">
                  <c:v>15123</c:v>
                </c:pt>
                <c:pt idx="133">
                  <c:v>23655</c:v>
                </c:pt>
                <c:pt idx="134">
                  <c:v>14787</c:v>
                </c:pt>
                <c:pt idx="135">
                  <c:v>12709</c:v>
                </c:pt>
                <c:pt idx="136">
                  <c:v>31136</c:v>
                </c:pt>
                <c:pt idx="137">
                  <c:v>19059</c:v>
                </c:pt>
                <c:pt idx="138">
                  <c:v>16958</c:v>
                </c:pt>
                <c:pt idx="139">
                  <c:v>23781</c:v>
                </c:pt>
                <c:pt idx="140">
                  <c:v>20338</c:v>
                </c:pt>
                <c:pt idx="141">
                  <c:v>22898</c:v>
                </c:pt>
                <c:pt idx="142">
                  <c:v>31990</c:v>
                </c:pt>
                <c:pt idx="143">
                  <c:v>26123</c:v>
                </c:pt>
                <c:pt idx="144">
                  <c:v>32801</c:v>
                </c:pt>
                <c:pt idx="145">
                  <c:v>22538</c:v>
                </c:pt>
                <c:pt idx="146">
                  <c:v>16354</c:v>
                </c:pt>
                <c:pt idx="147">
                  <c:v>18494</c:v>
                </c:pt>
                <c:pt idx="148">
                  <c:v>20893</c:v>
                </c:pt>
                <c:pt idx="149">
                  <c:v>22239</c:v>
                </c:pt>
                <c:pt idx="150">
                  <c:v>7105</c:v>
                </c:pt>
                <c:pt idx="151">
                  <c:v>14760</c:v>
                </c:pt>
                <c:pt idx="152">
                  <c:v>15981</c:v>
                </c:pt>
                <c:pt idx="153">
                  <c:v>14799</c:v>
                </c:pt>
                <c:pt idx="154">
                  <c:v>28758</c:v>
                </c:pt>
                <c:pt idx="155">
                  <c:v>22114</c:v>
                </c:pt>
                <c:pt idx="156">
                  <c:v>26208</c:v>
                </c:pt>
                <c:pt idx="157">
                  <c:v>26731</c:v>
                </c:pt>
                <c:pt idx="158">
                  <c:v>20461</c:v>
                </c:pt>
                <c:pt idx="159">
                  <c:v>16703</c:v>
                </c:pt>
                <c:pt idx="160">
                  <c:v>21602</c:v>
                </c:pt>
                <c:pt idx="161">
                  <c:v>20920</c:v>
                </c:pt>
                <c:pt idx="162">
                  <c:v>24830</c:v>
                </c:pt>
                <c:pt idx="163">
                  <c:v>11598</c:v>
                </c:pt>
                <c:pt idx="164">
                  <c:v>22572</c:v>
                </c:pt>
                <c:pt idx="165">
                  <c:v>17594</c:v>
                </c:pt>
                <c:pt idx="166">
                  <c:v>21631</c:v>
                </c:pt>
                <c:pt idx="167">
                  <c:v>16376</c:v>
                </c:pt>
                <c:pt idx="168">
                  <c:v>25770</c:v>
                </c:pt>
                <c:pt idx="169">
                  <c:v>12141</c:v>
                </c:pt>
                <c:pt idx="170">
                  <c:v>28192</c:v>
                </c:pt>
                <c:pt idx="171">
                  <c:v>18015</c:v>
                </c:pt>
                <c:pt idx="172">
                  <c:v>23025</c:v>
                </c:pt>
                <c:pt idx="173">
                  <c:v>23318</c:v>
                </c:pt>
                <c:pt idx="174">
                  <c:v>28739</c:v>
                </c:pt>
                <c:pt idx="175">
                  <c:v>29941</c:v>
                </c:pt>
                <c:pt idx="176">
                  <c:v>32738</c:v>
                </c:pt>
                <c:pt idx="177">
                  <c:v>21226</c:v>
                </c:pt>
                <c:pt idx="178">
                  <c:v>26711</c:v>
                </c:pt>
                <c:pt idx="179">
                  <c:v>12191</c:v>
                </c:pt>
                <c:pt idx="180">
                  <c:v>23431</c:v>
                </c:pt>
                <c:pt idx="181">
                  <c:v>19678</c:v>
                </c:pt>
                <c:pt idx="182">
                  <c:v>17472</c:v>
                </c:pt>
                <c:pt idx="183">
                  <c:v>54998</c:v>
                </c:pt>
                <c:pt idx="184">
                  <c:v>20566</c:v>
                </c:pt>
                <c:pt idx="185">
                  <c:v>21351</c:v>
                </c:pt>
                <c:pt idx="186">
                  <c:v>18208</c:v>
                </c:pt>
                <c:pt idx="187">
                  <c:v>33334</c:v>
                </c:pt>
                <c:pt idx="188">
                  <c:v>28969</c:v>
                </c:pt>
                <c:pt idx="189">
                  <c:v>22807</c:v>
                </c:pt>
                <c:pt idx="190">
                  <c:v>16888</c:v>
                </c:pt>
                <c:pt idx="191">
                  <c:v>28895</c:v>
                </c:pt>
                <c:pt idx="192">
                  <c:v>33126</c:v>
                </c:pt>
                <c:pt idx="193">
                  <c:v>10997</c:v>
                </c:pt>
                <c:pt idx="194">
                  <c:v>31347</c:v>
                </c:pt>
                <c:pt idx="195">
                  <c:v>23462</c:v>
                </c:pt>
                <c:pt idx="196">
                  <c:v>25008</c:v>
                </c:pt>
                <c:pt idx="197">
                  <c:v>25511</c:v>
                </c:pt>
                <c:pt idx="198">
                  <c:v>16586</c:v>
                </c:pt>
                <c:pt idx="199">
                  <c:v>18408</c:v>
                </c:pt>
                <c:pt idx="200">
                  <c:v>23889</c:v>
                </c:pt>
                <c:pt idx="201">
                  <c:v>24345</c:v>
                </c:pt>
                <c:pt idx="202">
                  <c:v>30766</c:v>
                </c:pt>
                <c:pt idx="203">
                  <c:v>31723</c:v>
                </c:pt>
                <c:pt idx="204">
                  <c:v>17724</c:v>
                </c:pt>
                <c:pt idx="205">
                  <c:v>19815</c:v>
                </c:pt>
                <c:pt idx="206">
                  <c:v>22549</c:v>
                </c:pt>
                <c:pt idx="207">
                  <c:v>17224</c:v>
                </c:pt>
                <c:pt idx="208">
                  <c:v>24226</c:v>
                </c:pt>
                <c:pt idx="209">
                  <c:v>37210</c:v>
                </c:pt>
                <c:pt idx="210">
                  <c:v>21157</c:v>
                </c:pt>
                <c:pt idx="211">
                  <c:v>28803</c:v>
                </c:pt>
                <c:pt idx="212">
                  <c:v>11276</c:v>
                </c:pt>
                <c:pt idx="213">
                  <c:v>15216</c:v>
                </c:pt>
                <c:pt idx="214">
                  <c:v>27869</c:v>
                </c:pt>
                <c:pt idx="215">
                  <c:v>31399</c:v>
                </c:pt>
                <c:pt idx="216">
                  <c:v>20343</c:v>
                </c:pt>
                <c:pt idx="217">
                  <c:v>32785</c:v>
                </c:pt>
                <c:pt idx="218">
                  <c:v>22393</c:v>
                </c:pt>
                <c:pt idx="219">
                  <c:v>24822</c:v>
                </c:pt>
                <c:pt idx="220">
                  <c:v>23047</c:v>
                </c:pt>
                <c:pt idx="221">
                  <c:v>24983</c:v>
                </c:pt>
                <c:pt idx="222">
                  <c:v>13409</c:v>
                </c:pt>
                <c:pt idx="223">
                  <c:v>16182</c:v>
                </c:pt>
                <c:pt idx="224">
                  <c:v>21748</c:v>
                </c:pt>
                <c:pt idx="225">
                  <c:v>22894</c:v>
                </c:pt>
                <c:pt idx="226">
                  <c:v>18245</c:v>
                </c:pt>
                <c:pt idx="227">
                  <c:v>18010</c:v>
                </c:pt>
                <c:pt idx="228">
                  <c:v>28131</c:v>
                </c:pt>
                <c:pt idx="229">
                  <c:v>20183</c:v>
                </c:pt>
                <c:pt idx="230">
                  <c:v>14838</c:v>
                </c:pt>
                <c:pt idx="231">
                  <c:v>15376</c:v>
                </c:pt>
                <c:pt idx="232">
                  <c:v>10696</c:v>
                </c:pt>
                <c:pt idx="233">
                  <c:v>23287</c:v>
                </c:pt>
                <c:pt idx="234">
                  <c:v>23041</c:v>
                </c:pt>
                <c:pt idx="235">
                  <c:v>26978</c:v>
                </c:pt>
                <c:pt idx="236">
                  <c:v>18411</c:v>
                </c:pt>
                <c:pt idx="237">
                  <c:v>18698</c:v>
                </c:pt>
                <c:pt idx="238">
                  <c:v>25468</c:v>
                </c:pt>
                <c:pt idx="239">
                  <c:v>11854</c:v>
                </c:pt>
                <c:pt idx="240">
                  <c:v>40507</c:v>
                </c:pt>
                <c:pt idx="241">
                  <c:v>17240</c:v>
                </c:pt>
                <c:pt idx="242">
                  <c:v>31399</c:v>
                </c:pt>
                <c:pt idx="243">
                  <c:v>27140</c:v>
                </c:pt>
                <c:pt idx="244">
                  <c:v>18233</c:v>
                </c:pt>
                <c:pt idx="245">
                  <c:v>12488</c:v>
                </c:pt>
                <c:pt idx="246">
                  <c:v>26646</c:v>
                </c:pt>
                <c:pt idx="247">
                  <c:v>14595</c:v>
                </c:pt>
                <c:pt idx="248">
                  <c:v>22220</c:v>
                </c:pt>
                <c:pt idx="249">
                  <c:v>20053</c:v>
                </c:pt>
                <c:pt idx="250">
                  <c:v>12589</c:v>
                </c:pt>
                <c:pt idx="251">
                  <c:v>28061</c:v>
                </c:pt>
                <c:pt idx="252">
                  <c:v>21414</c:v>
                </c:pt>
                <c:pt idx="253">
                  <c:v>20949</c:v>
                </c:pt>
                <c:pt idx="254">
                  <c:v>24912</c:v>
                </c:pt>
                <c:pt idx="255">
                  <c:v>31464</c:v>
                </c:pt>
                <c:pt idx="256">
                  <c:v>29334</c:v>
                </c:pt>
                <c:pt idx="257">
                  <c:v>24956</c:v>
                </c:pt>
                <c:pt idx="258">
                  <c:v>16733</c:v>
                </c:pt>
                <c:pt idx="259">
                  <c:v>32579</c:v>
                </c:pt>
                <c:pt idx="260">
                  <c:v>25776</c:v>
                </c:pt>
                <c:pt idx="261">
                  <c:v>6165</c:v>
                </c:pt>
                <c:pt idx="262">
                  <c:v>19989</c:v>
                </c:pt>
                <c:pt idx="263">
                  <c:v>18139</c:v>
                </c:pt>
                <c:pt idx="264">
                  <c:v>26634</c:v>
                </c:pt>
                <c:pt idx="265">
                  <c:v>27344</c:v>
                </c:pt>
                <c:pt idx="266">
                  <c:v>21534</c:v>
                </c:pt>
                <c:pt idx="267">
                  <c:v>22978</c:v>
                </c:pt>
                <c:pt idx="268">
                  <c:v>13609</c:v>
                </c:pt>
                <c:pt idx="269">
                  <c:v>29103</c:v>
                </c:pt>
                <c:pt idx="270">
                  <c:v>27285</c:v>
                </c:pt>
                <c:pt idx="271">
                  <c:v>21158</c:v>
                </c:pt>
                <c:pt idx="272">
                  <c:v>23709</c:v>
                </c:pt>
                <c:pt idx="273">
                  <c:v>26934</c:v>
                </c:pt>
                <c:pt idx="274">
                  <c:v>16534</c:v>
                </c:pt>
                <c:pt idx="275">
                  <c:v>21240</c:v>
                </c:pt>
                <c:pt idx="276">
                  <c:v>30826</c:v>
                </c:pt>
                <c:pt idx="277">
                  <c:v>10748</c:v>
                </c:pt>
                <c:pt idx="278">
                  <c:v>31649</c:v>
                </c:pt>
                <c:pt idx="279">
                  <c:v>16196</c:v>
                </c:pt>
                <c:pt idx="280">
                  <c:v>10968</c:v>
                </c:pt>
                <c:pt idx="281">
                  <c:v>24950</c:v>
                </c:pt>
                <c:pt idx="282">
                  <c:v>27870</c:v>
                </c:pt>
                <c:pt idx="283">
                  <c:v>13851</c:v>
                </c:pt>
                <c:pt idx="284">
                  <c:v>20945</c:v>
                </c:pt>
                <c:pt idx="285">
                  <c:v>22468</c:v>
                </c:pt>
                <c:pt idx="286">
                  <c:v>26304</c:v>
                </c:pt>
                <c:pt idx="287">
                  <c:v>24678</c:v>
                </c:pt>
                <c:pt idx="288">
                  <c:v>22263</c:v>
                </c:pt>
                <c:pt idx="289">
                  <c:v>24326</c:v>
                </c:pt>
                <c:pt idx="290">
                  <c:v>16226</c:v>
                </c:pt>
                <c:pt idx="291">
                  <c:v>17224</c:v>
                </c:pt>
                <c:pt idx="292">
                  <c:v>18663</c:v>
                </c:pt>
                <c:pt idx="293">
                  <c:v>12170</c:v>
                </c:pt>
                <c:pt idx="294">
                  <c:v>19003</c:v>
                </c:pt>
                <c:pt idx="295">
                  <c:v>32260</c:v>
                </c:pt>
                <c:pt idx="296">
                  <c:v>21307</c:v>
                </c:pt>
                <c:pt idx="297">
                  <c:v>20060</c:v>
                </c:pt>
                <c:pt idx="298">
                  <c:v>23260</c:v>
                </c:pt>
                <c:pt idx="299">
                  <c:v>18667</c:v>
                </c:pt>
                <c:pt idx="300">
                  <c:v>27908</c:v>
                </c:pt>
                <c:pt idx="301">
                  <c:v>18694</c:v>
                </c:pt>
                <c:pt idx="302">
                  <c:v>20007</c:v>
                </c:pt>
                <c:pt idx="303">
                  <c:v>27998</c:v>
                </c:pt>
                <c:pt idx="304">
                  <c:v>19620</c:v>
                </c:pt>
                <c:pt idx="305">
                  <c:v>19972</c:v>
                </c:pt>
                <c:pt idx="306">
                  <c:v>18670</c:v>
                </c:pt>
                <c:pt idx="307">
                  <c:v>28112</c:v>
                </c:pt>
                <c:pt idx="308">
                  <c:v>18658</c:v>
                </c:pt>
                <c:pt idx="309">
                  <c:v>14058</c:v>
                </c:pt>
                <c:pt idx="310">
                  <c:v>36546</c:v>
                </c:pt>
                <c:pt idx="311">
                  <c:v>17658</c:v>
                </c:pt>
                <c:pt idx="312">
                  <c:v>26386</c:v>
                </c:pt>
                <c:pt idx="313">
                  <c:v>27048</c:v>
                </c:pt>
                <c:pt idx="314">
                  <c:v>25518</c:v>
                </c:pt>
                <c:pt idx="315">
                  <c:v>20175</c:v>
                </c:pt>
                <c:pt idx="316">
                  <c:v>18647</c:v>
                </c:pt>
                <c:pt idx="317">
                  <c:v>38403</c:v>
                </c:pt>
                <c:pt idx="318">
                  <c:v>28504</c:v>
                </c:pt>
                <c:pt idx="319">
                  <c:v>14420</c:v>
                </c:pt>
                <c:pt idx="320">
                  <c:v>23648</c:v>
                </c:pt>
                <c:pt idx="321">
                  <c:v>20135</c:v>
                </c:pt>
                <c:pt idx="322">
                  <c:v>31971</c:v>
                </c:pt>
                <c:pt idx="323">
                  <c:v>15287</c:v>
                </c:pt>
                <c:pt idx="324">
                  <c:v>29688</c:v>
                </c:pt>
                <c:pt idx="325">
                  <c:v>24921</c:v>
                </c:pt>
                <c:pt idx="326">
                  <c:v>13701</c:v>
                </c:pt>
                <c:pt idx="327">
                  <c:v>22636</c:v>
                </c:pt>
                <c:pt idx="328">
                  <c:v>21258</c:v>
                </c:pt>
                <c:pt idx="329">
                  <c:v>40382</c:v>
                </c:pt>
                <c:pt idx="330">
                  <c:v>25167</c:v>
                </c:pt>
                <c:pt idx="331">
                  <c:v>9936</c:v>
                </c:pt>
                <c:pt idx="332">
                  <c:v>26138</c:v>
                </c:pt>
                <c:pt idx="333">
                  <c:v>23336</c:v>
                </c:pt>
                <c:pt idx="334">
                  <c:v>29793</c:v>
                </c:pt>
                <c:pt idx="335">
                  <c:v>25033</c:v>
                </c:pt>
                <c:pt idx="336">
                  <c:v>16330</c:v>
                </c:pt>
                <c:pt idx="337">
                  <c:v>26117</c:v>
                </c:pt>
                <c:pt idx="338">
                  <c:v>17207</c:v>
                </c:pt>
                <c:pt idx="339">
                  <c:v>30705</c:v>
                </c:pt>
                <c:pt idx="340">
                  <c:v>25379</c:v>
                </c:pt>
                <c:pt idx="341">
                  <c:v>27870</c:v>
                </c:pt>
                <c:pt idx="342">
                  <c:v>16114</c:v>
                </c:pt>
                <c:pt idx="343">
                  <c:v>16986</c:v>
                </c:pt>
                <c:pt idx="344">
                  <c:v>23276</c:v>
                </c:pt>
                <c:pt idx="345">
                  <c:v>20329</c:v>
                </c:pt>
                <c:pt idx="346">
                  <c:v>25793</c:v>
                </c:pt>
                <c:pt idx="347">
                  <c:v>32484</c:v>
                </c:pt>
                <c:pt idx="348">
                  <c:v>23534</c:v>
                </c:pt>
                <c:pt idx="349">
                  <c:v>29270</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numCache>
            </c:numRef>
          </c:yVal>
          <c:smooth val="0"/>
        </c:ser>
        <c:ser>
          <c:idx val="1"/>
          <c:order val="1"/>
          <c:tx>
            <c:strRef>
              <c:f>Sheet1!$C$1</c:f>
              <c:strCache>
                <c:ptCount val="1"/>
                <c:pt idx="0">
                  <c:v>Diagonale prédit = réel</c:v>
                </c:pt>
              </c:strCache>
            </c:strRef>
          </c:tx>
          <c:spPr>
            <a:solidFill>
              <a:srgbClr val="C9D0D6"/>
            </a:solidFill>
            <a:ln>
              <a:noFill/>
            </a:ln>
            <a:effectLst/>
          </c:spPr>
          <c:marker>
            <c:symbol val="circle"/>
            <c:size val="5"/>
            <c:spPr>
              <a:solidFill>
                <a:srgbClr val="C9D0D6"/>
              </a:solidFill>
              <a:ln w="9525" cap="flat">
                <a:solidFill>
                  <a:srgbClr val="C9D0D6"/>
                </a:solidFill>
                <a:prstDash val="solid"/>
                <a:round/>
              </a:ln>
              <a:effectLst/>
            </c:spPr>
          </c:marker>
          <c:xVal>
            <c:numRef>
              <c:f>Sheet1!$A$2:$A$386</c:f>
              <c:numCache>
                <c:formatCode>General</c:formatCode>
                <c:ptCount val="385"/>
                <c:pt idx="0">
                  <c:v>26495</c:v>
                </c:pt>
                <c:pt idx="1">
                  <c:v>45995</c:v>
                </c:pt>
                <c:pt idx="2">
                  <c:v>25495</c:v>
                </c:pt>
                <c:pt idx="3">
                  <c:v>22995</c:v>
                </c:pt>
                <c:pt idx="4">
                  <c:v>32995</c:v>
                </c:pt>
                <c:pt idx="5">
                  <c:v>20995</c:v>
                </c:pt>
                <c:pt idx="6">
                  <c:v>43995</c:v>
                </c:pt>
                <c:pt idx="7">
                  <c:v>32995</c:v>
                </c:pt>
                <c:pt idx="8">
                  <c:v>23995</c:v>
                </c:pt>
                <c:pt idx="9">
                  <c:v>18495</c:v>
                </c:pt>
                <c:pt idx="10">
                  <c:v>25995</c:v>
                </c:pt>
                <c:pt idx="11">
                  <c:v>25995</c:v>
                </c:pt>
                <c:pt idx="12">
                  <c:v>22995</c:v>
                </c:pt>
                <c:pt idx="13">
                  <c:v>22995</c:v>
                </c:pt>
                <c:pt idx="14">
                  <c:v>14995</c:v>
                </c:pt>
                <c:pt idx="15">
                  <c:v>23995</c:v>
                </c:pt>
                <c:pt idx="16">
                  <c:v>24495</c:v>
                </c:pt>
                <c:pt idx="17">
                  <c:v>19995</c:v>
                </c:pt>
                <c:pt idx="18">
                  <c:v>12995</c:v>
                </c:pt>
                <c:pt idx="19">
                  <c:v>27495</c:v>
                </c:pt>
                <c:pt idx="20">
                  <c:v>30995</c:v>
                </c:pt>
                <c:pt idx="21">
                  <c:v>22995</c:v>
                </c:pt>
                <c:pt idx="22">
                  <c:v>19495</c:v>
                </c:pt>
                <c:pt idx="23">
                  <c:v>29995</c:v>
                </c:pt>
                <c:pt idx="24">
                  <c:v>26995</c:v>
                </c:pt>
                <c:pt idx="25">
                  <c:v>25495</c:v>
                </c:pt>
                <c:pt idx="26">
                  <c:v>19995</c:v>
                </c:pt>
                <c:pt idx="27">
                  <c:v>17995</c:v>
                </c:pt>
                <c:pt idx="28">
                  <c:v>15995</c:v>
                </c:pt>
                <c:pt idx="29">
                  <c:v>20995</c:v>
                </c:pt>
                <c:pt idx="30">
                  <c:v>15995</c:v>
                </c:pt>
                <c:pt idx="31">
                  <c:v>19995</c:v>
                </c:pt>
                <c:pt idx="32">
                  <c:v>14995</c:v>
                </c:pt>
                <c:pt idx="33">
                  <c:v>22995</c:v>
                </c:pt>
                <c:pt idx="34">
                  <c:v>17995</c:v>
                </c:pt>
                <c:pt idx="35">
                  <c:v>21995</c:v>
                </c:pt>
                <c:pt idx="36">
                  <c:v>18995</c:v>
                </c:pt>
                <c:pt idx="37">
                  <c:v>24995</c:v>
                </c:pt>
                <c:pt idx="38">
                  <c:v>23995</c:v>
                </c:pt>
                <c:pt idx="39">
                  <c:v>13995</c:v>
                </c:pt>
                <c:pt idx="40">
                  <c:v>35995</c:v>
                </c:pt>
                <c:pt idx="41">
                  <c:v>15995</c:v>
                </c:pt>
                <c:pt idx="42">
                  <c:v>29995</c:v>
                </c:pt>
                <c:pt idx="43">
                  <c:v>28495</c:v>
                </c:pt>
                <c:pt idx="44">
                  <c:v>29995</c:v>
                </c:pt>
                <c:pt idx="45">
                  <c:v>15495</c:v>
                </c:pt>
                <c:pt idx="46">
                  <c:v>29995</c:v>
                </c:pt>
                <c:pt idx="47">
                  <c:v>27495</c:v>
                </c:pt>
                <c:pt idx="48">
                  <c:v>37995</c:v>
                </c:pt>
                <c:pt idx="49">
                  <c:v>32995</c:v>
                </c:pt>
                <c:pt idx="50">
                  <c:v>29995</c:v>
                </c:pt>
                <c:pt idx="51">
                  <c:v>19995</c:v>
                </c:pt>
                <c:pt idx="52">
                  <c:v>23495</c:v>
                </c:pt>
                <c:pt idx="53">
                  <c:v>28995</c:v>
                </c:pt>
                <c:pt idx="54">
                  <c:v>20995</c:v>
                </c:pt>
                <c:pt idx="55">
                  <c:v>19995</c:v>
                </c:pt>
                <c:pt idx="56">
                  <c:v>22995</c:v>
                </c:pt>
                <c:pt idx="57">
                  <c:v>30495</c:v>
                </c:pt>
                <c:pt idx="58">
                  <c:v>15995</c:v>
                </c:pt>
                <c:pt idx="59">
                  <c:v>30995</c:v>
                </c:pt>
                <c:pt idx="60">
                  <c:v>25995</c:v>
                </c:pt>
                <c:pt idx="61">
                  <c:v>28495</c:v>
                </c:pt>
                <c:pt idx="62">
                  <c:v>13495</c:v>
                </c:pt>
                <c:pt idx="63">
                  <c:v>17495</c:v>
                </c:pt>
                <c:pt idx="64">
                  <c:v>22495</c:v>
                </c:pt>
                <c:pt idx="65">
                  <c:v>14495</c:v>
                </c:pt>
                <c:pt idx="66">
                  <c:v>34995</c:v>
                </c:pt>
                <c:pt idx="67">
                  <c:v>12995</c:v>
                </c:pt>
                <c:pt idx="68">
                  <c:v>16495</c:v>
                </c:pt>
                <c:pt idx="69">
                  <c:v>20495</c:v>
                </c:pt>
                <c:pt idx="70">
                  <c:v>22495</c:v>
                </c:pt>
                <c:pt idx="71">
                  <c:v>21995</c:v>
                </c:pt>
                <c:pt idx="72">
                  <c:v>24995</c:v>
                </c:pt>
                <c:pt idx="73">
                  <c:v>19995</c:v>
                </c:pt>
                <c:pt idx="74">
                  <c:v>25995</c:v>
                </c:pt>
                <c:pt idx="75">
                  <c:v>22495</c:v>
                </c:pt>
                <c:pt idx="76">
                  <c:v>22995</c:v>
                </c:pt>
                <c:pt idx="77">
                  <c:v>29995</c:v>
                </c:pt>
                <c:pt idx="78">
                  <c:v>16495</c:v>
                </c:pt>
                <c:pt idx="79">
                  <c:v>23995</c:v>
                </c:pt>
                <c:pt idx="80">
                  <c:v>12495</c:v>
                </c:pt>
                <c:pt idx="81">
                  <c:v>14995</c:v>
                </c:pt>
                <c:pt idx="82">
                  <c:v>22495</c:v>
                </c:pt>
                <c:pt idx="83">
                  <c:v>20495</c:v>
                </c:pt>
                <c:pt idx="84">
                  <c:v>18495</c:v>
                </c:pt>
                <c:pt idx="85">
                  <c:v>17995</c:v>
                </c:pt>
                <c:pt idx="86">
                  <c:v>18995</c:v>
                </c:pt>
                <c:pt idx="87">
                  <c:v>16995</c:v>
                </c:pt>
                <c:pt idx="88">
                  <c:v>18995</c:v>
                </c:pt>
                <c:pt idx="89">
                  <c:v>22995</c:v>
                </c:pt>
                <c:pt idx="90">
                  <c:v>32995</c:v>
                </c:pt>
                <c:pt idx="91">
                  <c:v>25995</c:v>
                </c:pt>
                <c:pt idx="92">
                  <c:v>34995</c:v>
                </c:pt>
                <c:pt idx="93">
                  <c:v>20995</c:v>
                </c:pt>
                <c:pt idx="94">
                  <c:v>28995</c:v>
                </c:pt>
                <c:pt idx="95">
                  <c:v>14495</c:v>
                </c:pt>
                <c:pt idx="96">
                  <c:v>12995</c:v>
                </c:pt>
                <c:pt idx="97">
                  <c:v>14995</c:v>
                </c:pt>
                <c:pt idx="98">
                  <c:v>15995</c:v>
                </c:pt>
                <c:pt idx="99">
                  <c:v>27495</c:v>
                </c:pt>
                <c:pt idx="100">
                  <c:v>29995</c:v>
                </c:pt>
                <c:pt idx="101">
                  <c:v>31495</c:v>
                </c:pt>
                <c:pt idx="102">
                  <c:v>28495</c:v>
                </c:pt>
                <c:pt idx="103">
                  <c:v>15995</c:v>
                </c:pt>
                <c:pt idx="104">
                  <c:v>35995</c:v>
                </c:pt>
                <c:pt idx="105">
                  <c:v>25995</c:v>
                </c:pt>
                <c:pt idx="106">
                  <c:v>39995</c:v>
                </c:pt>
                <c:pt idx="107">
                  <c:v>32995</c:v>
                </c:pt>
                <c:pt idx="108">
                  <c:v>18995</c:v>
                </c:pt>
                <c:pt idx="109">
                  <c:v>19995</c:v>
                </c:pt>
                <c:pt idx="110">
                  <c:v>11495</c:v>
                </c:pt>
                <c:pt idx="111">
                  <c:v>17495</c:v>
                </c:pt>
                <c:pt idx="112">
                  <c:v>17495</c:v>
                </c:pt>
                <c:pt idx="113">
                  <c:v>23995</c:v>
                </c:pt>
                <c:pt idx="114">
                  <c:v>13995</c:v>
                </c:pt>
                <c:pt idx="115">
                  <c:v>17995</c:v>
                </c:pt>
                <c:pt idx="116">
                  <c:v>20995</c:v>
                </c:pt>
                <c:pt idx="117">
                  <c:v>12995</c:v>
                </c:pt>
                <c:pt idx="118">
                  <c:v>16995</c:v>
                </c:pt>
                <c:pt idx="119">
                  <c:v>17495</c:v>
                </c:pt>
                <c:pt idx="120">
                  <c:v>16995</c:v>
                </c:pt>
                <c:pt idx="121">
                  <c:v>21995</c:v>
                </c:pt>
                <c:pt idx="122">
                  <c:v>24495</c:v>
                </c:pt>
                <c:pt idx="123">
                  <c:v>16995</c:v>
                </c:pt>
                <c:pt idx="124">
                  <c:v>26495</c:v>
                </c:pt>
                <c:pt idx="125">
                  <c:v>17995</c:v>
                </c:pt>
                <c:pt idx="126">
                  <c:v>33995</c:v>
                </c:pt>
                <c:pt idx="127">
                  <c:v>19995</c:v>
                </c:pt>
                <c:pt idx="128">
                  <c:v>18995</c:v>
                </c:pt>
                <c:pt idx="129">
                  <c:v>34995</c:v>
                </c:pt>
                <c:pt idx="130">
                  <c:v>25995</c:v>
                </c:pt>
                <c:pt idx="131">
                  <c:v>25995</c:v>
                </c:pt>
                <c:pt idx="132">
                  <c:v>15995</c:v>
                </c:pt>
                <c:pt idx="133">
                  <c:v>22795</c:v>
                </c:pt>
                <c:pt idx="134">
                  <c:v>13995</c:v>
                </c:pt>
                <c:pt idx="135">
                  <c:v>14995</c:v>
                </c:pt>
                <c:pt idx="136">
                  <c:v>35995</c:v>
                </c:pt>
                <c:pt idx="137">
                  <c:v>19995</c:v>
                </c:pt>
                <c:pt idx="138">
                  <c:v>18495</c:v>
                </c:pt>
                <c:pt idx="139">
                  <c:v>24995</c:v>
                </c:pt>
                <c:pt idx="140">
                  <c:v>19995</c:v>
                </c:pt>
                <c:pt idx="141">
                  <c:v>18995</c:v>
                </c:pt>
                <c:pt idx="142">
                  <c:v>31995</c:v>
                </c:pt>
                <c:pt idx="143">
                  <c:v>24995</c:v>
                </c:pt>
                <c:pt idx="144">
                  <c:v>34495</c:v>
                </c:pt>
                <c:pt idx="145">
                  <c:v>19995</c:v>
                </c:pt>
                <c:pt idx="146">
                  <c:v>16995</c:v>
                </c:pt>
                <c:pt idx="147">
                  <c:v>15995</c:v>
                </c:pt>
                <c:pt idx="148">
                  <c:v>20495</c:v>
                </c:pt>
                <c:pt idx="149">
                  <c:v>19495</c:v>
                </c:pt>
                <c:pt idx="150">
                  <c:v>9995</c:v>
                </c:pt>
                <c:pt idx="151">
                  <c:v>18495</c:v>
                </c:pt>
                <c:pt idx="152">
                  <c:v>17995</c:v>
                </c:pt>
                <c:pt idx="153">
                  <c:v>14495</c:v>
                </c:pt>
                <c:pt idx="154">
                  <c:v>27995</c:v>
                </c:pt>
                <c:pt idx="155">
                  <c:v>22995</c:v>
                </c:pt>
                <c:pt idx="156">
                  <c:v>23995</c:v>
                </c:pt>
                <c:pt idx="157">
                  <c:v>28495</c:v>
                </c:pt>
                <c:pt idx="158">
                  <c:v>18995</c:v>
                </c:pt>
                <c:pt idx="159">
                  <c:v>18995</c:v>
                </c:pt>
                <c:pt idx="160">
                  <c:v>20495</c:v>
                </c:pt>
                <c:pt idx="161">
                  <c:v>19995</c:v>
                </c:pt>
                <c:pt idx="162">
                  <c:v>23995</c:v>
                </c:pt>
                <c:pt idx="163">
                  <c:v>11495</c:v>
                </c:pt>
                <c:pt idx="164">
                  <c:v>20995</c:v>
                </c:pt>
                <c:pt idx="165">
                  <c:v>14995</c:v>
                </c:pt>
                <c:pt idx="166">
                  <c:v>20995</c:v>
                </c:pt>
                <c:pt idx="167">
                  <c:v>15995</c:v>
                </c:pt>
                <c:pt idx="168">
                  <c:v>25995</c:v>
                </c:pt>
                <c:pt idx="169">
                  <c:v>14995</c:v>
                </c:pt>
                <c:pt idx="170">
                  <c:v>27495</c:v>
                </c:pt>
                <c:pt idx="171">
                  <c:v>17495</c:v>
                </c:pt>
                <c:pt idx="172">
                  <c:v>21995</c:v>
                </c:pt>
                <c:pt idx="173">
                  <c:v>23995</c:v>
                </c:pt>
                <c:pt idx="174">
                  <c:v>28495</c:v>
                </c:pt>
                <c:pt idx="175">
                  <c:v>31995</c:v>
                </c:pt>
                <c:pt idx="176">
                  <c:v>32995</c:v>
                </c:pt>
                <c:pt idx="177">
                  <c:v>20995</c:v>
                </c:pt>
                <c:pt idx="178">
                  <c:v>27495</c:v>
                </c:pt>
                <c:pt idx="179">
                  <c:v>14495</c:v>
                </c:pt>
                <c:pt idx="180">
                  <c:v>18995</c:v>
                </c:pt>
                <c:pt idx="181">
                  <c:v>18995</c:v>
                </c:pt>
                <c:pt idx="182">
                  <c:v>16995</c:v>
                </c:pt>
                <c:pt idx="183">
                  <c:v>69995</c:v>
                </c:pt>
                <c:pt idx="184">
                  <c:v>18995</c:v>
                </c:pt>
                <c:pt idx="185">
                  <c:v>18995</c:v>
                </c:pt>
                <c:pt idx="186">
                  <c:v>18995</c:v>
                </c:pt>
                <c:pt idx="187">
                  <c:v>32495</c:v>
                </c:pt>
                <c:pt idx="188">
                  <c:v>29495</c:v>
                </c:pt>
                <c:pt idx="189">
                  <c:v>21495</c:v>
                </c:pt>
                <c:pt idx="190">
                  <c:v>15995</c:v>
                </c:pt>
                <c:pt idx="191">
                  <c:v>25495</c:v>
                </c:pt>
                <c:pt idx="192">
                  <c:v>32495</c:v>
                </c:pt>
                <c:pt idx="193">
                  <c:v>11495</c:v>
                </c:pt>
                <c:pt idx="194">
                  <c:v>30995</c:v>
                </c:pt>
                <c:pt idx="195">
                  <c:v>23995</c:v>
                </c:pt>
                <c:pt idx="196">
                  <c:v>23995</c:v>
                </c:pt>
                <c:pt idx="197">
                  <c:v>25995</c:v>
                </c:pt>
                <c:pt idx="198">
                  <c:v>13995</c:v>
                </c:pt>
                <c:pt idx="199">
                  <c:v>17995</c:v>
                </c:pt>
                <c:pt idx="200">
                  <c:v>21995</c:v>
                </c:pt>
                <c:pt idx="201">
                  <c:v>22995</c:v>
                </c:pt>
                <c:pt idx="202">
                  <c:v>32995</c:v>
                </c:pt>
                <c:pt idx="203">
                  <c:v>31995</c:v>
                </c:pt>
                <c:pt idx="204">
                  <c:v>18995</c:v>
                </c:pt>
                <c:pt idx="205">
                  <c:v>17495</c:v>
                </c:pt>
                <c:pt idx="206">
                  <c:v>23495</c:v>
                </c:pt>
                <c:pt idx="207">
                  <c:v>14995</c:v>
                </c:pt>
                <c:pt idx="208">
                  <c:v>24495</c:v>
                </c:pt>
                <c:pt idx="209">
                  <c:v>35995</c:v>
                </c:pt>
                <c:pt idx="210">
                  <c:v>19495</c:v>
                </c:pt>
                <c:pt idx="211">
                  <c:v>33995</c:v>
                </c:pt>
                <c:pt idx="212">
                  <c:v>14495</c:v>
                </c:pt>
                <c:pt idx="213">
                  <c:v>8995</c:v>
                </c:pt>
                <c:pt idx="214">
                  <c:v>25495</c:v>
                </c:pt>
                <c:pt idx="215">
                  <c:v>31995</c:v>
                </c:pt>
                <c:pt idx="216">
                  <c:v>18995</c:v>
                </c:pt>
                <c:pt idx="217">
                  <c:v>30995</c:v>
                </c:pt>
                <c:pt idx="218">
                  <c:v>22995</c:v>
                </c:pt>
                <c:pt idx="219">
                  <c:v>23495</c:v>
                </c:pt>
                <c:pt idx="220">
                  <c:v>22995</c:v>
                </c:pt>
                <c:pt idx="221">
                  <c:v>24995</c:v>
                </c:pt>
                <c:pt idx="222">
                  <c:v>13995</c:v>
                </c:pt>
                <c:pt idx="223">
                  <c:v>17495</c:v>
                </c:pt>
                <c:pt idx="224">
                  <c:v>21995</c:v>
                </c:pt>
                <c:pt idx="225">
                  <c:v>20995</c:v>
                </c:pt>
                <c:pt idx="226">
                  <c:v>19995</c:v>
                </c:pt>
                <c:pt idx="227">
                  <c:v>17995</c:v>
                </c:pt>
                <c:pt idx="228">
                  <c:v>27995</c:v>
                </c:pt>
                <c:pt idx="229">
                  <c:v>19495</c:v>
                </c:pt>
                <c:pt idx="230">
                  <c:v>14995</c:v>
                </c:pt>
                <c:pt idx="231">
                  <c:v>15995</c:v>
                </c:pt>
                <c:pt idx="232">
                  <c:v>12495</c:v>
                </c:pt>
                <c:pt idx="233">
                  <c:v>19995</c:v>
                </c:pt>
                <c:pt idx="234">
                  <c:v>20995</c:v>
                </c:pt>
                <c:pt idx="235">
                  <c:v>24995</c:v>
                </c:pt>
                <c:pt idx="236">
                  <c:v>15995</c:v>
                </c:pt>
                <c:pt idx="237">
                  <c:v>17495</c:v>
                </c:pt>
                <c:pt idx="238">
                  <c:v>27995</c:v>
                </c:pt>
                <c:pt idx="239">
                  <c:v>9495</c:v>
                </c:pt>
                <c:pt idx="240">
                  <c:v>46995</c:v>
                </c:pt>
                <c:pt idx="241">
                  <c:v>16995</c:v>
                </c:pt>
                <c:pt idx="242">
                  <c:v>32495</c:v>
                </c:pt>
                <c:pt idx="243">
                  <c:v>27495</c:v>
                </c:pt>
                <c:pt idx="244">
                  <c:v>17995</c:v>
                </c:pt>
                <c:pt idx="245">
                  <c:v>14995</c:v>
                </c:pt>
                <c:pt idx="246">
                  <c:v>18995</c:v>
                </c:pt>
                <c:pt idx="247">
                  <c:v>14495</c:v>
                </c:pt>
                <c:pt idx="248">
                  <c:v>19495</c:v>
                </c:pt>
                <c:pt idx="249">
                  <c:v>20995</c:v>
                </c:pt>
                <c:pt idx="250">
                  <c:v>14995</c:v>
                </c:pt>
                <c:pt idx="251">
                  <c:v>25495</c:v>
                </c:pt>
                <c:pt idx="252">
                  <c:v>19495</c:v>
                </c:pt>
                <c:pt idx="253">
                  <c:v>18995</c:v>
                </c:pt>
                <c:pt idx="254">
                  <c:v>23495</c:v>
                </c:pt>
                <c:pt idx="255">
                  <c:v>87995</c:v>
                </c:pt>
                <c:pt idx="256">
                  <c:v>25995</c:v>
                </c:pt>
                <c:pt idx="257">
                  <c:v>23995</c:v>
                </c:pt>
                <c:pt idx="258">
                  <c:v>15995</c:v>
                </c:pt>
                <c:pt idx="259">
                  <c:v>31995</c:v>
                </c:pt>
                <c:pt idx="260">
                  <c:v>21995</c:v>
                </c:pt>
                <c:pt idx="261">
                  <c:v>8995</c:v>
                </c:pt>
                <c:pt idx="262">
                  <c:v>22995</c:v>
                </c:pt>
                <c:pt idx="263">
                  <c:v>17995</c:v>
                </c:pt>
                <c:pt idx="264">
                  <c:v>25995</c:v>
                </c:pt>
                <c:pt idx="265">
                  <c:v>26495</c:v>
                </c:pt>
                <c:pt idx="266">
                  <c:v>20995</c:v>
                </c:pt>
                <c:pt idx="267">
                  <c:v>20995</c:v>
                </c:pt>
                <c:pt idx="268">
                  <c:v>15995</c:v>
                </c:pt>
                <c:pt idx="269">
                  <c:v>26995</c:v>
                </c:pt>
                <c:pt idx="270">
                  <c:v>24995</c:v>
                </c:pt>
                <c:pt idx="271">
                  <c:v>23495</c:v>
                </c:pt>
                <c:pt idx="272">
                  <c:v>25995</c:v>
                </c:pt>
                <c:pt idx="273">
                  <c:v>26495</c:v>
                </c:pt>
                <c:pt idx="274">
                  <c:v>16995</c:v>
                </c:pt>
                <c:pt idx="275">
                  <c:v>19995</c:v>
                </c:pt>
                <c:pt idx="276">
                  <c:v>31995</c:v>
                </c:pt>
                <c:pt idx="277">
                  <c:v>13995</c:v>
                </c:pt>
                <c:pt idx="278">
                  <c:v>29995</c:v>
                </c:pt>
                <c:pt idx="279">
                  <c:v>14995</c:v>
                </c:pt>
                <c:pt idx="280">
                  <c:v>11995</c:v>
                </c:pt>
                <c:pt idx="281">
                  <c:v>26495</c:v>
                </c:pt>
                <c:pt idx="282">
                  <c:v>33995</c:v>
                </c:pt>
                <c:pt idx="283">
                  <c:v>14995</c:v>
                </c:pt>
                <c:pt idx="284">
                  <c:v>19995</c:v>
                </c:pt>
                <c:pt idx="285">
                  <c:v>23495</c:v>
                </c:pt>
                <c:pt idx="286">
                  <c:v>25995</c:v>
                </c:pt>
                <c:pt idx="287">
                  <c:v>21795</c:v>
                </c:pt>
                <c:pt idx="288">
                  <c:v>20495</c:v>
                </c:pt>
                <c:pt idx="289">
                  <c:v>26495</c:v>
                </c:pt>
                <c:pt idx="290">
                  <c:v>15995</c:v>
                </c:pt>
                <c:pt idx="291">
                  <c:v>17995</c:v>
                </c:pt>
                <c:pt idx="292">
                  <c:v>17995</c:v>
                </c:pt>
                <c:pt idx="293">
                  <c:v>11995</c:v>
                </c:pt>
                <c:pt idx="294">
                  <c:v>18995</c:v>
                </c:pt>
                <c:pt idx="295">
                  <c:v>28995</c:v>
                </c:pt>
                <c:pt idx="296">
                  <c:v>19995</c:v>
                </c:pt>
                <c:pt idx="297">
                  <c:v>19995</c:v>
                </c:pt>
                <c:pt idx="298">
                  <c:v>26995</c:v>
                </c:pt>
                <c:pt idx="299">
                  <c:v>15995</c:v>
                </c:pt>
                <c:pt idx="300">
                  <c:v>31995</c:v>
                </c:pt>
                <c:pt idx="301">
                  <c:v>17495</c:v>
                </c:pt>
                <c:pt idx="302">
                  <c:v>17995</c:v>
                </c:pt>
                <c:pt idx="303">
                  <c:v>29995</c:v>
                </c:pt>
                <c:pt idx="304">
                  <c:v>18995</c:v>
                </c:pt>
                <c:pt idx="305">
                  <c:v>21495</c:v>
                </c:pt>
                <c:pt idx="306">
                  <c:v>18995</c:v>
                </c:pt>
                <c:pt idx="307">
                  <c:v>26995</c:v>
                </c:pt>
                <c:pt idx="308">
                  <c:v>16995</c:v>
                </c:pt>
                <c:pt idx="309">
                  <c:v>14995</c:v>
                </c:pt>
                <c:pt idx="310">
                  <c:v>40995</c:v>
                </c:pt>
                <c:pt idx="311">
                  <c:v>18495</c:v>
                </c:pt>
                <c:pt idx="312">
                  <c:v>25995</c:v>
                </c:pt>
                <c:pt idx="313">
                  <c:v>24995</c:v>
                </c:pt>
                <c:pt idx="314">
                  <c:v>23995</c:v>
                </c:pt>
                <c:pt idx="315">
                  <c:v>18995</c:v>
                </c:pt>
                <c:pt idx="316">
                  <c:v>17995</c:v>
                </c:pt>
                <c:pt idx="317">
                  <c:v>36995</c:v>
                </c:pt>
                <c:pt idx="318">
                  <c:v>25495</c:v>
                </c:pt>
                <c:pt idx="319">
                  <c:v>16495</c:v>
                </c:pt>
                <c:pt idx="320">
                  <c:v>24495</c:v>
                </c:pt>
                <c:pt idx="321">
                  <c:v>18995</c:v>
                </c:pt>
                <c:pt idx="322">
                  <c:v>29995</c:v>
                </c:pt>
                <c:pt idx="323">
                  <c:v>15995</c:v>
                </c:pt>
                <c:pt idx="324">
                  <c:v>27995</c:v>
                </c:pt>
                <c:pt idx="325">
                  <c:v>23995</c:v>
                </c:pt>
                <c:pt idx="326">
                  <c:v>13495</c:v>
                </c:pt>
                <c:pt idx="327">
                  <c:v>21495</c:v>
                </c:pt>
                <c:pt idx="328">
                  <c:v>19795</c:v>
                </c:pt>
                <c:pt idx="329">
                  <c:v>36495</c:v>
                </c:pt>
                <c:pt idx="330">
                  <c:v>18995</c:v>
                </c:pt>
                <c:pt idx="331">
                  <c:v>13995</c:v>
                </c:pt>
                <c:pt idx="332">
                  <c:v>26995</c:v>
                </c:pt>
                <c:pt idx="333">
                  <c:v>19995</c:v>
                </c:pt>
                <c:pt idx="334">
                  <c:v>32995</c:v>
                </c:pt>
                <c:pt idx="335">
                  <c:v>22995</c:v>
                </c:pt>
                <c:pt idx="336">
                  <c:v>19495</c:v>
                </c:pt>
                <c:pt idx="337">
                  <c:v>24995</c:v>
                </c:pt>
                <c:pt idx="338">
                  <c:v>16995</c:v>
                </c:pt>
                <c:pt idx="339">
                  <c:v>28995</c:v>
                </c:pt>
                <c:pt idx="340">
                  <c:v>24995</c:v>
                </c:pt>
                <c:pt idx="341">
                  <c:v>25995</c:v>
                </c:pt>
                <c:pt idx="342">
                  <c:v>15995</c:v>
                </c:pt>
                <c:pt idx="343">
                  <c:v>17495</c:v>
                </c:pt>
                <c:pt idx="344">
                  <c:v>23995</c:v>
                </c:pt>
                <c:pt idx="345">
                  <c:v>18995</c:v>
                </c:pt>
                <c:pt idx="346">
                  <c:v>22495</c:v>
                </c:pt>
                <c:pt idx="347">
                  <c:v>27995</c:v>
                </c:pt>
                <c:pt idx="348">
                  <c:v>22995</c:v>
                </c:pt>
                <c:pt idx="349">
                  <c:v>29995</c:v>
                </c:pt>
                <c:pt idx="350">
                  <c:v>4000</c:v>
                </c:pt>
                <c:pt idx="351">
                  <c:v>6500</c:v>
                </c:pt>
                <c:pt idx="352">
                  <c:v>9000</c:v>
                </c:pt>
                <c:pt idx="353">
                  <c:v>11500</c:v>
                </c:pt>
                <c:pt idx="354">
                  <c:v>14000</c:v>
                </c:pt>
                <c:pt idx="355">
                  <c:v>16500</c:v>
                </c:pt>
                <c:pt idx="356">
                  <c:v>19000</c:v>
                </c:pt>
                <c:pt idx="357">
                  <c:v>21500</c:v>
                </c:pt>
                <c:pt idx="358">
                  <c:v>24000</c:v>
                </c:pt>
                <c:pt idx="359">
                  <c:v>26500</c:v>
                </c:pt>
                <c:pt idx="360">
                  <c:v>29000</c:v>
                </c:pt>
                <c:pt idx="361">
                  <c:v>31500</c:v>
                </c:pt>
                <c:pt idx="362">
                  <c:v>34000</c:v>
                </c:pt>
                <c:pt idx="363">
                  <c:v>36500</c:v>
                </c:pt>
                <c:pt idx="364">
                  <c:v>39000</c:v>
                </c:pt>
                <c:pt idx="365">
                  <c:v>41500</c:v>
                </c:pt>
                <c:pt idx="366">
                  <c:v>44000</c:v>
                </c:pt>
                <c:pt idx="367">
                  <c:v>46500</c:v>
                </c:pt>
                <c:pt idx="368">
                  <c:v>49000</c:v>
                </c:pt>
                <c:pt idx="369">
                  <c:v>51500</c:v>
                </c:pt>
                <c:pt idx="370">
                  <c:v>54000</c:v>
                </c:pt>
                <c:pt idx="371">
                  <c:v>56500</c:v>
                </c:pt>
                <c:pt idx="372">
                  <c:v>59000</c:v>
                </c:pt>
                <c:pt idx="373">
                  <c:v>61500</c:v>
                </c:pt>
                <c:pt idx="374">
                  <c:v>64000</c:v>
                </c:pt>
                <c:pt idx="375">
                  <c:v>66500</c:v>
                </c:pt>
                <c:pt idx="376">
                  <c:v>69000</c:v>
                </c:pt>
                <c:pt idx="377">
                  <c:v>71500</c:v>
                </c:pt>
                <c:pt idx="378">
                  <c:v>74000</c:v>
                </c:pt>
                <c:pt idx="379">
                  <c:v>76500</c:v>
                </c:pt>
                <c:pt idx="380">
                  <c:v>79000</c:v>
                </c:pt>
                <c:pt idx="381">
                  <c:v>81500</c:v>
                </c:pt>
                <c:pt idx="382">
                  <c:v>84000</c:v>
                </c:pt>
                <c:pt idx="383">
                  <c:v>86500</c:v>
                </c:pt>
                <c:pt idx="384">
                  <c:v>89000</c:v>
                </c:pt>
              </c:numCache>
            </c:numRef>
          </c:xVal>
          <c:yVal>
            <c:numRef>
              <c:f>Sheet1!$C$2:$C$386</c:f>
              <c:numCache>
                <c:formatCode>General</c:formatCode>
                <c:ptCount val="38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4000</c:v>
                </c:pt>
                <c:pt idx="351">
                  <c:v>6500</c:v>
                </c:pt>
                <c:pt idx="352">
                  <c:v>9000</c:v>
                </c:pt>
                <c:pt idx="353">
                  <c:v>11500</c:v>
                </c:pt>
                <c:pt idx="354">
                  <c:v>14000</c:v>
                </c:pt>
                <c:pt idx="355">
                  <c:v>16500</c:v>
                </c:pt>
                <c:pt idx="356">
                  <c:v>19000</c:v>
                </c:pt>
                <c:pt idx="357">
                  <c:v>21500</c:v>
                </c:pt>
                <c:pt idx="358">
                  <c:v>24000</c:v>
                </c:pt>
                <c:pt idx="359">
                  <c:v>26500</c:v>
                </c:pt>
                <c:pt idx="360">
                  <c:v>29000</c:v>
                </c:pt>
                <c:pt idx="361">
                  <c:v>31500</c:v>
                </c:pt>
                <c:pt idx="362">
                  <c:v>34000</c:v>
                </c:pt>
                <c:pt idx="363">
                  <c:v>36500</c:v>
                </c:pt>
                <c:pt idx="364">
                  <c:v>39000</c:v>
                </c:pt>
                <c:pt idx="365">
                  <c:v>41500</c:v>
                </c:pt>
                <c:pt idx="366">
                  <c:v>44000</c:v>
                </c:pt>
                <c:pt idx="367">
                  <c:v>46500</c:v>
                </c:pt>
                <c:pt idx="368">
                  <c:v>49000</c:v>
                </c:pt>
                <c:pt idx="369">
                  <c:v>51500</c:v>
                </c:pt>
                <c:pt idx="370">
                  <c:v>54000</c:v>
                </c:pt>
                <c:pt idx="371">
                  <c:v>56500</c:v>
                </c:pt>
                <c:pt idx="372">
                  <c:v>59000</c:v>
                </c:pt>
                <c:pt idx="373">
                  <c:v>61500</c:v>
                </c:pt>
                <c:pt idx="374">
                  <c:v>64000</c:v>
                </c:pt>
                <c:pt idx="375">
                  <c:v>66500</c:v>
                </c:pt>
                <c:pt idx="376">
                  <c:v>69000</c:v>
                </c:pt>
                <c:pt idx="377">
                  <c:v>71500</c:v>
                </c:pt>
                <c:pt idx="378">
                  <c:v>74000</c:v>
                </c:pt>
                <c:pt idx="379">
                  <c:v>76500</c:v>
                </c:pt>
                <c:pt idx="380">
                  <c:v>79000</c:v>
                </c:pt>
                <c:pt idx="381">
                  <c:v>81500</c:v>
                </c:pt>
                <c:pt idx="382">
                  <c:v>84000</c:v>
                </c:pt>
                <c:pt idx="383">
                  <c:v>86500</c:v>
                </c:pt>
                <c:pt idx="384">
                  <c:v>89000</c:v>
                </c:pt>
              </c:numCache>
            </c:numRef>
          </c:yVal>
          <c:smooth val="0"/>
        </c:ser>
        <c:dLbls>
          <c:numFmt formatCode="General" sourceLinked="0"/>
          <c:txPr>
            <a:bodyPr/>
            <a:lstStyle/>
            <a:p>
              <a:pPr>
                <a:defRPr b="0" i="0" strike="noStrike" sz="1100" u="none">
                  <a:solidFill>
                    <a:srgbClr val="33414E"/>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90000"/>
          <c:min val="0"/>
        </c:scaling>
        <c:delete val="0"/>
        <c:axPos val="b"/>
        <c:title>
          <c:tx>
            <c:rich>
              <a:bodyPr/>
              <a:lstStyle/>
              <a:p>
                <a:pPr>
                  <a:defRPr sz="1100" b="0" i="0" u="none" strike="noStrike">
                    <a:solidFill>
                      <a:srgbClr val="6B7A89"/>
                    </a:solidFill>
                    <a:latin typeface="Arial"/>
                  </a:defRPr>
                </a:pPr>
                <a:r>
                  <a:rPr sz="1100" b="0" i="0" u="none" strike="noStrike">
                    <a:solidFill>
                      <a:srgbClr val="6B7A89"/>
                    </a:solidFill>
                    <a:latin typeface="Arial"/>
                  </a:rPr>
                  <a:t>Réel</a:t>
                </a:r>
              </a:p>
            </c:rich>
          </c:tx>
          <c:layout/>
          <c:overlay val="0"/>
        </c:title>
        <c:numFmt formatCode="#,##0" sourceLinked="1"/>
        <c:majorTickMark val="none"/>
        <c:minorTickMark val="none"/>
        <c:tickLblPos val="nextTo"/>
        <c:spPr>
          <a:ln w="12700" cap="flat">
            <a:solidFill>
              <a:srgbClr val="C9D0D6"/>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noMultiLvlLbl val="1"/>
      </c:valAx>
      <c:valAx>
        <c:axId val="2094734552"/>
        <c:scaling>
          <c:orientation val="minMax"/>
          <c:max val="90000"/>
          <c:min val="0"/>
        </c:scaling>
        <c:delete val="0"/>
        <c:axPos val="l"/>
        <c:majorGridlines>
          <c:spPr>
            <a:ln w="6350" cap="flat">
              <a:solidFill>
                <a:srgbClr val="DDE2E7"/>
              </a:solidFill>
              <a:prstDash val="solid"/>
              <a:round/>
            </a:ln>
          </c:spPr>
        </c:majorGridlines>
        <c:title>
          <c:tx>
            <c:rich>
              <a:bodyPr/>
              <a:lstStyle/>
              <a:p>
                <a:pPr>
                  <a:defRPr sz="1100" b="0" i="0" u="none" strike="noStrike">
                    <a:solidFill>
                      <a:srgbClr val="6B7A89"/>
                    </a:solidFill>
                    <a:latin typeface="Arial"/>
                  </a:defRPr>
                </a:pPr>
                <a:r>
                  <a:rPr sz="1100" b="0" i="0" u="none" strike="noStrike">
                    <a:solidFill>
                      <a:srgbClr val="6B7A89"/>
                    </a:solidFill>
                    <a:latin typeface="Arial"/>
                  </a:rPr>
                  <a:t>Prédit</a:t>
                </a:r>
              </a:p>
            </c:rich>
          </c:tx>
          <c:layout/>
          <c:overlay val="0"/>
        </c:title>
        <c:numFmt formatCode="#,##0" sourceLinked="0"/>
        <c:majorTickMark val="none"/>
        <c:minorTickMark val="none"/>
        <c:tickLblPos val="nextTo"/>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414E"/>
                </a:solidFill>
                <a:latin typeface="+mn-lt"/>
              </a:defRPr>
            </a:pPr>
            <a:r>
              <a:rPr sz="1300" b="0" i="0" u="none" strike="noStrike">
                <a:solidFill>
                  <a:srgbClr val="33414E"/>
                </a:solidFill>
                <a:latin typeface="+mn-lt"/>
              </a:rPr>
              <a:t>MAE selon que le modèle était déjà connu ($)</a:t>
            </a:r>
          </a:p>
        </c:rich>
      </c:tx>
      <c:layout/>
      <c:overlay val="0"/>
    </c:title>
    <c:autoTitleDeleted val="0"/>
    <c:plotArea>
      <c:layout/>
      <c:barChart>
        <c:barDir val="bar"/>
        <c:grouping val="clustered"/>
        <c:varyColors val="0"/>
        <c:ser>
          <c:idx val="0"/>
          <c:order val="0"/>
          <c:tx>
            <c:strRef>
              <c:f>Sheet1!$B$1</c:f>
              <c:strCache>
                <c:ptCount val="1"/>
                <c:pt idx="0">
                  <c:v>MAE ($)</c:v>
                </c:pt>
              </c:strCache>
            </c:strRef>
          </c:tx>
          <c:spPr>
            <a:solidFill>
              <a:srgbClr val="B5472F"/>
            </a:solidFill>
            <a:effectLst/>
          </c:spPr>
          <c:invertIfNegative val="0"/>
          <c:dLbls>
            <c:numFmt formatCode="# ##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dPt>
            <c:idx val="0"/>
            <c:invertIfNegative val="0"/>
            <c:bubble3D val="0"/>
            <c:spPr>
              <a:solidFill>
                <a:srgbClr val="B5472F"/>
              </a:solidFill>
              <a:effectLst/>
            </c:spPr>
          </c:dPt>
          <c:dPt>
            <c:idx val="1"/>
            <c:invertIfNegative val="0"/>
            <c:bubble3D val="0"/>
            <c:spPr>
              <a:solidFill>
                <a:srgbClr val="D99A8B"/>
              </a:solidFill>
              <a:effectLst/>
            </c:spPr>
          </c:dPt>
          <c:dPt>
            <c:idx val="2"/>
            <c:invertIfNegative val="0"/>
            <c:bubble3D val="0"/>
            <c:spPr>
              <a:solidFill>
                <a:srgbClr val="3E7C8C"/>
              </a:solidFill>
              <a:effectLst/>
            </c:spPr>
          </c:dPt>
          <c:cat>
            <c:multiLvlStrRef>
              <c:f>Sheet1!$A$2:$A$4</c:f>
              <c:multiLvlStrCache>
                <c:ptCount val="3"/>
                <c:lvl>
                  <c:pt idx="0">
                    <c:v>Modèle jamais vu (13)</c:v>
                  </c:pt>
                  <c:pt idx="1">
                    <c:v>Vu 1 à 4 fois (54)</c:v>
                  </c:pt>
                  <c:pt idx="2">
                    <c:v>Vu 5 fois et + (283)</c:v>
                  </c:pt>
                </c:lvl>
              </c:multiLvlStrCache>
            </c:multiLvlStrRef>
          </c:cat>
          <c:val>
            <c:numRef>
              <c:f>Sheet1!$B$2:$B$4</c:f>
              <c:numCache>
                <c:formatCode>General</c:formatCode>
                <c:ptCount val="3"/>
                <c:pt idx="0">
                  <c:v>7011</c:v>
                </c:pt>
                <c:pt idx="1">
                  <c:v>2162</c:v>
                </c:pt>
                <c:pt idx="2">
                  <c:v>1492</c:v>
                </c:pt>
              </c:numCache>
            </c:numRef>
          </c:val>
        </c:ser>
        <c:dLbls>
          <c:numFmt formatCode="# ##0" sourceLinked="0"/>
          <c:txPr>
            <a:bodyPr/>
            <a:lstStyle/>
            <a:p>
              <a:pPr>
                <a:defRPr b="0" i="0" strike="noStrike" sz="1100" u="none">
                  <a:solidFill>
                    <a:srgbClr val="33414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0D6"/>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0:35 — cumul 0:35]
Bonjour. Mon projet prédit le prix affiché d'un véhicule d'occasion à partir de ses caractéristiques : année, kilométrage, marque, modèle, carrosserie. C'est un apprentissage supervisé, parce qu'on connaît le vrai prix de chaque véhicule, et une régression, parce que le prix est une valeur continue.
La question qui guide la présentation : comment comparer équitablement plusieurs techniques et justifier le choix final ? Je présente les données, le protocole, les modèles du plus simple au plus complexe, puis les résultats et leurs limites.
Sources : README.md ; 01_eda_preparation.ipynb, cellule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1:10 — cumul 1:45]
Les données viennent d'un concessionnaire : deux fichiers fusionnés, 1 748 véhicules uniques. Trois constats ont guidé la suite.
D'abord, la plupart des prix se situent entre 15 000 et 35 000 $. Quelques véhicules très chers, jusqu'à 119 900 $, ont été gardés parce que ce sont de vraies annonces. Ils pèseront lourd dans le RMSE, la métrique qui pénalise les grosses erreurs.
Ensuite, l'année et le kilométrage vont dans le sens attendu, avec des corrélations d'environ 0,56 et moins 0,29, mais avec beaucoup de dispersion. Aucune variable ne suffit seule.
Enfin, il y a 222 modèles commerciaux, dont 147 apparaissent cinq fois ou moins. Une fois encodés, ils produisent 288 colonnes pour 1 398 véhicules d'entraînement. Avec si peu d'exemples par colonne, le risque d'overfitting est réel : c'est ce qui motivera la régularisation.
Voyons maintenant la préparation.
Sources : 01_eda_preparation.ipynb, cellules 16, 36, 40 à 43 ; tranches recalculées depuis data/interim/vehicles_clean.csv.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1:05 — cumul 2:50]
La préparation suit cinq étapes. On fusionne les fichiers et on retire les doublons. On garde onze caractéristiques et, surtout, on retire les colonnes qui contiennent déjà le prix, comme le prix catalogue ou le prix de gros : sinon le modèle tricherait. C'est une fuite de la cible.
Les quelques valeurs manquantes deviennent « Inconnu », et les véhicules à zéro porte reçoivent la valeur la plus courante, quatre. Chaque catégorie devient ensuite une colonne 0 ou 1 : c'est l'encodage one-hot. Enfin, pour Ridge, Lasso et ElasticNet, les variables numériques sont mises à la même échelle, pour que la pénalité les traite de façon équitable.
Tout est regroupé dans un pipeline scikit-learn, ajusté sur l'entraînement et réutilisé tel quel par l'API. Le pipeline limite les fuites, mais il ne les supprime pas toutes : la valeur « quatre portes » a été calculée avant la séparation, avec un effet négligeable.
Sources : 01_eda_preparation.ipynb, cellules 6 à 8, 13, 19 ; 02_modelisation.ipynb, cellules 14, 16,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1:25 — cumul 4:15]
Pour comparer équitablement, tous les modèles passent le même examen, à trois niveaux.
Le jeu de test : 350 véhicules mis de côté, jamais utilisés pour l'entraînement, avec le même découpage pour tous.
La validation croisée externe : on répète l'entraînement cinq fois en changeant le bloc de test, sur les 1 748 véhicules. On obtient une moyenne, et on voit si le score est stable. Le pipeline complet est réajusté dans chaque pli.
La validation croisée interne : à l'intérieur de l'entraînement, RidgeCV et ElasticNetCV s'en servent pour choisir automatiquement alpha.
Trois métriques. La MAE est la moyenne des erreurs absolues, en dollars. Le RMSE, aussi en dollars, donne plus de poids aux grosses erreurs. Le R² mesure la part des variations du prix expliquée : 1 serait parfait, 0 revient à prédire la moyenne, et sur un test il peut même être négatif. Ce n'est pas un pourcentage de bonnes réponses.
Une limite : le test a aussi servi à choisir le modèle final. Son score peut donc être un peu optimiste.
Sources : 02_modelisation.ipynb, cellules 9, 43 à 46, 65, 83 ; 03_mlflow_experimentations_final.ipynb, cellule 13 ; documentation scikit-learn de r2_score (R² négatif possible). Détail technique (annexe D) : dans RidgeCV et ElasticNetCV, l'encodage et la standardisation sont ajustés une fois sur tout l'entraînement avant la CV interne ; refaite avec réajustement dans chaque pli, elle choisit les mêmes 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1:15 — cumul 5:30]
Premier repère : le Dummy, qui prédit toujours le prix moyen, 23 801 $. Sa MAE est de 5 741 $ et son R² est proche de 0 : il n'explique rien. C'est le plancher que tout modèle doit dépasser.
La régression linéaire calcule le prix comme une somme pondérée des caractéristiques, en minimisant la somme des carrés des erreurs. Dans le notebook, sa MAE tombe à 2 274 $, soit 60 % de moins, avec un R² test de 0,70. Les caractéristiques portent donc bien l'information.
En termes de biais, elle additionne les effets et ne capte pas d'interaction, par exemple une marque qui se déprécie plus vite. En termes de variance, elle estime 288 coefficients avec 1 398 véhicules, et son score varie de 0,52 à 0,82 d'un pli à l'autre.
Je reviens sur ce résultat à la diapositive suivante, car j'ai trouvé un problème de calcul.
Sources : 02_modelisation.ipynb, cellules 19 à 31 et 46 ; run final_linearregression 1c226f3b5df04809a5bff91b08f95d5a.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1:30 — cumul 7:00]
La régularisation ajoute une pénalité sur la taille des coefficients ; alpha règle sa force. Ridge, une pénalité L2, réduit tous les coefficients. Lasso, une pénalité L1, peut en mettre à zéro. ElasticNet combine les deux.
Le graphique montre la MAE au test. Avec alpha égal à 1, Ridge et Lasso font mieux que la régression du notebook. Avec alpha égal à 10, ou ElasticNet à alpha 1, l'erreur remonte : la pénalité est trop forte et le modèle devient trop simple. C'est le sous-apprentissage. La validation croisée interne choisit alpha 1 pour Ridge, et alpha 0,001 avec l1_ratio 0,5 pour ElasticNet.
Maintenant, la barre gris clair. Dans le notebook, la régression linéaire est calculée par un solveur itératif qui s'arrête trop tôt : son R² d'entraînement n'est que de 0,86. Résolue exactement, avec les mêmes données et le même découpage, elle atteint 1 690 $ de MAE et 0,765 de R² en validation croisée, au niveau des modèles régularisés. J'ai reproduit ce calcul pour la présentation ; il n'est pas encore dans le notebook.
Conclusion : le gain de la régularisation n'est pas démontré sur nos données. Ce qui est démontré, c'est qu'une pénalité trop forte nuit.
Sources : 02_modelisation.ipynb, cellules 59 à 85 ; runs final_ridgecv, final_lasso_alpha_1, final_elasticnetcv. Vérification : annexe D (scikit-learn 1.7.2 ; LinearRegression utilise scipy lsqr sur une matrice creuse).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1:30 — cumul 8:30]
Un arbre de décision pose une suite de questions, comme « l'année est-elle après 2021 ? », et prédit le prix moyen de chaque feuille. Il capte naturellement les interactions.
Le graphique porte sur l'arbre testé avec différentes tailles minimales de feuille. Sans contrainte, avec une seule observation par feuille, il obtient un R² de 1,00 à l'entraînement et de 0,51 au test : il a appris les données par cœur. C'est l'overfitting. Avec au moins deux observations par feuille, le test monte à 0,64 ; au-delà, l'arbre devient trop simple. Ce réglage joue un rôle proche de l'élagage vu en cours.
Les méthodes d'ensemble combinent plusieurs arbres. Le bagging, ici la forêt aléatoire, est parallèle : des arbres entraînés sur des échantillons bootstrap, puis moyennés, ce qui réduit la variance. Le boosting, ici XGBoost, est séquentiel : chaque arbre corrige les erreurs des précédents, ce qui réduit le biais.
Résultat : la forêt obtient 0,66 au test. XGBoost obtient 0,67 au test, mais 0,77 en validation croisée, avec la plus faible dispersion. Aucun des deux ne bat les modèles linéaires au test.
Sources : 02_modelisation.ipynb, cellules 91 à 120 ; cours 03-1 (élagage) et 12 (bagging, boosting). Dans scikit-learn, RandomForestRegressor utilise par défaut toutes les variables à chaque séparation (max_features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1:15 — cumul 9:45]
Voici tous les modèles sur le même test. MAE et RMSE en dollars : plus bas, c'est mieux. R² : plus haut, c'est mieux. La dernière colonne est la moyenne des cinq plis.
Tous battent nettement la référence. Les trois modèles régularisés sont en tête : Lasso a la plus petite MAE, 1 726 $ ; ElasticNetCV a le meilleur RMSE, 3 751 $, le meilleur R² test, 0,77, et la meilleure moyenne en validation croisée. Le meilleur modèle dépend donc de la métrique.
Mais les écarts entre eux sont faibles : moins de 110 $ de MAE et environ 0,01 de R², alors que le score d'un même modèle varie d'environ 0,10 d'un pli à l'autre. Sans test statistique, on ne peut pas parler de différence significative.
Enfin, plus de complexité n'a pas donné plus de performance : l'arbre est instable, et XGBoost, presque à égalité avec ElasticNetCV en validation croisée, est le moins bon des finalistes au test.
Sources : 02_modelisation.ipynb, cellule 129 ; métriques de l'expérience MLflow prediction_prix_automobile_final ; écarts-types en annexe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1:15 — cumul 11:00]
MLflow sert de cahier de laboratoire : il garde les paramètres, les métriques et le modèle de chaque run. Il faut distinguer quatre situations.
Un : les cinq finalistes journalisés, régression linéaire, RidgeCV, Lasso, ElasticNetCV et XGBoost. Attention : Lasso n'a pas de version automatique. Il reste finaliste avec alpha fixé à 1. Quatre de ces runs ne sont pas retenus comme champion, mais ils restent valides et servent à justifier le choix.
Deux : les variantes écartées et non journalisées. Ridge et Lasso à alpha 10, ElasticNet à alpha 1, l'arbre et la forêt ont donné de moins bons résultats dans le notebook 02.
Trois : deux exclusions sans motif écrit. Ridge à alpha 1 fait probablement doublon avec RidgeCV, qui choisit justement alpha 1, et le Dummy sert sans doute de simple référence. Ce sont des hypothèses.
Quatre : vingt-cinq runs supprimés : des réexécutions identiques, dont deux échecs d'enregistrement de XGBoost, et deux séries faites sur un autre découpage, avant la correction de l'ordre des lignes. Elles restent hors de la comparaison.
Sources : notebooks/mlflow.db (statuts et cycle de vie des runs) ; 03_mlflow_experimentations_final.ipynb, cellules 0 et 11 ; 02_modelisation.ipynb, cellules 62, 77, 81, 103, 110, 130. Aucun LassoCV dans le projet. Cause des échecs XGBoost : hypothèse (format skops remplacé ensuite par cloudpickle).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1:15 — cumul 12:15]
À gauche, les cinq finalistes, au test et en validation croisée. Les trois modèles régularisés sont presque à égalité ; XGBoost est presque à égalité en validation croisée, mais le moins bon au test.
À droite, le duel. Lasso a la plus petite MAE, 74 $ de moins. ElasticNetCV a le meilleur RMSE et le meilleur R², au test comme en validation croisée. Le notebook trie les finalistes par R² test, puis par RMSE, en tenant compte de la validation croisée : ElasticNetCV arrive en tête. Si la priorité était l'erreur moyenne, Lasso serait tout aussi défendable.
Cette victoire est fragile. La plus grosse erreur du test est une Porsche à 88 000 $. Si on retire ce seul véhicule, Lasso obtient le meilleur RMSE. Et sur deux découpages antérieurs, la MAE d'ElasticNetCV valait 1 776 et 1 821 $ : un écart du même ordre que celui avec Lasso. Comme le test a servi au choix, son score est aussi peut-être optimiste.
Le pipeline retenu est utilisé par l'API FastAPI et l'interface Streamlit.
Sources : 03_mlflow_experimentations_final.ipynb, cellules 15 à 17 ; 02_modelisation.ipynb, cellule 130 ; run final_elasticnetcv afcb3c543fd24547a025a4188d646159 ; test sans la Porsche recalculé (annexe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1:15 — cumul 13:30]
Voici où le modèle retenu se trompe, sur les 350 véhicules du test. J'ai rechargé le fichier sauvegardé : ses métriques sont identiques à MLflow.
Sur le nuage, chaque point est un véhicule ; une prédiction parfaite serait sur la diagonale grise. Entre 10 000 et 40 000 $, soit 340 véhicules, la MAE est de 1 546 $. Au-delà de 40 000 $, seulement six véhicules, elle monte à 14 991 $, et ils sont tous sous-estimés.
Le graphique de droite donne la raison principale. Quand le modèle du véhicule a été vu au moins cinq fois, la MAE est de 1 492 $. Quand il n'a jamais été vu, elle atteint 7 011 $. Dans ce cas, l'encodage ignore la marque et le modèle : la prédiction repose seulement sur l'année, le kilométrage, la carrosserie et les autres caractéristiques. C'est ce qui arrive à la Porsche, prédite à 31 464 $ au lieu de 87 995 $.
Sources : réexécution avec models/best_model.joblib, data/interim/vehicles_clean.csv, random_state = 42, scikit-learn 1.7.2. Vérification : la prédiction de la Porsche passe de 28 445 $ (année 2018) à 37 501 $ (année 2024), donc les autres caractéristiques sont bien utilisées.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prévue : 1:00 — cumul 14:30, marge de 30 s]
Quatre apprentissages. D'abord, toujours partir d'une référence : sans le Dummy, on ne saurait pas si 1 800 $ d'erreur moyenne est un bon résultat. Ensuite, plus complexe n'est pas forcément meilleur : l'arbre sans contrainte surapprend, et les ensembles ne gagnent pas au test. Troisièmement, un petit écart n'est pas une victoire : le meilleur modèle dépend de la métrique, et un seul véhicule peut inverser le classement. Enfin, il faut vérifier le calcul autant que le modèle : un solveur arrêté trop tôt avait sous-estimé la régression linéaire.
Pour aller plus loin : garder un test réservé à l'évaluation finale, rejouer la régression linéaire exacte dans le notebook, regrouper les modèles rares et collecter plus de véhicules chers.
Merci, je suis disponible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pour les questions. Valeurs lues dans le code et les sorties de 02_modelisation.ipynb et 03_mlflow_experimentations_final.ipynb. Remarque : le markdown cellule 87 du notebook 02 indique l1_ratio = 0,1, mais la sortie de la cellule 84 et MLflow donnent 0,5 ; la valeur retenue ici est 0,5. ElasticNetCV utilise par défaut l'erreur quadratique pour choisir α, RidgeCV utilise ici scoring='r2'.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pli 1 est difficile pour tous les modèles linéaires (≈ 0,56). Il contient le véhicule le plus cher du jeu (Sierra 2500 HD à 119 900 $) — hypothèse non vérifiée : ce cas extrême pèse sur le R² du pli. XGBoost y résiste mieux (0,756). Les R² d'entraînement montrent que tous les finalistes ont un écart train/test de 0,16 à 0,24 : surapprentissage modéré. La LinReg officielle a un R² train plus faible que les modèles pénalisés, ce qui révèle le défaut de convergence du solveur creux (une vraie solution des moindres carrés a le R² train maximal).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paramètres journalisés : test_size=0.2, random_state_split=42, dataset_rows=1748, plus les paramètres propres au modèle (alphas, l1_ratio, cv_interne, max_iter, selected_alpha, selected_l1_ratio, n_estimators, learning_rate, max_depth, objective). Les horodatages de mlflow.db sont en UTC : les runs actifs datent du 14 octobre à 17 h, heure de Toronto, après la correction de l'ordre des lignes dans le notebook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ces vérifications utilisent data/interim/vehicles_clean.csv, train_test_split(test_size=0.2, random_state=42), scikit-learn 1.7.2 et xgboost 3.4.1 (versions de requirements.txt). Elles ne sont journalisées ni dans le notebook ni dans MLflow. Code pour rejouer la régression exacte : LinearRegression().fit(preprocessor.fit_transform(X_train).toarray(), y_train), ou le pipeline avec preprocessor_scaled. La documentation scikit-learn indique que LinearRegression utilise scipy.sparse.linalg.lsqr quand X est creuse.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techniques n'ont pas été testées ; leur intérêt est discuté de façon théorique pour répondre aux questions. Le cours 12 cite comme remèdes à l'overfitting la validation croisée, la sélection de prédicteurs, la régularisation (Lasso, Ridge, ElasticNet), l'élagage et les méthodes d'ensemble. Remarque : les cours 022 et 032 présentent le R² entre 0 et 1 ; sur un jeu de test, le r2_score de scikit-learn peut être négatif (cas du Dummy, −0,018).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7665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337560"/>
            <a:ext cx="6583680" cy="100584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TP Techniques d'apprentissage · Prédiction du prix des véhicules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SOMBR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766560" cy="1828800"/>
          </a:xfrm>
          <a:prstGeom prst="rect">
            <a:avLst/>
          </a:prstGeom>
          <a:noFill/>
          <a:ln/>
        </p:spPr>
        <p:txBody>
          <a:bodyPr wrap="square" lIns="0" tIns="0" rIns="0" bIns="0" rtlCol="0" anchor="t"/>
          <a:lstStyle/>
          <a:p>
            <a:pPr algn="l" indent="0" marL="0">
              <a:buNone/>
            </a:pPr>
            <a:r>
              <a:rPr lang="en-US" sz="4000" b="1" dirty="0">
                <a:solidFill>
                  <a:schemeClr val="bg1"/>
                </a:solidFill>
              </a:rPr>
              <a:t>Prédire le prix d'un véhicule d'occasion</a:t>
            </a:r>
            <a:endParaRPr lang="en-US" sz="4000" dirty="0"/>
          </a:p>
        </p:txBody>
      </p:sp>
      <p:sp>
        <p:nvSpPr>
          <p:cNvPr id="3" name="Text 0"/>
          <p:cNvSpPr/>
          <p:nvPr>
            <p:ph idx="101" type="body" hasCustomPrompt="1"/>
          </p:nvPr>
        </p:nvSpPr>
        <p:spPr>
          <a:xfrm>
            <a:off x="640080" y="3337560"/>
            <a:ext cx="6583680" cy="1005840"/>
          </a:xfrm>
          <a:prstGeom prst="rect">
            <a:avLst/>
          </a:prstGeom>
          <a:noFill/>
          <a:ln/>
        </p:spPr>
        <p:txBody>
          <a:bodyPr wrap="square" lIns="0" tIns="0" rIns="0" bIns="0" rtlCol="0" anchor="t"/>
          <a:lstStyle/>
          <a:p>
            <a:pPr indent="0" marL="0">
              <a:buNone/>
            </a:pPr>
            <a:r>
              <a:rPr lang="en-US" sz="1800" dirty="0">
                <a:solidFill>
                  <a:schemeClr val="accent3"/>
                </a:solidFill>
              </a:rPr>
              <a:t>Comparer plusieurs techniques d'apprentissage et choisir celle qui prédit le mieux sur de nouvelles données</a:t>
            </a:r>
            <a:endParaRPr lang="en-US" sz="1800" dirty="0"/>
          </a:p>
        </p:txBody>
      </p:sp>
      <p:sp>
        <p:nvSpPr>
          <p:cNvPr id="4" name="texte_1"/>
          <p:cNvSpPr txBox="1"/>
          <p:nvPr/>
        </p:nvSpPr>
        <p:spPr>
          <a:xfrm>
            <a:off x="640080" y="5989320"/>
            <a:ext cx="6858000" cy="320040"/>
          </a:xfrm>
          <a:prstGeom prst="rect">
            <a:avLst/>
          </a:prstGeom>
          <a:noFill/>
          <a:ln/>
        </p:spPr>
        <p:txBody>
          <a:bodyPr wrap="square" lIns="0" tIns="0" rIns="0" bIns="0" rtlCol="0" anchor="t"/>
          <a:lstStyle/>
          <a:p>
            <a:pPr indent="0" marL="0">
              <a:buNone/>
            </a:pPr>
            <a:r>
              <a:rPr lang="en-US" sz="1300" dirty="0">
                <a:solidFill>
                  <a:schemeClr val="accent3"/>
                </a:solidFill>
              </a:rPr>
              <a:t>Issam Lemterif  ·  TP Techniques d'apprentissage  ·  octobre 2026</a:t>
            </a:r>
            <a:endParaRPr lang="en-US" sz="1300" dirty="0"/>
          </a:p>
        </p:txBody>
      </p:sp>
      <p:sp>
        <p:nvSpPr>
          <p:cNvPr id="5" name="stat_2"/>
          <p:cNvSpPr/>
          <p:nvPr/>
        </p:nvSpPr>
        <p:spPr>
          <a:xfrm>
            <a:off x="8001000" y="1417320"/>
            <a:ext cx="3566160" cy="1234440"/>
          </a:xfrm>
          <a:prstGeom prst="roundRect">
            <a:avLst>
              <a:gd name="adj" fmla="val 5926"/>
            </a:avLst>
          </a:prstGeom>
          <a:solidFill>
            <a:schemeClr val="tx2"/>
          </a:solidFill>
          <a:ln w="12700">
            <a:solidFill>
              <a:schemeClr val="tx2"/>
            </a:solidFill>
            <a:prstDash val="solid"/>
          </a:ln>
        </p:spPr>
      </p:sp>
      <p:sp>
        <p:nvSpPr>
          <p:cNvPr id="6" name="texte_3"/>
          <p:cNvSpPr txBox="1"/>
          <p:nvPr/>
        </p:nvSpPr>
        <p:spPr>
          <a:xfrm>
            <a:off x="8229600" y="1554480"/>
            <a:ext cx="3200400" cy="548640"/>
          </a:xfrm>
          <a:prstGeom prst="rect">
            <a:avLst/>
          </a:prstGeom>
          <a:noFill/>
          <a:ln/>
        </p:spPr>
        <p:txBody>
          <a:bodyPr wrap="square" lIns="0" tIns="0" rIns="0" bIns="0" rtlCol="0" anchor="t"/>
          <a:lstStyle/>
          <a:p>
            <a:pPr indent="0" marL="0">
              <a:buNone/>
            </a:pPr>
            <a:r>
              <a:rPr lang="en-US" sz="3000" b="1" dirty="0">
                <a:solidFill>
                  <a:schemeClr val="bg1"/>
                </a:solidFill>
              </a:rPr>
              <a:t>1 748</a:t>
            </a:r>
            <a:endParaRPr lang="en-US" sz="3000" dirty="0"/>
          </a:p>
        </p:txBody>
      </p:sp>
      <p:sp>
        <p:nvSpPr>
          <p:cNvPr id="7" name="texte_4"/>
          <p:cNvSpPr txBox="1"/>
          <p:nvPr/>
        </p:nvSpPr>
        <p:spPr>
          <a:xfrm>
            <a:off x="8229600" y="2130552"/>
            <a:ext cx="3200400" cy="411480"/>
          </a:xfrm>
          <a:prstGeom prst="rect">
            <a:avLst/>
          </a:prstGeom>
          <a:noFill/>
          <a:ln/>
        </p:spPr>
        <p:txBody>
          <a:bodyPr wrap="square" lIns="0" tIns="0" rIns="0" bIns="0" rtlCol="0" anchor="t"/>
          <a:lstStyle/>
          <a:p>
            <a:pPr indent="0" marL="0">
              <a:buNone/>
            </a:pPr>
            <a:r>
              <a:rPr lang="en-US" sz="1200" dirty="0">
                <a:solidFill>
                  <a:schemeClr val="accent3"/>
                </a:solidFill>
              </a:rPr>
              <a:t>véhicules d'un concessionnaire (après dédoublonnage)</a:t>
            </a:r>
            <a:endParaRPr lang="en-US" sz="1200" dirty="0"/>
          </a:p>
        </p:txBody>
      </p:sp>
      <p:sp>
        <p:nvSpPr>
          <p:cNvPr id="8" name="stat_5"/>
          <p:cNvSpPr/>
          <p:nvPr/>
        </p:nvSpPr>
        <p:spPr>
          <a:xfrm>
            <a:off x="8001000" y="2880360"/>
            <a:ext cx="3566160" cy="1234440"/>
          </a:xfrm>
          <a:prstGeom prst="roundRect">
            <a:avLst>
              <a:gd name="adj" fmla="val 5926"/>
            </a:avLst>
          </a:prstGeom>
          <a:solidFill>
            <a:schemeClr val="tx2"/>
          </a:solidFill>
          <a:ln w="12700">
            <a:solidFill>
              <a:schemeClr val="tx2"/>
            </a:solidFill>
            <a:prstDash val="solid"/>
          </a:ln>
        </p:spPr>
      </p:sp>
      <p:sp>
        <p:nvSpPr>
          <p:cNvPr id="9" name="texte_6"/>
          <p:cNvSpPr txBox="1"/>
          <p:nvPr/>
        </p:nvSpPr>
        <p:spPr>
          <a:xfrm>
            <a:off x="8229600" y="3017520"/>
            <a:ext cx="3200400" cy="548640"/>
          </a:xfrm>
          <a:prstGeom prst="rect">
            <a:avLst/>
          </a:prstGeom>
          <a:noFill/>
          <a:ln/>
        </p:spPr>
        <p:txBody>
          <a:bodyPr wrap="square" lIns="0" tIns="0" rIns="0" bIns="0" rtlCol="0" anchor="t"/>
          <a:lstStyle/>
          <a:p>
            <a:pPr indent="0" marL="0">
              <a:buNone/>
            </a:pPr>
            <a:r>
              <a:rPr lang="en-US" sz="3000" b="1" dirty="0">
                <a:solidFill>
                  <a:schemeClr val="bg1"/>
                </a:solidFill>
              </a:rPr>
              <a:t>11</a:t>
            </a:r>
            <a:endParaRPr lang="en-US" sz="3000" dirty="0"/>
          </a:p>
        </p:txBody>
      </p:sp>
      <p:sp>
        <p:nvSpPr>
          <p:cNvPr id="10" name="texte_7"/>
          <p:cNvSpPr txBox="1"/>
          <p:nvPr/>
        </p:nvSpPr>
        <p:spPr>
          <a:xfrm>
            <a:off x="8229600" y="3593592"/>
            <a:ext cx="3200400" cy="411480"/>
          </a:xfrm>
          <a:prstGeom prst="rect">
            <a:avLst/>
          </a:prstGeom>
          <a:noFill/>
          <a:ln/>
        </p:spPr>
        <p:txBody>
          <a:bodyPr wrap="square" lIns="0" tIns="0" rIns="0" bIns="0" rtlCol="0" anchor="t"/>
          <a:lstStyle/>
          <a:p>
            <a:pPr indent="0" marL="0">
              <a:buNone/>
            </a:pPr>
            <a:r>
              <a:rPr lang="en-US" sz="1200" dirty="0">
                <a:solidFill>
                  <a:schemeClr val="accent3"/>
                </a:solidFill>
              </a:rPr>
              <a:t>variables explicatives : 4 numériques, 7 catégorielles</a:t>
            </a:r>
            <a:endParaRPr lang="en-US" sz="1200" dirty="0"/>
          </a:p>
        </p:txBody>
      </p:sp>
      <p:sp>
        <p:nvSpPr>
          <p:cNvPr id="11" name="stat_8"/>
          <p:cNvSpPr/>
          <p:nvPr/>
        </p:nvSpPr>
        <p:spPr>
          <a:xfrm>
            <a:off x="8001000" y="4343400"/>
            <a:ext cx="3566160" cy="1234440"/>
          </a:xfrm>
          <a:prstGeom prst="roundRect">
            <a:avLst>
              <a:gd name="adj" fmla="val 5926"/>
            </a:avLst>
          </a:prstGeom>
          <a:solidFill>
            <a:schemeClr val="tx2"/>
          </a:solidFill>
          <a:ln w="12700">
            <a:solidFill>
              <a:schemeClr val="tx2"/>
            </a:solidFill>
            <a:prstDash val="solid"/>
          </a:ln>
        </p:spPr>
      </p:sp>
      <p:sp>
        <p:nvSpPr>
          <p:cNvPr id="12" name="texte_9"/>
          <p:cNvSpPr txBox="1"/>
          <p:nvPr/>
        </p:nvSpPr>
        <p:spPr>
          <a:xfrm>
            <a:off x="8229600" y="4480560"/>
            <a:ext cx="3200400" cy="548640"/>
          </a:xfrm>
          <a:prstGeom prst="rect">
            <a:avLst/>
          </a:prstGeom>
          <a:noFill/>
          <a:ln/>
        </p:spPr>
        <p:txBody>
          <a:bodyPr wrap="square" lIns="0" tIns="0" rIns="0" bIns="0" rtlCol="0" anchor="t"/>
          <a:lstStyle/>
          <a:p>
            <a:pPr indent="0" marL="0">
              <a:buNone/>
            </a:pPr>
            <a:r>
              <a:rPr lang="en-US" sz="3000" b="1" dirty="0">
                <a:solidFill>
                  <a:schemeClr val="accent1"/>
                </a:solidFill>
              </a:rPr>
              <a:t>PRICE ($)</a:t>
            </a:r>
            <a:endParaRPr lang="en-US" sz="3000" dirty="0"/>
          </a:p>
        </p:txBody>
      </p:sp>
      <p:sp>
        <p:nvSpPr>
          <p:cNvPr id="13" name="texte_10"/>
          <p:cNvSpPr txBox="1"/>
          <p:nvPr/>
        </p:nvSpPr>
        <p:spPr>
          <a:xfrm>
            <a:off x="8229600" y="5056632"/>
            <a:ext cx="3200400" cy="411480"/>
          </a:xfrm>
          <a:prstGeom prst="rect">
            <a:avLst/>
          </a:prstGeom>
          <a:noFill/>
          <a:ln/>
        </p:spPr>
        <p:txBody>
          <a:bodyPr wrap="square" lIns="0" tIns="0" rIns="0" bIns="0" rtlCol="0" anchor="t"/>
          <a:lstStyle/>
          <a:p>
            <a:pPr indent="0" marL="0">
              <a:buNone/>
            </a:pPr>
            <a:r>
              <a:rPr lang="en-US" sz="1200" dirty="0">
                <a:solidFill>
                  <a:schemeClr val="accent3"/>
                </a:solidFill>
              </a:rPr>
              <a:t>cible continue → problème de régression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01 · LES DONNÉES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Trois constats sur les données ont guidé le choix des modèles</a:t>
            </a:r>
            <a:endParaRPr lang="en-US" sz="2800" dirty="0"/>
          </a:p>
        </p:txBody>
      </p:sp>
      <p:graphicFrame>
        <p:nvGraphicFramePr>
          <p:cNvPr id="4" name="graphique_distribution_prix" descr=""/>
          <p:cNvGraphicFramePr/>
          <p:nvPr/>
        </p:nvGraphicFramePr>
        <p:xfrm>
          <a:off x="548640" y="164592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carte_11"/>
          <p:cNvSpPr/>
          <p:nvPr/>
        </p:nvSpPr>
        <p:spPr>
          <a:xfrm>
            <a:off x="6903720" y="1645920"/>
            <a:ext cx="4754880" cy="1371600"/>
          </a:xfrm>
          <a:prstGeom prst="roundRect">
            <a:avLst>
              <a:gd name="adj" fmla="val 5333"/>
            </a:avLst>
          </a:prstGeom>
          <a:solidFill>
            <a:schemeClr val="bg2"/>
          </a:solidFill>
          <a:ln w="12700">
            <a:solidFill>
              <a:schemeClr val="bg2"/>
            </a:solidFill>
            <a:prstDash val="solid"/>
          </a:ln>
        </p:spPr>
      </p:sp>
      <p:sp>
        <p:nvSpPr>
          <p:cNvPr id="6" name="texte_12"/>
          <p:cNvSpPr txBox="1"/>
          <p:nvPr/>
        </p:nvSpPr>
        <p:spPr>
          <a:xfrm>
            <a:off x="7132320" y="1764792"/>
            <a:ext cx="4389120" cy="320040"/>
          </a:xfrm>
          <a:prstGeom prst="rect">
            <a:avLst/>
          </a:prstGeom>
          <a:noFill/>
          <a:ln/>
        </p:spPr>
        <p:txBody>
          <a:bodyPr wrap="square" lIns="0" tIns="0" rIns="0" bIns="0" rtlCol="0" anchor="t"/>
          <a:lstStyle/>
          <a:p>
            <a:pPr indent="0" marL="0">
              <a:buNone/>
            </a:pPr>
            <a:r>
              <a:rPr lang="en-US" sz="1500" b="1" dirty="0">
                <a:solidFill>
                  <a:schemeClr val="tx1"/>
                </a:solidFill>
              </a:rPr>
              <a:t>La plupart des prix entre 15 et 35 k$</a:t>
            </a:r>
            <a:endParaRPr lang="en-US" sz="1500" dirty="0"/>
          </a:p>
        </p:txBody>
      </p:sp>
      <p:sp>
        <p:nvSpPr>
          <p:cNvPr id="7" name="texte_13"/>
          <p:cNvSpPr txBox="1"/>
          <p:nvPr/>
        </p:nvSpPr>
        <p:spPr>
          <a:xfrm>
            <a:off x="7132320" y="2103120"/>
            <a:ext cx="4389120" cy="457200"/>
          </a:xfrm>
          <a:prstGeom prst="rect">
            <a:avLst/>
          </a:prstGeom>
          <a:noFill/>
          <a:ln/>
        </p:spPr>
        <p:txBody>
          <a:bodyPr wrap="square" lIns="0" tIns="0" rIns="0" bIns="0" rtlCol="0" anchor="t"/>
          <a:lstStyle/>
          <a:p>
            <a:pPr indent="0" marL="0">
              <a:buNone/>
            </a:pPr>
            <a:r>
              <a:rPr lang="en-US" sz="1300" dirty="0">
                <a:solidFill>
                  <a:schemeClr val="tx2"/>
                </a:solidFill>
              </a:rPr>
              <a:t>Quelques véhicules très chers (jusqu'à 119 900 $) ont été conservés.</a:t>
            </a:r>
            <a:endParaRPr lang="en-US" sz="1300" dirty="0"/>
          </a:p>
        </p:txBody>
      </p:sp>
      <p:sp>
        <p:nvSpPr>
          <p:cNvPr id="8" name="texte_14"/>
          <p:cNvSpPr txBox="1"/>
          <p:nvPr/>
        </p:nvSpPr>
        <p:spPr>
          <a:xfrm>
            <a:off x="7132320" y="2587752"/>
            <a:ext cx="4389120" cy="320040"/>
          </a:xfrm>
          <a:prstGeom prst="rect">
            <a:avLst/>
          </a:prstGeom>
          <a:noFill/>
          <a:ln/>
        </p:spPr>
        <p:txBody>
          <a:bodyPr wrap="square" lIns="0" tIns="0" rIns="0" bIns="0" rtlCol="0" anchor="t"/>
          <a:lstStyle/>
          <a:p>
            <a:pPr indent="0" marL="0">
              <a:buNone/>
            </a:pPr>
            <a:r>
              <a:rPr lang="en-US" sz="1300" b="1" dirty="0">
                <a:solidFill>
                  <a:schemeClr val="accent2"/>
                </a:solidFill>
              </a:rPr>
              <a:t>→ ils pèseront lourd dans les grosses erreurs</a:t>
            </a:r>
            <a:endParaRPr lang="en-US" sz="1300" dirty="0"/>
          </a:p>
        </p:txBody>
      </p:sp>
      <p:sp>
        <p:nvSpPr>
          <p:cNvPr id="9" name="carte_15"/>
          <p:cNvSpPr/>
          <p:nvPr/>
        </p:nvSpPr>
        <p:spPr>
          <a:xfrm>
            <a:off x="6903720" y="3163824"/>
            <a:ext cx="4754880" cy="1371600"/>
          </a:xfrm>
          <a:prstGeom prst="roundRect">
            <a:avLst>
              <a:gd name="adj" fmla="val 5333"/>
            </a:avLst>
          </a:prstGeom>
          <a:solidFill>
            <a:schemeClr val="bg2"/>
          </a:solidFill>
          <a:ln w="12700">
            <a:solidFill>
              <a:schemeClr val="bg2"/>
            </a:solidFill>
            <a:prstDash val="solid"/>
          </a:ln>
        </p:spPr>
      </p:sp>
      <p:sp>
        <p:nvSpPr>
          <p:cNvPr id="10" name="texte_16"/>
          <p:cNvSpPr txBox="1"/>
          <p:nvPr/>
        </p:nvSpPr>
        <p:spPr>
          <a:xfrm>
            <a:off x="7132320" y="3282696"/>
            <a:ext cx="4389120" cy="320040"/>
          </a:xfrm>
          <a:prstGeom prst="rect">
            <a:avLst/>
          </a:prstGeom>
          <a:noFill/>
          <a:ln/>
        </p:spPr>
        <p:txBody>
          <a:bodyPr wrap="square" lIns="0" tIns="0" rIns="0" bIns="0" rtlCol="0" anchor="t"/>
          <a:lstStyle/>
          <a:p>
            <a:pPr indent="0" marL="0">
              <a:buNone/>
            </a:pPr>
            <a:r>
              <a:rPr lang="en-US" sz="1500" b="1" dirty="0">
                <a:solidFill>
                  <a:schemeClr val="tx1"/>
                </a:solidFill>
              </a:rPr>
              <a:t>Âge et kilométrage comptent, mais pas seuls</a:t>
            </a:r>
            <a:endParaRPr lang="en-US" sz="1500" dirty="0"/>
          </a:p>
        </p:txBody>
      </p:sp>
      <p:sp>
        <p:nvSpPr>
          <p:cNvPr id="11" name="texte_17"/>
          <p:cNvSpPr txBox="1"/>
          <p:nvPr/>
        </p:nvSpPr>
        <p:spPr>
          <a:xfrm>
            <a:off x="7132320" y="3621024"/>
            <a:ext cx="4389120" cy="457200"/>
          </a:xfrm>
          <a:prstGeom prst="rect">
            <a:avLst/>
          </a:prstGeom>
          <a:noFill/>
          <a:ln/>
        </p:spPr>
        <p:txBody>
          <a:bodyPr wrap="square" lIns="0" tIns="0" rIns="0" bIns="0" rtlCol="0" anchor="t"/>
          <a:lstStyle/>
          <a:p>
            <a:pPr indent="0" marL="0">
              <a:buNone/>
            </a:pPr>
            <a:r>
              <a:rPr lang="en-US" sz="1300" dirty="0">
                <a:solidFill>
                  <a:schemeClr val="tx2"/>
                </a:solidFill>
              </a:rPr>
              <a:t>Plus récent = plus cher ; plus de km = moins cher. Mais avec beaucoup d'exceptions.</a:t>
            </a:r>
            <a:endParaRPr lang="en-US" sz="1300" dirty="0"/>
          </a:p>
        </p:txBody>
      </p:sp>
      <p:sp>
        <p:nvSpPr>
          <p:cNvPr id="12" name="texte_18"/>
          <p:cNvSpPr txBox="1"/>
          <p:nvPr/>
        </p:nvSpPr>
        <p:spPr>
          <a:xfrm>
            <a:off x="7132320" y="4105656"/>
            <a:ext cx="4389120" cy="320040"/>
          </a:xfrm>
          <a:prstGeom prst="rect">
            <a:avLst/>
          </a:prstGeom>
          <a:noFill/>
          <a:ln/>
        </p:spPr>
        <p:txBody>
          <a:bodyPr wrap="square" lIns="0" tIns="0" rIns="0" bIns="0" rtlCol="0" anchor="t"/>
          <a:lstStyle/>
          <a:p>
            <a:pPr indent="0" marL="0">
              <a:buNone/>
            </a:pPr>
            <a:r>
              <a:rPr lang="en-US" sz="1300" b="1" dirty="0">
                <a:solidFill>
                  <a:schemeClr val="accent2"/>
                </a:solidFill>
              </a:rPr>
              <a:t>→ il faut combiner toutes les caractéristiques</a:t>
            </a:r>
            <a:endParaRPr lang="en-US" sz="1300" dirty="0"/>
          </a:p>
        </p:txBody>
      </p:sp>
      <p:sp>
        <p:nvSpPr>
          <p:cNvPr id="13" name="carte_19"/>
          <p:cNvSpPr/>
          <p:nvPr/>
        </p:nvSpPr>
        <p:spPr>
          <a:xfrm>
            <a:off x="6903720" y="4681728"/>
            <a:ext cx="4754880" cy="1371600"/>
          </a:xfrm>
          <a:prstGeom prst="roundRect">
            <a:avLst>
              <a:gd name="adj" fmla="val 5333"/>
            </a:avLst>
          </a:prstGeom>
          <a:solidFill>
            <a:schemeClr val="bg2"/>
          </a:solidFill>
          <a:ln w="12700">
            <a:solidFill>
              <a:schemeClr val="bg2"/>
            </a:solidFill>
            <a:prstDash val="solid"/>
          </a:ln>
        </p:spPr>
      </p:sp>
      <p:sp>
        <p:nvSpPr>
          <p:cNvPr id="14" name="texte_20"/>
          <p:cNvSpPr txBox="1"/>
          <p:nvPr/>
        </p:nvSpPr>
        <p:spPr>
          <a:xfrm>
            <a:off x="7132320" y="4800600"/>
            <a:ext cx="4389120" cy="320040"/>
          </a:xfrm>
          <a:prstGeom prst="rect">
            <a:avLst/>
          </a:prstGeom>
          <a:noFill/>
          <a:ln/>
        </p:spPr>
        <p:txBody>
          <a:bodyPr wrap="square" lIns="0" tIns="0" rIns="0" bIns="0" rtlCol="0" anchor="t"/>
          <a:lstStyle/>
          <a:p>
            <a:pPr indent="0" marL="0">
              <a:buNone/>
            </a:pPr>
            <a:r>
              <a:rPr lang="en-US" sz="1500" b="1" dirty="0">
                <a:solidFill>
                  <a:schemeClr val="tx1"/>
                </a:solidFill>
              </a:rPr>
              <a:t>Beaucoup de modèles différents</a:t>
            </a:r>
            <a:endParaRPr lang="en-US" sz="1500" dirty="0"/>
          </a:p>
        </p:txBody>
      </p:sp>
      <p:sp>
        <p:nvSpPr>
          <p:cNvPr id="15" name="texte_21"/>
          <p:cNvSpPr txBox="1"/>
          <p:nvPr/>
        </p:nvSpPr>
        <p:spPr>
          <a:xfrm>
            <a:off x="7132320" y="5138928"/>
            <a:ext cx="4389120" cy="457200"/>
          </a:xfrm>
          <a:prstGeom prst="rect">
            <a:avLst/>
          </a:prstGeom>
          <a:noFill/>
          <a:ln/>
        </p:spPr>
        <p:txBody>
          <a:bodyPr wrap="square" lIns="0" tIns="0" rIns="0" bIns="0" rtlCol="0" anchor="t"/>
          <a:lstStyle/>
          <a:p>
            <a:pPr indent="0" marL="0">
              <a:buNone/>
            </a:pPr>
            <a:r>
              <a:rPr lang="en-US" sz="1300" dirty="0">
                <a:solidFill>
                  <a:schemeClr val="tx2"/>
                </a:solidFill>
              </a:rPr>
              <a:t>222 modèles, dont 147 vus 5 fois ou moins.</a:t>
            </a:r>
            <a:endParaRPr lang="en-US" sz="1300" dirty="0"/>
          </a:p>
        </p:txBody>
      </p:sp>
      <p:sp>
        <p:nvSpPr>
          <p:cNvPr id="16" name="texte_22"/>
          <p:cNvSpPr txBox="1"/>
          <p:nvPr/>
        </p:nvSpPr>
        <p:spPr>
          <a:xfrm>
            <a:off x="7132320" y="5623560"/>
            <a:ext cx="4389120" cy="320040"/>
          </a:xfrm>
          <a:prstGeom prst="rect">
            <a:avLst/>
          </a:prstGeom>
          <a:noFill/>
          <a:ln/>
        </p:spPr>
        <p:txBody>
          <a:bodyPr wrap="square" lIns="0" tIns="0" rIns="0" bIns="0" rtlCol="0" anchor="t"/>
          <a:lstStyle/>
          <a:p>
            <a:pPr indent="0" marL="0">
              <a:buNone/>
            </a:pPr>
            <a:r>
              <a:rPr lang="en-US" sz="1300" b="1" dirty="0">
                <a:solidFill>
                  <a:schemeClr val="accent2"/>
                </a:solidFill>
              </a:rPr>
              <a:t>→ peu d'exemples par modèle : risque d'overfitting</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02 · PRÉPARATION</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Préparer les données sans jamais laisser le prix « fuiter » dans les entrées</a:t>
            </a:r>
            <a:endParaRPr lang="en-US" sz="2800" dirty="0"/>
          </a:p>
        </p:txBody>
      </p:sp>
      <p:sp>
        <p:nvSpPr>
          <p:cNvPr id="4" name="carte_23"/>
          <p:cNvSpPr/>
          <p:nvPr/>
        </p:nvSpPr>
        <p:spPr>
          <a:xfrm>
            <a:off x="548640" y="1691640"/>
            <a:ext cx="2103120" cy="2743200"/>
          </a:xfrm>
          <a:prstGeom prst="roundRect">
            <a:avLst>
              <a:gd name="adj" fmla="val 3478"/>
            </a:avLst>
          </a:prstGeom>
          <a:solidFill>
            <a:schemeClr val="bg2"/>
          </a:solidFill>
          <a:ln w="12700">
            <a:solidFill>
              <a:schemeClr val="bg2"/>
            </a:solidFill>
            <a:prstDash val="solid"/>
          </a:ln>
        </p:spPr>
      </p:sp>
      <p:sp>
        <p:nvSpPr>
          <p:cNvPr id="5" name="pastille_24"/>
          <p:cNvSpPr/>
          <p:nvPr/>
        </p:nvSpPr>
        <p:spPr>
          <a:xfrm>
            <a:off x="731520" y="1856232"/>
            <a:ext cx="384048" cy="384048"/>
          </a:xfrm>
          <a:prstGeom prst="ellipse">
            <a:avLst/>
          </a:prstGeom>
          <a:solidFill>
            <a:schemeClr val="tx2"/>
          </a:solidFill>
          <a:ln w="12700">
            <a:solidFill>
              <a:schemeClr val="tx2"/>
            </a:solidFill>
            <a:prstDash val="solid"/>
          </a:ln>
        </p:spPr>
      </p:sp>
      <p:sp>
        <p:nvSpPr>
          <p:cNvPr id="6" name="pastille_txt_25"/>
          <p:cNvSpPr txBox="1"/>
          <p:nvPr/>
        </p:nvSpPr>
        <p:spPr>
          <a:xfrm>
            <a:off x="73152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e_26"/>
          <p:cNvSpPr txBox="1"/>
          <p:nvPr/>
        </p:nvSpPr>
        <p:spPr>
          <a:xfrm>
            <a:off x="1207008" y="1892808"/>
            <a:ext cx="1325880" cy="320040"/>
          </a:xfrm>
          <a:prstGeom prst="rect">
            <a:avLst/>
          </a:prstGeom>
          <a:noFill/>
          <a:ln/>
        </p:spPr>
        <p:txBody>
          <a:bodyPr wrap="square" lIns="0" tIns="0" rIns="0" bIns="0" rtlCol="0" anchor="t"/>
          <a:lstStyle/>
          <a:p>
            <a:pPr indent="0" marL="0">
              <a:buNone/>
            </a:pPr>
            <a:r>
              <a:rPr lang="en-US" sz="1600" b="1" dirty="0">
                <a:solidFill>
                  <a:schemeClr val="tx1"/>
                </a:solidFill>
              </a:rPr>
              <a:t>Fusion</a:t>
            </a:r>
            <a:endParaRPr lang="en-US" sz="1600" dirty="0"/>
          </a:p>
        </p:txBody>
      </p:sp>
      <p:sp>
        <p:nvSpPr>
          <p:cNvPr id="8" name="texte_27"/>
          <p:cNvSpPr txBox="1"/>
          <p:nvPr/>
        </p:nvSpPr>
        <p:spPr>
          <a:xfrm>
            <a:off x="731520" y="2395728"/>
            <a:ext cx="1737360" cy="1417320"/>
          </a:xfrm>
          <a:prstGeom prst="rect">
            <a:avLst/>
          </a:prstGeom>
          <a:noFill/>
          <a:ln/>
        </p:spPr>
        <p:txBody>
          <a:bodyPr wrap="square" lIns="0" tIns="0" rIns="0" bIns="0" rtlCol="0" anchor="t"/>
          <a:lstStyle/>
          <a:p>
            <a:pPr indent="0" marL="0">
              <a:buNone/>
            </a:pPr>
            <a:r>
              <a:rPr lang="en-US" sz="1400" dirty="0">
                <a:solidFill>
                  <a:schemeClr val="tx2"/>
                </a:solidFill>
              </a:rPr>
              <a:t>Deux fichiers réunis, doublons retirés</a:t>
            </a:r>
            <a:endParaRPr lang="en-US" sz="1400" dirty="0"/>
          </a:p>
        </p:txBody>
      </p:sp>
      <p:sp>
        <p:nvSpPr>
          <p:cNvPr id="9" name="texte_28"/>
          <p:cNvSpPr txBox="1"/>
          <p:nvPr/>
        </p:nvSpPr>
        <p:spPr>
          <a:xfrm>
            <a:off x="731520" y="3931920"/>
            <a:ext cx="1737360" cy="365760"/>
          </a:xfrm>
          <a:prstGeom prst="rect">
            <a:avLst/>
          </a:prstGeom>
          <a:noFill/>
          <a:ln/>
        </p:spPr>
        <p:txBody>
          <a:bodyPr wrap="square" lIns="0" tIns="0" rIns="0" bIns="0" rtlCol="0" anchor="t"/>
          <a:lstStyle/>
          <a:p>
            <a:pPr indent="0" marL="0">
              <a:buNone/>
            </a:pPr>
            <a:r>
              <a:rPr lang="en-US" sz="1300" b="1" dirty="0">
                <a:solidFill>
                  <a:schemeClr val="accent2"/>
                </a:solidFill>
              </a:rPr>
              <a:t>1 748 véhicules</a:t>
            </a:r>
            <a:endParaRPr lang="en-US" sz="1300" dirty="0"/>
          </a:p>
        </p:txBody>
      </p:sp>
      <p:sp>
        <p:nvSpPr>
          <p:cNvPr id="10" name="carte_29"/>
          <p:cNvSpPr/>
          <p:nvPr/>
        </p:nvSpPr>
        <p:spPr>
          <a:xfrm>
            <a:off x="2788920" y="1691640"/>
            <a:ext cx="2103120" cy="2743200"/>
          </a:xfrm>
          <a:prstGeom prst="roundRect">
            <a:avLst>
              <a:gd name="adj" fmla="val 3478"/>
            </a:avLst>
          </a:prstGeom>
          <a:solidFill>
            <a:schemeClr val="bg2"/>
          </a:solidFill>
          <a:ln w="12700">
            <a:solidFill>
              <a:schemeClr val="bg2"/>
            </a:solidFill>
            <a:prstDash val="solid"/>
          </a:ln>
        </p:spPr>
      </p:sp>
      <p:sp>
        <p:nvSpPr>
          <p:cNvPr id="11" name="pastille_30"/>
          <p:cNvSpPr/>
          <p:nvPr/>
        </p:nvSpPr>
        <p:spPr>
          <a:xfrm>
            <a:off x="2971800" y="1856232"/>
            <a:ext cx="384048" cy="384048"/>
          </a:xfrm>
          <a:prstGeom prst="ellipse">
            <a:avLst/>
          </a:prstGeom>
          <a:solidFill>
            <a:schemeClr val="tx2"/>
          </a:solidFill>
          <a:ln w="12700">
            <a:solidFill>
              <a:schemeClr val="tx2"/>
            </a:solidFill>
            <a:prstDash val="solid"/>
          </a:ln>
        </p:spPr>
      </p:sp>
      <p:sp>
        <p:nvSpPr>
          <p:cNvPr id="12" name="pastille_txt_31"/>
          <p:cNvSpPr txBox="1"/>
          <p:nvPr/>
        </p:nvSpPr>
        <p:spPr>
          <a:xfrm>
            <a:off x="297180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e_32"/>
          <p:cNvSpPr txBox="1"/>
          <p:nvPr/>
        </p:nvSpPr>
        <p:spPr>
          <a:xfrm>
            <a:off x="3447288" y="1892808"/>
            <a:ext cx="1325880" cy="320040"/>
          </a:xfrm>
          <a:prstGeom prst="rect">
            <a:avLst/>
          </a:prstGeom>
          <a:noFill/>
          <a:ln/>
        </p:spPr>
        <p:txBody>
          <a:bodyPr wrap="square" lIns="0" tIns="0" rIns="0" bIns="0" rtlCol="0" anchor="t"/>
          <a:lstStyle/>
          <a:p>
            <a:pPr indent="0" marL="0">
              <a:buNone/>
            </a:pPr>
            <a:r>
              <a:rPr lang="en-US" sz="1600" b="1" dirty="0">
                <a:solidFill>
                  <a:schemeClr val="tx1"/>
                </a:solidFill>
              </a:rPr>
              <a:t>Sélection</a:t>
            </a:r>
            <a:endParaRPr lang="en-US" sz="1600" dirty="0"/>
          </a:p>
        </p:txBody>
      </p:sp>
      <p:sp>
        <p:nvSpPr>
          <p:cNvPr id="14" name="texte_33"/>
          <p:cNvSpPr txBox="1"/>
          <p:nvPr/>
        </p:nvSpPr>
        <p:spPr>
          <a:xfrm>
            <a:off x="2971800" y="2395728"/>
            <a:ext cx="1737360" cy="1417320"/>
          </a:xfrm>
          <a:prstGeom prst="rect">
            <a:avLst/>
          </a:prstGeom>
          <a:noFill/>
          <a:ln/>
        </p:spPr>
        <p:txBody>
          <a:bodyPr wrap="square" lIns="0" tIns="0" rIns="0" bIns="0" rtlCol="0" anchor="t"/>
          <a:lstStyle/>
          <a:p>
            <a:pPr indent="0" marL="0">
              <a:buNone/>
            </a:pPr>
            <a:r>
              <a:rPr lang="en-US" sz="1400" dirty="0">
                <a:solidFill>
                  <a:schemeClr val="tx2"/>
                </a:solidFill>
              </a:rPr>
              <a:t>11 variables gardées sur 106. Les colonnes qui contiennent déjà le prix sont retirées</a:t>
            </a:r>
            <a:endParaRPr lang="en-US" sz="1400" dirty="0"/>
          </a:p>
        </p:txBody>
      </p:sp>
      <p:sp>
        <p:nvSpPr>
          <p:cNvPr id="15" name="texte_34"/>
          <p:cNvSpPr txBox="1"/>
          <p:nvPr/>
        </p:nvSpPr>
        <p:spPr>
          <a:xfrm>
            <a:off x="2971800" y="3931920"/>
            <a:ext cx="1737360" cy="365760"/>
          </a:xfrm>
          <a:prstGeom prst="rect">
            <a:avLst/>
          </a:prstGeom>
          <a:noFill/>
          <a:ln/>
        </p:spPr>
        <p:txBody>
          <a:bodyPr wrap="square" lIns="0" tIns="0" rIns="0" bIns="0" rtlCol="0" anchor="t"/>
          <a:lstStyle/>
          <a:p>
            <a:pPr indent="0" marL="0">
              <a:buNone/>
            </a:pPr>
            <a:r>
              <a:rPr lang="en-US" sz="1300" b="1" dirty="0">
                <a:solidFill>
                  <a:schemeClr val="accent2"/>
                </a:solidFill>
              </a:rPr>
              <a:t>pas de fuite de la cible</a:t>
            </a:r>
            <a:endParaRPr lang="en-US" sz="1300" dirty="0"/>
          </a:p>
        </p:txBody>
      </p:sp>
      <p:sp>
        <p:nvSpPr>
          <p:cNvPr id="16" name="carte_35"/>
          <p:cNvSpPr/>
          <p:nvPr/>
        </p:nvSpPr>
        <p:spPr>
          <a:xfrm>
            <a:off x="5029200" y="1691640"/>
            <a:ext cx="2103120" cy="2743200"/>
          </a:xfrm>
          <a:prstGeom prst="roundRect">
            <a:avLst>
              <a:gd name="adj" fmla="val 3478"/>
            </a:avLst>
          </a:prstGeom>
          <a:solidFill>
            <a:schemeClr val="bg2"/>
          </a:solidFill>
          <a:ln w="12700">
            <a:solidFill>
              <a:schemeClr val="bg2"/>
            </a:solidFill>
            <a:prstDash val="solid"/>
          </a:ln>
        </p:spPr>
      </p:sp>
      <p:sp>
        <p:nvSpPr>
          <p:cNvPr id="17" name="pastille_36"/>
          <p:cNvSpPr/>
          <p:nvPr/>
        </p:nvSpPr>
        <p:spPr>
          <a:xfrm>
            <a:off x="5212080" y="1856232"/>
            <a:ext cx="384048" cy="384048"/>
          </a:xfrm>
          <a:prstGeom prst="ellipse">
            <a:avLst/>
          </a:prstGeom>
          <a:solidFill>
            <a:schemeClr val="tx2"/>
          </a:solidFill>
          <a:ln w="12700">
            <a:solidFill>
              <a:schemeClr val="tx2"/>
            </a:solidFill>
            <a:prstDash val="solid"/>
          </a:ln>
        </p:spPr>
      </p:sp>
      <p:sp>
        <p:nvSpPr>
          <p:cNvPr id="18" name="pastille_txt_37"/>
          <p:cNvSpPr txBox="1"/>
          <p:nvPr/>
        </p:nvSpPr>
        <p:spPr>
          <a:xfrm>
            <a:off x="521208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e_38"/>
          <p:cNvSpPr txBox="1"/>
          <p:nvPr/>
        </p:nvSpPr>
        <p:spPr>
          <a:xfrm>
            <a:off x="5687568" y="1892808"/>
            <a:ext cx="1325880" cy="320040"/>
          </a:xfrm>
          <a:prstGeom prst="rect">
            <a:avLst/>
          </a:prstGeom>
          <a:noFill/>
          <a:ln/>
        </p:spPr>
        <p:txBody>
          <a:bodyPr wrap="square" lIns="0" tIns="0" rIns="0" bIns="0" rtlCol="0" anchor="t"/>
          <a:lstStyle/>
          <a:p>
            <a:pPr indent="0" marL="0">
              <a:buNone/>
            </a:pPr>
            <a:r>
              <a:rPr lang="en-US" sz="1600" b="1" dirty="0">
                <a:solidFill>
                  <a:schemeClr val="tx1"/>
                </a:solidFill>
              </a:rPr>
              <a:t>Nettoyage</a:t>
            </a:r>
            <a:endParaRPr lang="en-US" sz="1600" dirty="0"/>
          </a:p>
        </p:txBody>
      </p:sp>
      <p:sp>
        <p:nvSpPr>
          <p:cNvPr id="20" name="texte_39"/>
          <p:cNvSpPr txBox="1"/>
          <p:nvPr/>
        </p:nvSpPr>
        <p:spPr>
          <a:xfrm>
            <a:off x="5212080" y="2395728"/>
            <a:ext cx="1737360" cy="1417320"/>
          </a:xfrm>
          <a:prstGeom prst="rect">
            <a:avLst/>
          </a:prstGeom>
          <a:noFill/>
          <a:ln/>
        </p:spPr>
        <p:txBody>
          <a:bodyPr wrap="square" lIns="0" tIns="0" rIns="0" bIns="0" rtlCol="0" anchor="t"/>
          <a:lstStyle/>
          <a:p>
            <a:pPr indent="0" marL="0">
              <a:buNone/>
            </a:pPr>
            <a:r>
              <a:rPr lang="en-US" sz="1400" dirty="0">
                <a:solidFill>
                  <a:schemeClr val="tx2"/>
                </a:solidFill>
              </a:rPr>
              <a:t>Valeurs manquantes → « Inconnu » ; « 0 porte » → 4</a:t>
            </a:r>
            <a:endParaRPr lang="en-US" sz="1400" dirty="0"/>
          </a:p>
        </p:txBody>
      </p:sp>
      <p:sp>
        <p:nvSpPr>
          <p:cNvPr id="21" name="texte_40"/>
          <p:cNvSpPr txBox="1"/>
          <p:nvPr/>
        </p:nvSpPr>
        <p:spPr>
          <a:xfrm>
            <a:off x="5212080" y="3931920"/>
            <a:ext cx="1737360" cy="365760"/>
          </a:xfrm>
          <a:prstGeom prst="rect">
            <a:avLst/>
          </a:prstGeom>
          <a:noFill/>
          <a:ln/>
        </p:spPr>
        <p:txBody>
          <a:bodyPr wrap="square" lIns="0" tIns="0" rIns="0" bIns="0" rtlCol="0" anchor="t"/>
          <a:lstStyle/>
          <a:p>
            <a:pPr indent="0" marL="0">
              <a:buNone/>
            </a:pPr>
            <a:r>
              <a:rPr lang="en-US" sz="1300" b="1" dirty="0">
                <a:solidFill>
                  <a:schemeClr val="accent2"/>
                </a:solidFill>
              </a:rPr>
              <a:t>aucune ligne supprimée</a:t>
            </a:r>
            <a:endParaRPr lang="en-US" sz="1300" dirty="0"/>
          </a:p>
        </p:txBody>
      </p:sp>
      <p:sp>
        <p:nvSpPr>
          <p:cNvPr id="22" name="carte_41"/>
          <p:cNvSpPr/>
          <p:nvPr/>
        </p:nvSpPr>
        <p:spPr>
          <a:xfrm>
            <a:off x="7269480" y="1691640"/>
            <a:ext cx="2103120" cy="2743200"/>
          </a:xfrm>
          <a:prstGeom prst="roundRect">
            <a:avLst>
              <a:gd name="adj" fmla="val 3478"/>
            </a:avLst>
          </a:prstGeom>
          <a:solidFill>
            <a:schemeClr val="bg2"/>
          </a:solidFill>
          <a:ln w="12700">
            <a:solidFill>
              <a:schemeClr val="bg2"/>
            </a:solidFill>
            <a:prstDash val="solid"/>
          </a:ln>
        </p:spPr>
      </p:sp>
      <p:sp>
        <p:nvSpPr>
          <p:cNvPr id="23" name="pastille_42"/>
          <p:cNvSpPr/>
          <p:nvPr/>
        </p:nvSpPr>
        <p:spPr>
          <a:xfrm>
            <a:off x="7452360" y="1856232"/>
            <a:ext cx="384048" cy="384048"/>
          </a:xfrm>
          <a:prstGeom prst="ellipse">
            <a:avLst/>
          </a:prstGeom>
          <a:solidFill>
            <a:schemeClr val="accent2"/>
          </a:solidFill>
          <a:ln w="12700">
            <a:solidFill>
              <a:schemeClr val="accent2"/>
            </a:solidFill>
            <a:prstDash val="solid"/>
          </a:ln>
        </p:spPr>
      </p:sp>
      <p:sp>
        <p:nvSpPr>
          <p:cNvPr id="24" name="pastille_txt_43"/>
          <p:cNvSpPr txBox="1"/>
          <p:nvPr/>
        </p:nvSpPr>
        <p:spPr>
          <a:xfrm>
            <a:off x="745236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e_44"/>
          <p:cNvSpPr txBox="1"/>
          <p:nvPr/>
        </p:nvSpPr>
        <p:spPr>
          <a:xfrm>
            <a:off x="7927848" y="1892808"/>
            <a:ext cx="1325880" cy="320040"/>
          </a:xfrm>
          <a:prstGeom prst="rect">
            <a:avLst/>
          </a:prstGeom>
          <a:noFill/>
          <a:ln/>
        </p:spPr>
        <p:txBody>
          <a:bodyPr wrap="square" lIns="0" tIns="0" rIns="0" bIns="0" rtlCol="0" anchor="t"/>
          <a:lstStyle/>
          <a:p>
            <a:pPr indent="0" marL="0">
              <a:buNone/>
            </a:pPr>
            <a:r>
              <a:rPr lang="en-US" sz="1600" b="1" dirty="0">
                <a:solidFill>
                  <a:schemeClr val="tx1"/>
                </a:solidFill>
              </a:rPr>
              <a:t>Encodage</a:t>
            </a:r>
            <a:endParaRPr lang="en-US" sz="1600" dirty="0"/>
          </a:p>
        </p:txBody>
      </p:sp>
      <p:sp>
        <p:nvSpPr>
          <p:cNvPr id="26" name="texte_45"/>
          <p:cNvSpPr txBox="1"/>
          <p:nvPr/>
        </p:nvSpPr>
        <p:spPr>
          <a:xfrm>
            <a:off x="7452360" y="2395728"/>
            <a:ext cx="1737360" cy="1417320"/>
          </a:xfrm>
          <a:prstGeom prst="rect">
            <a:avLst/>
          </a:prstGeom>
          <a:noFill/>
          <a:ln/>
        </p:spPr>
        <p:txBody>
          <a:bodyPr wrap="square" lIns="0" tIns="0" rIns="0" bIns="0" rtlCol="0" anchor="t"/>
          <a:lstStyle/>
          <a:p>
            <a:pPr indent="0" marL="0">
              <a:buNone/>
            </a:pPr>
            <a:r>
              <a:rPr lang="en-US" sz="1400" dirty="0">
                <a:solidFill>
                  <a:schemeClr val="tx2"/>
                </a:solidFill>
              </a:rPr>
              <a:t>Chaque catégorie devient une colonne 0 / 1 (one-hot)</a:t>
            </a:r>
            <a:endParaRPr lang="en-US" sz="1400" dirty="0"/>
          </a:p>
        </p:txBody>
      </p:sp>
      <p:sp>
        <p:nvSpPr>
          <p:cNvPr id="27" name="texte_46"/>
          <p:cNvSpPr txBox="1"/>
          <p:nvPr/>
        </p:nvSpPr>
        <p:spPr>
          <a:xfrm>
            <a:off x="7452360" y="3931920"/>
            <a:ext cx="1737360" cy="365760"/>
          </a:xfrm>
          <a:prstGeom prst="rect">
            <a:avLst/>
          </a:prstGeom>
          <a:noFill/>
          <a:ln/>
        </p:spPr>
        <p:txBody>
          <a:bodyPr wrap="square" lIns="0" tIns="0" rIns="0" bIns="0" rtlCol="0" anchor="t"/>
          <a:lstStyle/>
          <a:p>
            <a:pPr indent="0" marL="0">
              <a:buNone/>
            </a:pPr>
            <a:r>
              <a:rPr lang="en-US" sz="1300" b="1" dirty="0">
                <a:solidFill>
                  <a:schemeClr val="accent2"/>
                </a:solidFill>
              </a:rPr>
              <a:t>288 colonnes</a:t>
            </a:r>
            <a:endParaRPr lang="en-US" sz="1300" dirty="0"/>
          </a:p>
        </p:txBody>
      </p:sp>
      <p:sp>
        <p:nvSpPr>
          <p:cNvPr id="28" name="carte_47"/>
          <p:cNvSpPr/>
          <p:nvPr/>
        </p:nvSpPr>
        <p:spPr>
          <a:xfrm>
            <a:off x="9509760" y="1691640"/>
            <a:ext cx="2103120" cy="2743200"/>
          </a:xfrm>
          <a:prstGeom prst="roundRect">
            <a:avLst>
              <a:gd name="adj" fmla="val 3478"/>
            </a:avLst>
          </a:prstGeom>
          <a:solidFill>
            <a:schemeClr val="bg2"/>
          </a:solidFill>
          <a:ln w="12700">
            <a:solidFill>
              <a:schemeClr val="bg2"/>
            </a:solidFill>
            <a:prstDash val="solid"/>
          </a:ln>
        </p:spPr>
      </p:sp>
      <p:sp>
        <p:nvSpPr>
          <p:cNvPr id="29" name="pastille_48"/>
          <p:cNvSpPr/>
          <p:nvPr/>
        </p:nvSpPr>
        <p:spPr>
          <a:xfrm>
            <a:off x="9692640" y="1856232"/>
            <a:ext cx="384048" cy="384048"/>
          </a:xfrm>
          <a:prstGeom prst="ellipse">
            <a:avLst/>
          </a:prstGeom>
          <a:solidFill>
            <a:schemeClr val="accent2"/>
          </a:solidFill>
          <a:ln w="12700">
            <a:solidFill>
              <a:schemeClr val="accent2"/>
            </a:solidFill>
            <a:prstDash val="solid"/>
          </a:ln>
        </p:spPr>
      </p:sp>
      <p:sp>
        <p:nvSpPr>
          <p:cNvPr id="30" name="pastille_txt_49"/>
          <p:cNvSpPr txBox="1"/>
          <p:nvPr/>
        </p:nvSpPr>
        <p:spPr>
          <a:xfrm>
            <a:off x="9692640" y="18562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e_50"/>
          <p:cNvSpPr txBox="1"/>
          <p:nvPr/>
        </p:nvSpPr>
        <p:spPr>
          <a:xfrm>
            <a:off x="10168128" y="1892808"/>
            <a:ext cx="1325880" cy="320040"/>
          </a:xfrm>
          <a:prstGeom prst="rect">
            <a:avLst/>
          </a:prstGeom>
          <a:noFill/>
          <a:ln/>
        </p:spPr>
        <p:txBody>
          <a:bodyPr wrap="square" lIns="0" tIns="0" rIns="0" bIns="0" rtlCol="0" anchor="t"/>
          <a:lstStyle/>
          <a:p>
            <a:pPr indent="0" marL="0">
              <a:buNone/>
            </a:pPr>
            <a:r>
              <a:rPr lang="en-US" sz="1600" b="1" dirty="0">
                <a:solidFill>
                  <a:schemeClr val="tx1"/>
                </a:solidFill>
              </a:rPr>
              <a:t>Échelle</a:t>
            </a:r>
            <a:endParaRPr lang="en-US" sz="1600" dirty="0"/>
          </a:p>
        </p:txBody>
      </p:sp>
      <p:sp>
        <p:nvSpPr>
          <p:cNvPr id="32" name="texte_51"/>
          <p:cNvSpPr txBox="1"/>
          <p:nvPr/>
        </p:nvSpPr>
        <p:spPr>
          <a:xfrm>
            <a:off x="9692640" y="2395728"/>
            <a:ext cx="1737360" cy="1417320"/>
          </a:xfrm>
          <a:prstGeom prst="rect">
            <a:avLst/>
          </a:prstGeom>
          <a:noFill/>
          <a:ln/>
        </p:spPr>
        <p:txBody>
          <a:bodyPr wrap="square" lIns="0" tIns="0" rIns="0" bIns="0" rtlCol="0" anchor="t"/>
          <a:lstStyle/>
          <a:p>
            <a:pPr indent="0" marL="0">
              <a:buNone/>
            </a:pPr>
            <a:r>
              <a:rPr lang="en-US" sz="1400" dirty="0">
                <a:solidFill>
                  <a:schemeClr val="tx2"/>
                </a:solidFill>
              </a:rPr>
              <a:t>Variables numériques mises à la même échelle pour Ridge, Lasso, ElasticNet</a:t>
            </a:r>
            <a:endParaRPr lang="en-US" sz="1400" dirty="0"/>
          </a:p>
        </p:txBody>
      </p:sp>
      <p:sp>
        <p:nvSpPr>
          <p:cNvPr id="33" name="texte_52"/>
          <p:cNvSpPr txBox="1"/>
          <p:nvPr/>
        </p:nvSpPr>
        <p:spPr>
          <a:xfrm>
            <a:off x="9692640" y="3931920"/>
            <a:ext cx="1737360" cy="365760"/>
          </a:xfrm>
          <a:prstGeom prst="rect">
            <a:avLst/>
          </a:prstGeom>
          <a:noFill/>
          <a:ln/>
        </p:spPr>
        <p:txBody>
          <a:bodyPr wrap="square" lIns="0" tIns="0" rIns="0" bIns="0" rtlCol="0" anchor="t"/>
          <a:lstStyle/>
          <a:p>
            <a:pPr indent="0" marL="0">
              <a:buNone/>
            </a:pPr>
            <a:r>
              <a:rPr lang="en-US" sz="1300" b="1" dirty="0">
                <a:solidFill>
                  <a:schemeClr val="accent2"/>
                </a:solidFill>
              </a:rPr>
              <a:t>pénalité équitable</a:t>
            </a:r>
            <a:endParaRPr lang="en-US" sz="1300" dirty="0"/>
          </a:p>
        </p:txBody>
      </p:sp>
      <p:sp>
        <p:nvSpPr>
          <p:cNvPr id="34" name="bandeau_pipeline"/>
          <p:cNvSpPr/>
          <p:nvPr/>
        </p:nvSpPr>
        <p:spPr>
          <a:xfrm>
            <a:off x="548640" y="4800600"/>
            <a:ext cx="11064240" cy="914400"/>
          </a:xfrm>
          <a:prstGeom prst="roundRect">
            <a:avLst>
              <a:gd name="adj" fmla="val 8000"/>
            </a:avLst>
          </a:prstGeom>
          <a:solidFill>
            <a:schemeClr val="tx1"/>
          </a:solidFill>
          <a:ln w="12700">
            <a:solidFill>
              <a:schemeClr val="tx1"/>
            </a:solidFill>
            <a:prstDash val="solid"/>
          </a:ln>
        </p:spPr>
      </p:sp>
      <p:sp>
        <p:nvSpPr>
          <p:cNvPr id="35" name="texte_53"/>
          <p:cNvSpPr txBox="1"/>
          <p:nvPr/>
        </p:nvSpPr>
        <p:spPr>
          <a:xfrm>
            <a:off x="777240" y="4800600"/>
            <a:ext cx="10607040" cy="914400"/>
          </a:xfrm>
          <a:prstGeom prst="rect">
            <a:avLst/>
          </a:prstGeom>
          <a:noFill/>
          <a:ln/>
        </p:spPr>
        <p:txBody>
          <a:bodyPr wrap="square" lIns="0" tIns="0" rIns="0" bIns="0" rtlCol="0" anchor="ctr"/>
          <a:lstStyle/>
          <a:p>
            <a:pPr indent="0" marL="0">
              <a:buNone/>
            </a:pPr>
            <a:r>
              <a:rPr lang="en-US" sz="1600" b="1" dirty="0">
                <a:solidFill>
                  <a:schemeClr val="accent1"/>
                </a:solidFill>
              </a:rPr>
              <a:t>Un seul pipeline : </a:t>
            </a:r>
            <a:pPr indent="0" marL="0">
              <a:buNone/>
            </a:pPr>
            <a:r>
              <a:rPr lang="en-US" sz="1600" dirty="0">
                <a:solidFill>
                  <a:schemeClr val="bg1"/>
                </a:solidFill>
              </a:rPr>
              <a:t>préparation + modèle ajustés sur l'entraînement, réajustés dans chaque pli de validation croisée, puis réutilisés tels quels par l'API.</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03 · ÉVALUATION</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Tous les modèles sont jugés sur les mêmes données et avec les mêmes métriques</a:t>
            </a:r>
            <a:endParaRPr lang="en-US" sz="2800" dirty="0"/>
          </a:p>
        </p:txBody>
      </p:sp>
      <p:sp>
        <p:nvSpPr>
          <p:cNvPr id="4" name="texte_54"/>
          <p:cNvSpPr txBox="1"/>
          <p:nvPr/>
        </p:nvSpPr>
        <p:spPr>
          <a:xfrm>
            <a:off x="548640" y="1645920"/>
            <a:ext cx="6217920" cy="274320"/>
          </a:xfrm>
          <a:prstGeom prst="rect">
            <a:avLst/>
          </a:prstGeom>
          <a:noFill/>
          <a:ln/>
        </p:spPr>
        <p:txBody>
          <a:bodyPr wrap="square" lIns="0" tIns="0" rIns="0" bIns="0" rtlCol="0" anchor="t"/>
          <a:lstStyle/>
          <a:p>
            <a:pPr indent="0" marL="0">
              <a:buNone/>
            </a:pPr>
            <a:r>
              <a:rPr lang="en-US" sz="1500" b="1" dirty="0">
                <a:solidFill>
                  <a:schemeClr val="tx1"/>
                </a:solidFill>
              </a:rPr>
              <a:t>1. Jeu de test</a:t>
            </a:r>
            <a:endParaRPr lang="en-US" sz="1500" dirty="0"/>
          </a:p>
        </p:txBody>
      </p:sp>
      <p:sp>
        <p:nvSpPr>
          <p:cNvPr id="5" name="barre_train"/>
          <p:cNvSpPr/>
          <p:nvPr/>
        </p:nvSpPr>
        <p:spPr>
          <a:xfrm>
            <a:off x="548640" y="1965960"/>
            <a:ext cx="4974336" cy="457200"/>
          </a:xfrm>
          <a:prstGeom prst="rect">
            <a:avLst/>
          </a:prstGeom>
          <a:solidFill>
            <a:schemeClr val="accent2"/>
          </a:solidFill>
          <a:ln w="12700">
            <a:solidFill>
              <a:schemeClr val="bg1"/>
            </a:solidFill>
            <a:prstDash val="solid"/>
          </a:ln>
        </p:spPr>
      </p:sp>
      <p:sp>
        <p:nvSpPr>
          <p:cNvPr id="6" name="barre_test"/>
          <p:cNvSpPr/>
          <p:nvPr/>
        </p:nvSpPr>
        <p:spPr>
          <a:xfrm>
            <a:off x="5522976" y="1965960"/>
            <a:ext cx="1243584" cy="457200"/>
          </a:xfrm>
          <a:prstGeom prst="rect">
            <a:avLst/>
          </a:prstGeom>
          <a:solidFill>
            <a:schemeClr val="tx2"/>
          </a:solidFill>
          <a:ln w="12700">
            <a:solidFill>
              <a:schemeClr val="bg1"/>
            </a:solidFill>
            <a:prstDash val="solid"/>
          </a:ln>
        </p:spPr>
      </p:sp>
      <p:sp>
        <p:nvSpPr>
          <p:cNvPr id="7" name="texte_55"/>
          <p:cNvSpPr txBox="1"/>
          <p:nvPr/>
        </p:nvSpPr>
        <p:spPr>
          <a:xfrm>
            <a:off x="685800" y="1965960"/>
            <a:ext cx="4663440" cy="457200"/>
          </a:xfrm>
          <a:prstGeom prst="rect">
            <a:avLst/>
          </a:prstGeom>
          <a:noFill/>
          <a:ln/>
        </p:spPr>
        <p:txBody>
          <a:bodyPr wrap="square" lIns="0" tIns="0" rIns="0" bIns="0" rtlCol="0" anchor="ctr"/>
          <a:lstStyle/>
          <a:p>
            <a:pPr indent="0" marL="0">
              <a:buNone/>
            </a:pPr>
            <a:r>
              <a:rPr lang="en-US" sz="1400" b="1" dirty="0">
                <a:solidFill>
                  <a:schemeClr val="bg1"/>
                </a:solidFill>
              </a:rPr>
              <a:t>Entraînement · 1 398 véhicules</a:t>
            </a:r>
            <a:endParaRPr lang="en-US" sz="1400" dirty="0"/>
          </a:p>
        </p:txBody>
      </p:sp>
      <p:sp>
        <p:nvSpPr>
          <p:cNvPr id="8" name="texte_56"/>
          <p:cNvSpPr txBox="1"/>
          <p:nvPr/>
        </p:nvSpPr>
        <p:spPr>
          <a:xfrm>
            <a:off x="5522976" y="1965960"/>
            <a:ext cx="1243584" cy="457200"/>
          </a:xfrm>
          <a:prstGeom prst="rect">
            <a:avLst/>
          </a:prstGeom>
          <a:noFill/>
          <a:ln/>
        </p:spPr>
        <p:txBody>
          <a:bodyPr wrap="square" lIns="0" tIns="0" rIns="0" bIns="0" rtlCol="0" anchor="ctr"/>
          <a:lstStyle/>
          <a:p>
            <a:pPr algn="ctr" indent="0" marL="0">
              <a:buNone/>
            </a:pPr>
            <a:r>
              <a:rPr lang="en-US" sz="1300" b="1" dirty="0">
                <a:solidFill>
                  <a:schemeClr val="bg1"/>
                </a:solidFill>
              </a:rPr>
              <a:t>Test · 350</a:t>
            </a:r>
            <a:endParaRPr lang="en-US" sz="1300" dirty="0"/>
          </a:p>
        </p:txBody>
      </p:sp>
      <p:sp>
        <p:nvSpPr>
          <p:cNvPr id="9" name="texte_57"/>
          <p:cNvSpPr txBox="1"/>
          <p:nvPr/>
        </p:nvSpPr>
        <p:spPr>
          <a:xfrm>
            <a:off x="548640" y="2487168"/>
            <a:ext cx="6217920" cy="320040"/>
          </a:xfrm>
          <a:prstGeom prst="rect">
            <a:avLst/>
          </a:prstGeom>
          <a:noFill/>
          <a:ln/>
        </p:spPr>
        <p:txBody>
          <a:bodyPr wrap="square" lIns="0" tIns="0" rIns="0" bIns="0" rtlCol="0" anchor="t"/>
          <a:lstStyle/>
          <a:p>
            <a:pPr indent="0" marL="0">
              <a:buNone/>
            </a:pPr>
            <a:r>
              <a:rPr lang="en-US" sz="1300" dirty="0">
                <a:solidFill>
                  <a:schemeClr val="tx2"/>
                </a:solidFill>
              </a:rPr>
              <a:t>Jamais vu à l'entraînement ; même découpage pour tous les modèles.</a:t>
            </a:r>
            <a:endParaRPr lang="en-US" sz="1300" dirty="0"/>
          </a:p>
        </p:txBody>
      </p:sp>
      <p:sp>
        <p:nvSpPr>
          <p:cNvPr id="10" name="texte_58"/>
          <p:cNvSpPr txBox="1"/>
          <p:nvPr/>
        </p:nvSpPr>
        <p:spPr>
          <a:xfrm>
            <a:off x="548640" y="2926080"/>
            <a:ext cx="6217920" cy="274320"/>
          </a:xfrm>
          <a:prstGeom prst="rect">
            <a:avLst/>
          </a:prstGeom>
          <a:noFill/>
          <a:ln/>
        </p:spPr>
        <p:txBody>
          <a:bodyPr wrap="square" lIns="0" tIns="0" rIns="0" bIns="0" rtlCol="0" anchor="t"/>
          <a:lstStyle/>
          <a:p>
            <a:pPr indent="0" marL="0">
              <a:buNone/>
            </a:pPr>
            <a:r>
              <a:rPr lang="en-US" sz="1500" b="1" dirty="0">
                <a:solidFill>
                  <a:schemeClr val="tx1"/>
                </a:solidFill>
              </a:rPr>
              <a:t>2. Validation croisée externe</a:t>
            </a:r>
            <a:endParaRPr lang="en-US" sz="1500" dirty="0"/>
          </a:p>
        </p:txBody>
      </p:sp>
      <p:sp>
        <p:nvSpPr>
          <p:cNvPr id="11" name="pli_59"/>
          <p:cNvSpPr/>
          <p:nvPr/>
        </p:nvSpPr>
        <p:spPr>
          <a:xfrm>
            <a:off x="548640" y="3246120"/>
            <a:ext cx="1243584" cy="164592"/>
          </a:xfrm>
          <a:prstGeom prst="rect">
            <a:avLst/>
          </a:prstGeom>
          <a:solidFill>
            <a:schemeClr val="tx2"/>
          </a:solidFill>
          <a:ln w="12700">
            <a:solidFill>
              <a:schemeClr val="bg1"/>
            </a:solidFill>
            <a:prstDash val="solid"/>
          </a:ln>
        </p:spPr>
      </p:sp>
      <p:sp>
        <p:nvSpPr>
          <p:cNvPr id="12" name="pli_60"/>
          <p:cNvSpPr/>
          <p:nvPr/>
        </p:nvSpPr>
        <p:spPr>
          <a:xfrm>
            <a:off x="1792224" y="3246120"/>
            <a:ext cx="1243584" cy="164592"/>
          </a:xfrm>
          <a:prstGeom prst="rect">
            <a:avLst/>
          </a:prstGeom>
          <a:solidFill>
            <a:schemeClr val="bg2"/>
          </a:solidFill>
          <a:ln w="12700">
            <a:solidFill>
              <a:schemeClr val="bg1"/>
            </a:solidFill>
            <a:prstDash val="solid"/>
          </a:ln>
        </p:spPr>
      </p:sp>
      <p:sp>
        <p:nvSpPr>
          <p:cNvPr id="13" name="pli_61"/>
          <p:cNvSpPr/>
          <p:nvPr/>
        </p:nvSpPr>
        <p:spPr>
          <a:xfrm>
            <a:off x="3035808" y="3246120"/>
            <a:ext cx="1243584" cy="164592"/>
          </a:xfrm>
          <a:prstGeom prst="rect">
            <a:avLst/>
          </a:prstGeom>
          <a:solidFill>
            <a:schemeClr val="bg2"/>
          </a:solidFill>
          <a:ln w="12700">
            <a:solidFill>
              <a:schemeClr val="bg1"/>
            </a:solidFill>
            <a:prstDash val="solid"/>
          </a:ln>
        </p:spPr>
      </p:sp>
      <p:sp>
        <p:nvSpPr>
          <p:cNvPr id="14" name="pli_62"/>
          <p:cNvSpPr/>
          <p:nvPr/>
        </p:nvSpPr>
        <p:spPr>
          <a:xfrm>
            <a:off x="4279392" y="3246120"/>
            <a:ext cx="1243584" cy="164592"/>
          </a:xfrm>
          <a:prstGeom prst="rect">
            <a:avLst/>
          </a:prstGeom>
          <a:solidFill>
            <a:schemeClr val="bg2"/>
          </a:solidFill>
          <a:ln w="12700">
            <a:solidFill>
              <a:schemeClr val="bg1"/>
            </a:solidFill>
            <a:prstDash val="solid"/>
          </a:ln>
        </p:spPr>
      </p:sp>
      <p:sp>
        <p:nvSpPr>
          <p:cNvPr id="15" name="pli_63"/>
          <p:cNvSpPr/>
          <p:nvPr/>
        </p:nvSpPr>
        <p:spPr>
          <a:xfrm>
            <a:off x="5522976" y="3246120"/>
            <a:ext cx="1243584" cy="164592"/>
          </a:xfrm>
          <a:prstGeom prst="rect">
            <a:avLst/>
          </a:prstGeom>
          <a:solidFill>
            <a:schemeClr val="bg2"/>
          </a:solidFill>
          <a:ln w="12700">
            <a:solidFill>
              <a:schemeClr val="bg1"/>
            </a:solidFill>
            <a:prstDash val="solid"/>
          </a:ln>
        </p:spPr>
      </p:sp>
      <p:sp>
        <p:nvSpPr>
          <p:cNvPr id="16" name="pli_64"/>
          <p:cNvSpPr/>
          <p:nvPr/>
        </p:nvSpPr>
        <p:spPr>
          <a:xfrm>
            <a:off x="548640" y="3429000"/>
            <a:ext cx="1243584" cy="164592"/>
          </a:xfrm>
          <a:prstGeom prst="rect">
            <a:avLst/>
          </a:prstGeom>
          <a:solidFill>
            <a:schemeClr val="bg2"/>
          </a:solidFill>
          <a:ln w="12700">
            <a:solidFill>
              <a:schemeClr val="bg1"/>
            </a:solidFill>
            <a:prstDash val="solid"/>
          </a:ln>
        </p:spPr>
      </p:sp>
      <p:sp>
        <p:nvSpPr>
          <p:cNvPr id="17" name="pli_65"/>
          <p:cNvSpPr/>
          <p:nvPr/>
        </p:nvSpPr>
        <p:spPr>
          <a:xfrm>
            <a:off x="1792224" y="3429000"/>
            <a:ext cx="1243584" cy="164592"/>
          </a:xfrm>
          <a:prstGeom prst="rect">
            <a:avLst/>
          </a:prstGeom>
          <a:solidFill>
            <a:schemeClr val="tx2"/>
          </a:solidFill>
          <a:ln w="12700">
            <a:solidFill>
              <a:schemeClr val="bg1"/>
            </a:solidFill>
            <a:prstDash val="solid"/>
          </a:ln>
        </p:spPr>
      </p:sp>
      <p:sp>
        <p:nvSpPr>
          <p:cNvPr id="18" name="pli_66"/>
          <p:cNvSpPr/>
          <p:nvPr/>
        </p:nvSpPr>
        <p:spPr>
          <a:xfrm>
            <a:off x="3035808" y="3429000"/>
            <a:ext cx="1243584" cy="164592"/>
          </a:xfrm>
          <a:prstGeom prst="rect">
            <a:avLst/>
          </a:prstGeom>
          <a:solidFill>
            <a:schemeClr val="bg2"/>
          </a:solidFill>
          <a:ln w="12700">
            <a:solidFill>
              <a:schemeClr val="bg1"/>
            </a:solidFill>
            <a:prstDash val="solid"/>
          </a:ln>
        </p:spPr>
      </p:sp>
      <p:sp>
        <p:nvSpPr>
          <p:cNvPr id="19" name="pli_67"/>
          <p:cNvSpPr/>
          <p:nvPr/>
        </p:nvSpPr>
        <p:spPr>
          <a:xfrm>
            <a:off x="4279392" y="3429000"/>
            <a:ext cx="1243584" cy="164592"/>
          </a:xfrm>
          <a:prstGeom prst="rect">
            <a:avLst/>
          </a:prstGeom>
          <a:solidFill>
            <a:schemeClr val="bg2"/>
          </a:solidFill>
          <a:ln w="12700">
            <a:solidFill>
              <a:schemeClr val="bg1"/>
            </a:solidFill>
            <a:prstDash val="solid"/>
          </a:ln>
        </p:spPr>
      </p:sp>
      <p:sp>
        <p:nvSpPr>
          <p:cNvPr id="20" name="pli_68"/>
          <p:cNvSpPr/>
          <p:nvPr/>
        </p:nvSpPr>
        <p:spPr>
          <a:xfrm>
            <a:off x="5522976" y="3429000"/>
            <a:ext cx="1243584" cy="164592"/>
          </a:xfrm>
          <a:prstGeom prst="rect">
            <a:avLst/>
          </a:prstGeom>
          <a:solidFill>
            <a:schemeClr val="bg2"/>
          </a:solidFill>
          <a:ln w="12700">
            <a:solidFill>
              <a:schemeClr val="bg1"/>
            </a:solidFill>
            <a:prstDash val="solid"/>
          </a:ln>
        </p:spPr>
      </p:sp>
      <p:sp>
        <p:nvSpPr>
          <p:cNvPr id="21" name="pli_69"/>
          <p:cNvSpPr/>
          <p:nvPr/>
        </p:nvSpPr>
        <p:spPr>
          <a:xfrm>
            <a:off x="548640" y="3611880"/>
            <a:ext cx="1243584" cy="164592"/>
          </a:xfrm>
          <a:prstGeom prst="rect">
            <a:avLst/>
          </a:prstGeom>
          <a:solidFill>
            <a:schemeClr val="bg2"/>
          </a:solidFill>
          <a:ln w="12700">
            <a:solidFill>
              <a:schemeClr val="bg1"/>
            </a:solidFill>
            <a:prstDash val="solid"/>
          </a:ln>
        </p:spPr>
      </p:sp>
      <p:sp>
        <p:nvSpPr>
          <p:cNvPr id="22" name="pli_70"/>
          <p:cNvSpPr/>
          <p:nvPr/>
        </p:nvSpPr>
        <p:spPr>
          <a:xfrm>
            <a:off x="1792224" y="3611880"/>
            <a:ext cx="1243584" cy="164592"/>
          </a:xfrm>
          <a:prstGeom prst="rect">
            <a:avLst/>
          </a:prstGeom>
          <a:solidFill>
            <a:schemeClr val="bg2"/>
          </a:solidFill>
          <a:ln w="12700">
            <a:solidFill>
              <a:schemeClr val="bg1"/>
            </a:solidFill>
            <a:prstDash val="solid"/>
          </a:ln>
        </p:spPr>
      </p:sp>
      <p:sp>
        <p:nvSpPr>
          <p:cNvPr id="23" name="pli_71"/>
          <p:cNvSpPr/>
          <p:nvPr/>
        </p:nvSpPr>
        <p:spPr>
          <a:xfrm>
            <a:off x="3035808" y="3611880"/>
            <a:ext cx="1243584" cy="164592"/>
          </a:xfrm>
          <a:prstGeom prst="rect">
            <a:avLst/>
          </a:prstGeom>
          <a:solidFill>
            <a:schemeClr val="tx2"/>
          </a:solidFill>
          <a:ln w="12700">
            <a:solidFill>
              <a:schemeClr val="bg1"/>
            </a:solidFill>
            <a:prstDash val="solid"/>
          </a:ln>
        </p:spPr>
      </p:sp>
      <p:sp>
        <p:nvSpPr>
          <p:cNvPr id="24" name="pli_72"/>
          <p:cNvSpPr/>
          <p:nvPr/>
        </p:nvSpPr>
        <p:spPr>
          <a:xfrm>
            <a:off x="4279392" y="3611880"/>
            <a:ext cx="1243584" cy="164592"/>
          </a:xfrm>
          <a:prstGeom prst="rect">
            <a:avLst/>
          </a:prstGeom>
          <a:solidFill>
            <a:schemeClr val="bg2"/>
          </a:solidFill>
          <a:ln w="12700">
            <a:solidFill>
              <a:schemeClr val="bg1"/>
            </a:solidFill>
            <a:prstDash val="solid"/>
          </a:ln>
        </p:spPr>
      </p:sp>
      <p:sp>
        <p:nvSpPr>
          <p:cNvPr id="25" name="pli_73"/>
          <p:cNvSpPr/>
          <p:nvPr/>
        </p:nvSpPr>
        <p:spPr>
          <a:xfrm>
            <a:off x="5522976" y="3611880"/>
            <a:ext cx="1243584" cy="164592"/>
          </a:xfrm>
          <a:prstGeom prst="rect">
            <a:avLst/>
          </a:prstGeom>
          <a:solidFill>
            <a:schemeClr val="bg2"/>
          </a:solidFill>
          <a:ln w="12700">
            <a:solidFill>
              <a:schemeClr val="bg1"/>
            </a:solidFill>
            <a:prstDash val="solid"/>
          </a:ln>
        </p:spPr>
      </p:sp>
      <p:sp>
        <p:nvSpPr>
          <p:cNvPr id="26" name="pli_74"/>
          <p:cNvSpPr/>
          <p:nvPr/>
        </p:nvSpPr>
        <p:spPr>
          <a:xfrm>
            <a:off x="548640" y="3794760"/>
            <a:ext cx="1243584" cy="164592"/>
          </a:xfrm>
          <a:prstGeom prst="rect">
            <a:avLst/>
          </a:prstGeom>
          <a:solidFill>
            <a:schemeClr val="bg2"/>
          </a:solidFill>
          <a:ln w="12700">
            <a:solidFill>
              <a:schemeClr val="bg1"/>
            </a:solidFill>
            <a:prstDash val="solid"/>
          </a:ln>
        </p:spPr>
      </p:sp>
      <p:sp>
        <p:nvSpPr>
          <p:cNvPr id="27" name="pli_75"/>
          <p:cNvSpPr/>
          <p:nvPr/>
        </p:nvSpPr>
        <p:spPr>
          <a:xfrm>
            <a:off x="1792224" y="3794760"/>
            <a:ext cx="1243584" cy="164592"/>
          </a:xfrm>
          <a:prstGeom prst="rect">
            <a:avLst/>
          </a:prstGeom>
          <a:solidFill>
            <a:schemeClr val="bg2"/>
          </a:solidFill>
          <a:ln w="12700">
            <a:solidFill>
              <a:schemeClr val="bg1"/>
            </a:solidFill>
            <a:prstDash val="solid"/>
          </a:ln>
        </p:spPr>
      </p:sp>
      <p:sp>
        <p:nvSpPr>
          <p:cNvPr id="28" name="pli_76"/>
          <p:cNvSpPr/>
          <p:nvPr/>
        </p:nvSpPr>
        <p:spPr>
          <a:xfrm>
            <a:off x="3035808" y="3794760"/>
            <a:ext cx="1243584" cy="164592"/>
          </a:xfrm>
          <a:prstGeom prst="rect">
            <a:avLst/>
          </a:prstGeom>
          <a:solidFill>
            <a:schemeClr val="bg2"/>
          </a:solidFill>
          <a:ln w="12700">
            <a:solidFill>
              <a:schemeClr val="bg1"/>
            </a:solidFill>
            <a:prstDash val="solid"/>
          </a:ln>
        </p:spPr>
      </p:sp>
      <p:sp>
        <p:nvSpPr>
          <p:cNvPr id="29" name="pli_77"/>
          <p:cNvSpPr/>
          <p:nvPr/>
        </p:nvSpPr>
        <p:spPr>
          <a:xfrm>
            <a:off x="4279392" y="3794760"/>
            <a:ext cx="1243584" cy="164592"/>
          </a:xfrm>
          <a:prstGeom prst="rect">
            <a:avLst/>
          </a:prstGeom>
          <a:solidFill>
            <a:schemeClr val="tx2"/>
          </a:solidFill>
          <a:ln w="12700">
            <a:solidFill>
              <a:schemeClr val="bg1"/>
            </a:solidFill>
            <a:prstDash val="solid"/>
          </a:ln>
        </p:spPr>
      </p:sp>
      <p:sp>
        <p:nvSpPr>
          <p:cNvPr id="30" name="pli_78"/>
          <p:cNvSpPr/>
          <p:nvPr/>
        </p:nvSpPr>
        <p:spPr>
          <a:xfrm>
            <a:off x="5522976" y="3794760"/>
            <a:ext cx="1243584" cy="164592"/>
          </a:xfrm>
          <a:prstGeom prst="rect">
            <a:avLst/>
          </a:prstGeom>
          <a:solidFill>
            <a:schemeClr val="bg2"/>
          </a:solidFill>
          <a:ln w="12700">
            <a:solidFill>
              <a:schemeClr val="bg1"/>
            </a:solidFill>
            <a:prstDash val="solid"/>
          </a:ln>
        </p:spPr>
      </p:sp>
      <p:sp>
        <p:nvSpPr>
          <p:cNvPr id="31" name="pli_79"/>
          <p:cNvSpPr/>
          <p:nvPr/>
        </p:nvSpPr>
        <p:spPr>
          <a:xfrm>
            <a:off x="548640" y="3977640"/>
            <a:ext cx="1243584" cy="164592"/>
          </a:xfrm>
          <a:prstGeom prst="rect">
            <a:avLst/>
          </a:prstGeom>
          <a:solidFill>
            <a:schemeClr val="bg2"/>
          </a:solidFill>
          <a:ln w="12700">
            <a:solidFill>
              <a:schemeClr val="bg1"/>
            </a:solidFill>
            <a:prstDash val="solid"/>
          </a:ln>
        </p:spPr>
      </p:sp>
      <p:sp>
        <p:nvSpPr>
          <p:cNvPr id="32" name="pli_80"/>
          <p:cNvSpPr/>
          <p:nvPr/>
        </p:nvSpPr>
        <p:spPr>
          <a:xfrm>
            <a:off x="1792224" y="3977640"/>
            <a:ext cx="1243584" cy="164592"/>
          </a:xfrm>
          <a:prstGeom prst="rect">
            <a:avLst/>
          </a:prstGeom>
          <a:solidFill>
            <a:schemeClr val="bg2"/>
          </a:solidFill>
          <a:ln w="12700">
            <a:solidFill>
              <a:schemeClr val="bg1"/>
            </a:solidFill>
            <a:prstDash val="solid"/>
          </a:ln>
        </p:spPr>
      </p:sp>
      <p:sp>
        <p:nvSpPr>
          <p:cNvPr id="33" name="pli_81"/>
          <p:cNvSpPr/>
          <p:nvPr/>
        </p:nvSpPr>
        <p:spPr>
          <a:xfrm>
            <a:off x="3035808" y="3977640"/>
            <a:ext cx="1243584" cy="164592"/>
          </a:xfrm>
          <a:prstGeom prst="rect">
            <a:avLst/>
          </a:prstGeom>
          <a:solidFill>
            <a:schemeClr val="bg2"/>
          </a:solidFill>
          <a:ln w="12700">
            <a:solidFill>
              <a:schemeClr val="bg1"/>
            </a:solidFill>
            <a:prstDash val="solid"/>
          </a:ln>
        </p:spPr>
      </p:sp>
      <p:sp>
        <p:nvSpPr>
          <p:cNvPr id="34" name="pli_82"/>
          <p:cNvSpPr/>
          <p:nvPr/>
        </p:nvSpPr>
        <p:spPr>
          <a:xfrm>
            <a:off x="4279392" y="3977640"/>
            <a:ext cx="1243584" cy="164592"/>
          </a:xfrm>
          <a:prstGeom prst="rect">
            <a:avLst/>
          </a:prstGeom>
          <a:solidFill>
            <a:schemeClr val="bg2"/>
          </a:solidFill>
          <a:ln w="12700">
            <a:solidFill>
              <a:schemeClr val="bg1"/>
            </a:solidFill>
            <a:prstDash val="solid"/>
          </a:ln>
        </p:spPr>
      </p:sp>
      <p:sp>
        <p:nvSpPr>
          <p:cNvPr id="35" name="pli_83"/>
          <p:cNvSpPr/>
          <p:nvPr/>
        </p:nvSpPr>
        <p:spPr>
          <a:xfrm>
            <a:off x="5522976" y="3977640"/>
            <a:ext cx="1243584" cy="164592"/>
          </a:xfrm>
          <a:prstGeom prst="rect">
            <a:avLst/>
          </a:prstGeom>
          <a:solidFill>
            <a:schemeClr val="tx2"/>
          </a:solidFill>
          <a:ln w="12700">
            <a:solidFill>
              <a:schemeClr val="bg1"/>
            </a:solidFill>
            <a:prstDash val="solid"/>
          </a:ln>
        </p:spPr>
      </p:sp>
      <p:sp>
        <p:nvSpPr>
          <p:cNvPr id="36" name="texte_84"/>
          <p:cNvSpPr txBox="1"/>
          <p:nvPr/>
        </p:nvSpPr>
        <p:spPr>
          <a:xfrm>
            <a:off x="548640" y="4206240"/>
            <a:ext cx="6217920" cy="411480"/>
          </a:xfrm>
          <a:prstGeom prst="rect">
            <a:avLst/>
          </a:prstGeom>
          <a:noFill/>
          <a:ln/>
        </p:spPr>
        <p:txBody>
          <a:bodyPr wrap="square" lIns="0" tIns="0" rIns="0" bIns="0" rtlCol="0" anchor="t"/>
          <a:lstStyle/>
          <a:p>
            <a:pPr indent="0" marL="0">
              <a:buNone/>
            </a:pPr>
            <a:r>
              <a:rPr lang="en-US" sz="1300" dirty="0">
                <a:solidFill>
                  <a:schemeClr val="tx2"/>
                </a:solidFill>
              </a:rPr>
              <a:t>5 plis sur les 1 748 véhicules (test inclus), pipeline réajusté à chaque pli → moyenne et dispersion.</a:t>
            </a:r>
            <a:endParaRPr lang="en-US" sz="1300" dirty="0"/>
          </a:p>
        </p:txBody>
      </p:sp>
      <p:sp>
        <p:nvSpPr>
          <p:cNvPr id="37" name="texte_85"/>
          <p:cNvSpPr txBox="1"/>
          <p:nvPr/>
        </p:nvSpPr>
        <p:spPr>
          <a:xfrm>
            <a:off x="548640" y="4681728"/>
            <a:ext cx="6217920" cy="274320"/>
          </a:xfrm>
          <a:prstGeom prst="rect">
            <a:avLst/>
          </a:prstGeom>
          <a:noFill/>
          <a:ln/>
        </p:spPr>
        <p:txBody>
          <a:bodyPr wrap="square" lIns="0" tIns="0" rIns="0" bIns="0" rtlCol="0" anchor="t"/>
          <a:lstStyle/>
          <a:p>
            <a:pPr indent="0" marL="0">
              <a:buNone/>
            </a:pPr>
            <a:r>
              <a:rPr lang="en-US" sz="1500" b="1" dirty="0">
                <a:solidFill>
                  <a:schemeClr val="tx1"/>
                </a:solidFill>
              </a:rPr>
              <a:t>3. Validation croisée interne</a:t>
            </a:r>
            <a:endParaRPr lang="en-US" sz="1500" dirty="0"/>
          </a:p>
        </p:txBody>
      </p:sp>
      <p:sp>
        <p:nvSpPr>
          <p:cNvPr id="38" name="texte_86"/>
          <p:cNvSpPr txBox="1"/>
          <p:nvPr/>
        </p:nvSpPr>
        <p:spPr>
          <a:xfrm>
            <a:off x="548640" y="4983480"/>
            <a:ext cx="6217920" cy="365760"/>
          </a:xfrm>
          <a:prstGeom prst="rect">
            <a:avLst/>
          </a:prstGeom>
          <a:noFill/>
          <a:ln/>
        </p:spPr>
        <p:txBody>
          <a:bodyPr wrap="square" lIns="0" tIns="0" rIns="0" bIns="0" rtlCol="0" anchor="t"/>
          <a:lstStyle/>
          <a:p>
            <a:pPr indent="0" marL="0">
              <a:buNone/>
            </a:pPr>
            <a:r>
              <a:rPr lang="en-US" sz="1300" dirty="0">
                <a:solidFill>
                  <a:schemeClr val="tx2"/>
                </a:solidFill>
              </a:rPr>
              <a:t>Dans l'entraînement seulement : RidgeCV et ElasticNetCV y choisissent alpha.</a:t>
            </a:r>
            <a:endParaRPr lang="en-US" sz="1300" dirty="0"/>
          </a:p>
        </p:txBody>
      </p:sp>
      <p:sp>
        <p:nvSpPr>
          <p:cNvPr id="39" name="carte_87"/>
          <p:cNvSpPr/>
          <p:nvPr/>
        </p:nvSpPr>
        <p:spPr>
          <a:xfrm>
            <a:off x="7132320" y="1645920"/>
            <a:ext cx="4480560" cy="1051560"/>
          </a:xfrm>
          <a:prstGeom prst="roundRect">
            <a:avLst>
              <a:gd name="adj" fmla="val 6957"/>
            </a:avLst>
          </a:prstGeom>
          <a:solidFill>
            <a:schemeClr val="bg2"/>
          </a:solidFill>
          <a:ln w="12700">
            <a:solidFill>
              <a:schemeClr val="bg2"/>
            </a:solidFill>
            <a:prstDash val="solid"/>
          </a:ln>
        </p:spPr>
      </p:sp>
      <p:sp>
        <p:nvSpPr>
          <p:cNvPr id="40" name="texte_88"/>
          <p:cNvSpPr txBox="1"/>
          <p:nvPr/>
        </p:nvSpPr>
        <p:spPr>
          <a:xfrm>
            <a:off x="7315200" y="1755648"/>
            <a:ext cx="1097280" cy="365760"/>
          </a:xfrm>
          <a:prstGeom prst="rect">
            <a:avLst/>
          </a:prstGeom>
          <a:noFill/>
          <a:ln/>
        </p:spPr>
        <p:txBody>
          <a:bodyPr wrap="square" lIns="0" tIns="0" rIns="0" bIns="0" rtlCol="0" anchor="t"/>
          <a:lstStyle/>
          <a:p>
            <a:pPr indent="0" marL="0">
              <a:buNone/>
            </a:pPr>
            <a:r>
              <a:rPr lang="en-US" sz="2000" b="1" dirty="0">
                <a:solidFill>
                  <a:schemeClr val="accent2"/>
                </a:solidFill>
              </a:rPr>
              <a:t>MAE</a:t>
            </a:r>
            <a:endParaRPr lang="en-US" sz="2000" dirty="0"/>
          </a:p>
        </p:txBody>
      </p:sp>
      <p:sp>
        <p:nvSpPr>
          <p:cNvPr id="41" name="texte_89"/>
          <p:cNvSpPr txBox="1"/>
          <p:nvPr/>
        </p:nvSpPr>
        <p:spPr>
          <a:xfrm>
            <a:off x="8412480" y="1755648"/>
            <a:ext cx="3063240" cy="868680"/>
          </a:xfrm>
          <a:prstGeom prst="rect">
            <a:avLst/>
          </a:prstGeom>
          <a:noFill/>
          <a:ln/>
        </p:spPr>
        <p:txBody>
          <a:bodyPr wrap="square" lIns="0" tIns="0" rIns="0" bIns="0" rtlCol="0" anchor="t"/>
          <a:lstStyle/>
          <a:p>
            <a:pPr indent="0" marL="0">
              <a:buNone/>
            </a:pPr>
            <a:r>
              <a:rPr lang="en-US" sz="1300" dirty="0">
                <a:solidFill>
                  <a:schemeClr val="tx2"/>
                </a:solidFill>
              </a:rPr>
              <a:t>Moyenne des erreurs absolues, en dollars.</a:t>
            </a:r>
            <a:endParaRPr lang="en-US" sz="1300" dirty="0"/>
          </a:p>
        </p:txBody>
      </p:sp>
      <p:sp>
        <p:nvSpPr>
          <p:cNvPr id="42" name="carte_90"/>
          <p:cNvSpPr/>
          <p:nvPr/>
        </p:nvSpPr>
        <p:spPr>
          <a:xfrm>
            <a:off x="7132320" y="2834640"/>
            <a:ext cx="4480560" cy="1051560"/>
          </a:xfrm>
          <a:prstGeom prst="roundRect">
            <a:avLst>
              <a:gd name="adj" fmla="val 6957"/>
            </a:avLst>
          </a:prstGeom>
          <a:solidFill>
            <a:schemeClr val="bg2"/>
          </a:solidFill>
          <a:ln w="12700">
            <a:solidFill>
              <a:schemeClr val="bg2"/>
            </a:solidFill>
            <a:prstDash val="solid"/>
          </a:ln>
        </p:spPr>
      </p:sp>
      <p:sp>
        <p:nvSpPr>
          <p:cNvPr id="43" name="texte_91"/>
          <p:cNvSpPr txBox="1"/>
          <p:nvPr/>
        </p:nvSpPr>
        <p:spPr>
          <a:xfrm>
            <a:off x="7315200" y="2944368"/>
            <a:ext cx="1097280" cy="365760"/>
          </a:xfrm>
          <a:prstGeom prst="rect">
            <a:avLst/>
          </a:prstGeom>
          <a:noFill/>
          <a:ln/>
        </p:spPr>
        <p:txBody>
          <a:bodyPr wrap="square" lIns="0" tIns="0" rIns="0" bIns="0" rtlCol="0" anchor="t"/>
          <a:lstStyle/>
          <a:p>
            <a:pPr indent="0" marL="0">
              <a:buNone/>
            </a:pPr>
            <a:r>
              <a:rPr lang="en-US" sz="2000" b="1" dirty="0">
                <a:solidFill>
                  <a:schemeClr val="accent2"/>
                </a:solidFill>
              </a:rPr>
              <a:t>RMSE</a:t>
            </a:r>
            <a:endParaRPr lang="en-US" sz="2000" dirty="0"/>
          </a:p>
        </p:txBody>
      </p:sp>
      <p:sp>
        <p:nvSpPr>
          <p:cNvPr id="44" name="texte_92"/>
          <p:cNvSpPr txBox="1"/>
          <p:nvPr/>
        </p:nvSpPr>
        <p:spPr>
          <a:xfrm>
            <a:off x="8412480" y="2944368"/>
            <a:ext cx="3063240" cy="868680"/>
          </a:xfrm>
          <a:prstGeom prst="rect">
            <a:avLst/>
          </a:prstGeom>
          <a:noFill/>
          <a:ln/>
        </p:spPr>
        <p:txBody>
          <a:bodyPr wrap="square" lIns="0" tIns="0" rIns="0" bIns="0" rtlCol="0" anchor="t"/>
          <a:lstStyle/>
          <a:p>
            <a:pPr indent="0" marL="0">
              <a:buNone/>
            </a:pPr>
            <a:r>
              <a:rPr lang="en-US" sz="1300" dirty="0">
                <a:solidFill>
                  <a:schemeClr val="tx2"/>
                </a:solidFill>
              </a:rPr>
              <a:t>Comme la MAE, mais les grosses erreurs comptent davantage.</a:t>
            </a:r>
            <a:endParaRPr lang="en-US" sz="1300" dirty="0"/>
          </a:p>
        </p:txBody>
      </p:sp>
      <p:sp>
        <p:nvSpPr>
          <p:cNvPr id="45" name="carte_93"/>
          <p:cNvSpPr/>
          <p:nvPr/>
        </p:nvSpPr>
        <p:spPr>
          <a:xfrm>
            <a:off x="7132320" y="4023360"/>
            <a:ext cx="4480560" cy="1051560"/>
          </a:xfrm>
          <a:prstGeom prst="roundRect">
            <a:avLst>
              <a:gd name="adj" fmla="val 6957"/>
            </a:avLst>
          </a:prstGeom>
          <a:solidFill>
            <a:schemeClr val="bg2"/>
          </a:solidFill>
          <a:ln w="12700">
            <a:solidFill>
              <a:schemeClr val="bg2"/>
            </a:solidFill>
            <a:prstDash val="solid"/>
          </a:ln>
        </p:spPr>
      </p:sp>
      <p:sp>
        <p:nvSpPr>
          <p:cNvPr id="46" name="texte_94"/>
          <p:cNvSpPr txBox="1"/>
          <p:nvPr/>
        </p:nvSpPr>
        <p:spPr>
          <a:xfrm>
            <a:off x="7315200" y="4133088"/>
            <a:ext cx="1097280" cy="365760"/>
          </a:xfrm>
          <a:prstGeom prst="rect">
            <a:avLst/>
          </a:prstGeom>
          <a:noFill/>
          <a:ln/>
        </p:spPr>
        <p:txBody>
          <a:bodyPr wrap="square" lIns="0" tIns="0" rIns="0" bIns="0" rtlCol="0" anchor="t"/>
          <a:lstStyle/>
          <a:p>
            <a:pPr indent="0" marL="0">
              <a:buNone/>
            </a:pPr>
            <a:r>
              <a:rPr lang="en-US" sz="2000" b="1" dirty="0">
                <a:solidFill>
                  <a:schemeClr val="accent2"/>
                </a:solidFill>
              </a:rPr>
              <a:t>R²</a:t>
            </a:r>
            <a:endParaRPr lang="en-US" sz="2000" dirty="0"/>
          </a:p>
        </p:txBody>
      </p:sp>
      <p:sp>
        <p:nvSpPr>
          <p:cNvPr id="47" name="texte_95"/>
          <p:cNvSpPr txBox="1"/>
          <p:nvPr/>
        </p:nvSpPr>
        <p:spPr>
          <a:xfrm>
            <a:off x="8412480" y="4133088"/>
            <a:ext cx="3063240" cy="868680"/>
          </a:xfrm>
          <a:prstGeom prst="rect">
            <a:avLst/>
          </a:prstGeom>
          <a:noFill/>
          <a:ln/>
        </p:spPr>
        <p:txBody>
          <a:bodyPr wrap="square" lIns="0" tIns="0" rIns="0" bIns="0" rtlCol="0" anchor="t"/>
          <a:lstStyle/>
          <a:p>
            <a:pPr indent="0" marL="0">
              <a:buNone/>
            </a:pPr>
            <a:r>
              <a:rPr lang="en-US" sz="1300" dirty="0">
                <a:solidFill>
                  <a:schemeClr val="tx2"/>
                </a:solidFill>
              </a:rPr>
              <a:t>Part des variations de prix expliquée : 1 = parfait, 0 = pas mieux que prédire la moyenne. Ce n'est pas un % de bonnes réponses.</a:t>
            </a:r>
            <a:endParaRPr lang="en-US" sz="1300" dirty="0"/>
          </a:p>
        </p:txBody>
      </p:sp>
      <p:sp>
        <p:nvSpPr>
          <p:cNvPr id="48" name="encadre_limite"/>
          <p:cNvSpPr/>
          <p:nvPr/>
        </p:nvSpPr>
        <p:spPr>
          <a:xfrm>
            <a:off x="548640" y="5486400"/>
            <a:ext cx="11064240" cy="685800"/>
          </a:xfrm>
          <a:prstGeom prst="roundRect">
            <a:avLst>
              <a:gd name="adj" fmla="val 10667"/>
            </a:avLst>
          </a:prstGeom>
          <a:solidFill>
            <a:srgbClr val="F6E3DE"/>
          </a:solidFill>
          <a:ln w="12700">
            <a:solidFill>
              <a:srgbClr val="F6E3DE"/>
            </a:solidFill>
            <a:prstDash val="solid"/>
          </a:ln>
        </p:spPr>
      </p:sp>
      <p:sp>
        <p:nvSpPr>
          <p:cNvPr id="49" name="texte_96"/>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500" b="1" dirty="0">
                <a:solidFill>
                  <a:schemeClr val="accent4"/>
                </a:solidFill>
              </a:rPr>
              <a:t>Limite : </a:t>
            </a:r>
            <a:pPr indent="0" marL="0">
              <a:buNone/>
            </a:pPr>
            <a:r>
              <a:rPr lang="en-US" sz="1500" dirty="0">
                <a:solidFill>
                  <a:schemeClr val="tx1"/>
                </a:solidFill>
              </a:rPr>
              <a:t>le jeu de test a aussi servi à choisir le modèle final : son score peut être un peu optimiste.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04 · RÉFÉRENCE ET RÉGRESSION LINÉAIRE</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Un modèle linéaire simple divise déjà l'erreur moyenne par 2,5</a:t>
            </a:r>
            <a:endParaRPr lang="en-US" sz="2800" dirty="0"/>
          </a:p>
        </p:txBody>
      </p:sp>
      <p:sp>
        <p:nvSpPr>
          <p:cNvPr id="4" name="carte_97"/>
          <p:cNvSpPr/>
          <p:nvPr/>
        </p:nvSpPr>
        <p:spPr>
          <a:xfrm>
            <a:off x="548640" y="1691640"/>
            <a:ext cx="3383280" cy="3200400"/>
          </a:xfrm>
          <a:prstGeom prst="roundRect">
            <a:avLst>
              <a:gd name="adj" fmla="val 2286"/>
            </a:avLst>
          </a:prstGeom>
          <a:solidFill>
            <a:schemeClr val="bg2"/>
          </a:solidFill>
          <a:ln w="12700">
            <a:solidFill>
              <a:schemeClr val="bg2"/>
            </a:solidFill>
            <a:prstDash val="solid"/>
          </a:ln>
        </p:spPr>
      </p:sp>
      <p:sp>
        <p:nvSpPr>
          <p:cNvPr id="5" name="texte_98"/>
          <p:cNvSpPr txBox="1"/>
          <p:nvPr/>
        </p:nvSpPr>
        <p:spPr>
          <a:xfrm>
            <a:off x="777240" y="1828800"/>
            <a:ext cx="3017520" cy="320040"/>
          </a:xfrm>
          <a:prstGeom prst="rect">
            <a:avLst/>
          </a:prstGeom>
          <a:noFill/>
          <a:ln/>
        </p:spPr>
        <p:txBody>
          <a:bodyPr wrap="square" lIns="0" tIns="0" rIns="0" bIns="0" rtlCol="0" anchor="t"/>
          <a:lstStyle/>
          <a:p>
            <a:pPr indent="0" marL="0">
              <a:buNone/>
            </a:pPr>
            <a:r>
              <a:rPr lang="en-US" sz="1600" b="1" dirty="0">
                <a:solidFill>
                  <a:schemeClr val="tx1"/>
                </a:solidFill>
              </a:rPr>
              <a:t>Référence (Dummy)</a:t>
            </a:r>
            <a:endParaRPr lang="en-US" sz="1600" dirty="0"/>
          </a:p>
        </p:txBody>
      </p:sp>
      <p:sp>
        <p:nvSpPr>
          <p:cNvPr id="6" name="texte_99"/>
          <p:cNvSpPr txBox="1"/>
          <p:nvPr/>
        </p:nvSpPr>
        <p:spPr>
          <a:xfrm>
            <a:off x="777240" y="2194560"/>
            <a:ext cx="3017520" cy="457200"/>
          </a:xfrm>
          <a:prstGeom prst="rect">
            <a:avLst/>
          </a:prstGeom>
          <a:noFill/>
          <a:ln/>
        </p:spPr>
        <p:txBody>
          <a:bodyPr wrap="square" lIns="0" tIns="0" rIns="0" bIns="0" rtlCol="0" anchor="t"/>
          <a:lstStyle/>
          <a:p>
            <a:pPr indent="0" marL="0">
              <a:buNone/>
            </a:pPr>
            <a:r>
              <a:rPr lang="en-US" sz="1300" dirty="0">
                <a:solidFill>
                  <a:schemeClr val="tx2"/>
                </a:solidFill>
              </a:rPr>
              <a:t>Prédit toujours le prix moyen : 23 801 $</a:t>
            </a:r>
            <a:endParaRPr lang="en-US" sz="1300" dirty="0"/>
          </a:p>
        </p:txBody>
      </p:sp>
      <p:sp>
        <p:nvSpPr>
          <p:cNvPr id="7" name="texte_100"/>
          <p:cNvSpPr txBox="1"/>
          <p:nvPr/>
        </p:nvSpPr>
        <p:spPr>
          <a:xfrm>
            <a:off x="777240" y="2697480"/>
            <a:ext cx="3017520" cy="685800"/>
          </a:xfrm>
          <a:prstGeom prst="rect">
            <a:avLst/>
          </a:prstGeom>
          <a:noFill/>
          <a:ln/>
        </p:spPr>
        <p:txBody>
          <a:bodyPr wrap="square" lIns="0" tIns="0" rIns="0" bIns="0" rtlCol="0" anchor="t"/>
          <a:lstStyle/>
          <a:p>
            <a:pPr indent="0" marL="0">
              <a:buNone/>
            </a:pPr>
            <a:r>
              <a:rPr lang="en-US" sz="4000" b="1" dirty="0">
                <a:solidFill>
                  <a:schemeClr val="accent6"/>
                </a:solidFill>
              </a:rPr>
              <a:t>5 741 $</a:t>
            </a:r>
            <a:endParaRPr lang="en-US" sz="4000" dirty="0"/>
          </a:p>
        </p:txBody>
      </p:sp>
      <p:sp>
        <p:nvSpPr>
          <p:cNvPr id="8" name="texte_101"/>
          <p:cNvSpPr txBox="1"/>
          <p:nvPr/>
        </p:nvSpPr>
        <p:spPr>
          <a:xfrm>
            <a:off x="777240" y="3383280"/>
            <a:ext cx="3017520" cy="274320"/>
          </a:xfrm>
          <a:prstGeom prst="rect">
            <a:avLst/>
          </a:prstGeom>
          <a:noFill/>
          <a:ln/>
        </p:spPr>
        <p:txBody>
          <a:bodyPr wrap="square" lIns="0" tIns="0" rIns="0" bIns="0" rtlCol="0" anchor="t"/>
          <a:lstStyle/>
          <a:p>
            <a:pPr indent="0" marL="0">
              <a:buNone/>
            </a:pPr>
            <a:r>
              <a:rPr lang="en-US" sz="1300" dirty="0">
                <a:solidFill>
                  <a:schemeClr val="tx2"/>
                </a:solidFill>
              </a:rPr>
              <a:t>erreur moyenne (MAE)</a:t>
            </a:r>
            <a:endParaRPr lang="en-US" sz="1300" dirty="0"/>
          </a:p>
        </p:txBody>
      </p:sp>
      <p:sp>
        <p:nvSpPr>
          <p:cNvPr id="9" name="texte_102"/>
          <p:cNvSpPr txBox="1"/>
          <p:nvPr/>
        </p:nvSpPr>
        <p:spPr>
          <a:xfrm>
            <a:off x="777240" y="3840480"/>
            <a:ext cx="3017520" cy="457200"/>
          </a:xfrm>
          <a:prstGeom prst="rect">
            <a:avLst/>
          </a:prstGeom>
          <a:noFill/>
          <a:ln/>
        </p:spPr>
        <p:txBody>
          <a:bodyPr wrap="square" lIns="0" tIns="0" rIns="0" bIns="0" rtlCol="0" anchor="t"/>
          <a:lstStyle/>
          <a:p>
            <a:pPr indent="0" marL="0">
              <a:buNone/>
            </a:pPr>
            <a:r>
              <a:rPr lang="en-US" sz="1400" dirty="0">
                <a:solidFill>
                  <a:schemeClr val="tx2"/>
                </a:solidFill>
              </a:rPr>
              <a:t>R² ≈ 0 : n'explique rien</a:t>
            </a:r>
            <a:endParaRPr lang="en-US" sz="1400" dirty="0"/>
          </a:p>
        </p:txBody>
      </p:sp>
      <p:sp>
        <p:nvSpPr>
          <p:cNvPr id="10" name="fleche"/>
          <p:cNvSpPr/>
          <p:nvPr/>
        </p:nvSpPr>
        <p:spPr>
          <a:xfrm>
            <a:off x="4069080" y="2834640"/>
            <a:ext cx="685800" cy="502920"/>
          </a:xfrm>
          <a:prstGeom prst="rightArrow">
            <a:avLst/>
          </a:prstGeom>
          <a:solidFill>
            <a:schemeClr val="accent2"/>
          </a:solidFill>
          <a:ln w="12700">
            <a:solidFill>
              <a:schemeClr val="accent2"/>
            </a:solidFill>
            <a:prstDash val="solid"/>
          </a:ln>
        </p:spPr>
      </p:sp>
      <p:sp>
        <p:nvSpPr>
          <p:cNvPr id="11" name="texte_103"/>
          <p:cNvSpPr txBox="1"/>
          <p:nvPr/>
        </p:nvSpPr>
        <p:spPr>
          <a:xfrm>
            <a:off x="3931920" y="3429000"/>
            <a:ext cx="960120" cy="320040"/>
          </a:xfrm>
          <a:prstGeom prst="rect">
            <a:avLst/>
          </a:prstGeom>
          <a:noFill/>
          <a:ln/>
        </p:spPr>
        <p:txBody>
          <a:bodyPr wrap="square" lIns="0" tIns="0" rIns="0" bIns="0" rtlCol="0" anchor="t"/>
          <a:lstStyle/>
          <a:p>
            <a:pPr algn="ctr" indent="0" marL="0">
              <a:buNone/>
            </a:pPr>
            <a:r>
              <a:rPr lang="en-US" sz="1500" b="1" dirty="0">
                <a:solidFill>
                  <a:schemeClr val="accent2"/>
                </a:solidFill>
              </a:rPr>
              <a:t>−60 %</a:t>
            </a:r>
            <a:endParaRPr lang="en-US" sz="1500" dirty="0"/>
          </a:p>
        </p:txBody>
      </p:sp>
      <p:sp>
        <p:nvSpPr>
          <p:cNvPr id="12" name="carte_104"/>
          <p:cNvSpPr/>
          <p:nvPr/>
        </p:nvSpPr>
        <p:spPr>
          <a:xfrm>
            <a:off x="4892040" y="1691640"/>
            <a:ext cx="3383280" cy="3200400"/>
          </a:xfrm>
          <a:prstGeom prst="roundRect">
            <a:avLst>
              <a:gd name="adj" fmla="val 2286"/>
            </a:avLst>
          </a:prstGeom>
          <a:solidFill>
            <a:schemeClr val="bg2"/>
          </a:solidFill>
          <a:ln w="12700">
            <a:solidFill>
              <a:schemeClr val="bg2"/>
            </a:solidFill>
            <a:prstDash val="solid"/>
          </a:ln>
        </p:spPr>
      </p:sp>
      <p:sp>
        <p:nvSpPr>
          <p:cNvPr id="13" name="texte_105"/>
          <p:cNvSpPr txBox="1"/>
          <p:nvPr/>
        </p:nvSpPr>
        <p:spPr>
          <a:xfrm>
            <a:off x="5120640" y="1828800"/>
            <a:ext cx="3017520" cy="320040"/>
          </a:xfrm>
          <a:prstGeom prst="rect">
            <a:avLst/>
          </a:prstGeom>
          <a:noFill/>
          <a:ln/>
        </p:spPr>
        <p:txBody>
          <a:bodyPr wrap="square" lIns="0" tIns="0" rIns="0" bIns="0" rtlCol="0" anchor="t"/>
          <a:lstStyle/>
          <a:p>
            <a:pPr indent="0" marL="0">
              <a:buNone/>
            </a:pPr>
            <a:r>
              <a:rPr lang="en-US" sz="1600" b="1" dirty="0">
                <a:solidFill>
                  <a:schemeClr val="tx1"/>
                </a:solidFill>
              </a:rPr>
              <a:t>Régression linéaire</a:t>
            </a:r>
            <a:endParaRPr lang="en-US" sz="1600" dirty="0"/>
          </a:p>
        </p:txBody>
      </p:sp>
      <p:sp>
        <p:nvSpPr>
          <p:cNvPr id="14" name="texte_106"/>
          <p:cNvSpPr txBox="1"/>
          <p:nvPr/>
        </p:nvSpPr>
        <p:spPr>
          <a:xfrm>
            <a:off x="5120640" y="2194560"/>
            <a:ext cx="3017520" cy="457200"/>
          </a:xfrm>
          <a:prstGeom prst="rect">
            <a:avLst/>
          </a:prstGeom>
          <a:noFill/>
          <a:ln/>
        </p:spPr>
        <p:txBody>
          <a:bodyPr wrap="square" lIns="0" tIns="0" rIns="0" bIns="0" rtlCol="0" anchor="t"/>
          <a:lstStyle/>
          <a:p>
            <a:pPr indent="0" marL="0">
              <a:buNone/>
            </a:pPr>
            <a:r>
              <a:rPr lang="en-US" sz="1300" dirty="0">
                <a:solidFill>
                  <a:schemeClr val="tx2"/>
                </a:solidFill>
              </a:rPr>
              <a:t>Prix = somme pondérée des caractéristiques</a:t>
            </a:r>
            <a:endParaRPr lang="en-US" sz="1300" dirty="0"/>
          </a:p>
        </p:txBody>
      </p:sp>
      <p:sp>
        <p:nvSpPr>
          <p:cNvPr id="15" name="texte_107"/>
          <p:cNvSpPr txBox="1"/>
          <p:nvPr/>
        </p:nvSpPr>
        <p:spPr>
          <a:xfrm>
            <a:off x="5120640" y="2697480"/>
            <a:ext cx="3017520" cy="685800"/>
          </a:xfrm>
          <a:prstGeom prst="rect">
            <a:avLst/>
          </a:prstGeom>
          <a:noFill/>
          <a:ln/>
        </p:spPr>
        <p:txBody>
          <a:bodyPr wrap="square" lIns="0" tIns="0" rIns="0" bIns="0" rtlCol="0" anchor="t"/>
          <a:lstStyle/>
          <a:p>
            <a:pPr indent="0" marL="0">
              <a:buNone/>
            </a:pPr>
            <a:r>
              <a:rPr lang="en-US" sz="4000" b="1" dirty="0">
                <a:solidFill>
                  <a:schemeClr val="accent2"/>
                </a:solidFill>
              </a:rPr>
              <a:t>2 274 $</a:t>
            </a:r>
            <a:endParaRPr lang="en-US" sz="4000" dirty="0"/>
          </a:p>
        </p:txBody>
      </p:sp>
      <p:sp>
        <p:nvSpPr>
          <p:cNvPr id="16" name="texte_108"/>
          <p:cNvSpPr txBox="1"/>
          <p:nvPr/>
        </p:nvSpPr>
        <p:spPr>
          <a:xfrm>
            <a:off x="5120640" y="3383280"/>
            <a:ext cx="3017520" cy="274320"/>
          </a:xfrm>
          <a:prstGeom prst="rect">
            <a:avLst/>
          </a:prstGeom>
          <a:noFill/>
          <a:ln/>
        </p:spPr>
        <p:txBody>
          <a:bodyPr wrap="square" lIns="0" tIns="0" rIns="0" bIns="0" rtlCol="0" anchor="t"/>
          <a:lstStyle/>
          <a:p>
            <a:pPr indent="0" marL="0">
              <a:buNone/>
            </a:pPr>
            <a:r>
              <a:rPr lang="en-US" sz="1300" dirty="0">
                <a:solidFill>
                  <a:schemeClr val="tx2"/>
                </a:solidFill>
              </a:rPr>
              <a:t>erreur moyenne (MAE)</a:t>
            </a:r>
            <a:endParaRPr lang="en-US" sz="1300" dirty="0"/>
          </a:p>
        </p:txBody>
      </p:sp>
      <p:sp>
        <p:nvSpPr>
          <p:cNvPr id="17" name="texte_109"/>
          <p:cNvSpPr txBox="1"/>
          <p:nvPr/>
        </p:nvSpPr>
        <p:spPr>
          <a:xfrm>
            <a:off x="5120640" y="3840480"/>
            <a:ext cx="3017520" cy="457200"/>
          </a:xfrm>
          <a:prstGeom prst="rect">
            <a:avLst/>
          </a:prstGeom>
          <a:noFill/>
          <a:ln/>
        </p:spPr>
        <p:txBody>
          <a:bodyPr wrap="square" lIns="0" tIns="0" rIns="0" bIns="0" rtlCol="0" anchor="t"/>
          <a:lstStyle/>
          <a:p>
            <a:pPr indent="0" marL="0">
              <a:buNone/>
            </a:pPr>
            <a:r>
              <a:rPr lang="en-US" sz="1400" dirty="0">
                <a:solidFill>
                  <a:schemeClr val="tx2"/>
                </a:solidFill>
              </a:rPr>
              <a:t>R² test 0,70 · R² CV 0,72 (notebook)</a:t>
            </a:r>
            <a:endParaRPr lang="en-US" sz="1400" dirty="0"/>
          </a:p>
        </p:txBody>
      </p:sp>
      <p:sp>
        <p:nvSpPr>
          <p:cNvPr id="18" name="texte_110"/>
          <p:cNvSpPr txBox="1"/>
          <p:nvPr/>
        </p:nvSpPr>
        <p:spPr>
          <a:xfrm>
            <a:off x="8595360" y="1691640"/>
            <a:ext cx="3017520" cy="320040"/>
          </a:xfrm>
          <a:prstGeom prst="rect">
            <a:avLst/>
          </a:prstGeom>
          <a:noFill/>
          <a:ln/>
        </p:spPr>
        <p:txBody>
          <a:bodyPr wrap="square" lIns="0" tIns="0" rIns="0" bIns="0" rtlCol="0" anchor="t"/>
          <a:lstStyle/>
          <a:p>
            <a:pPr indent="0" marL="0">
              <a:buNone/>
            </a:pPr>
            <a:r>
              <a:rPr lang="en-US" sz="1600" b="1" dirty="0">
                <a:solidFill>
                  <a:schemeClr val="accent2"/>
                </a:solidFill>
              </a:rPr>
              <a:t>Atout</a:t>
            </a:r>
            <a:endParaRPr lang="en-US" sz="1600" dirty="0"/>
          </a:p>
        </p:txBody>
      </p:sp>
      <p:sp>
        <p:nvSpPr>
          <p:cNvPr id="19" name="texte_111"/>
          <p:cNvSpPr txBox="1"/>
          <p:nvPr/>
        </p:nvSpPr>
        <p:spPr>
          <a:xfrm>
            <a:off x="8595360" y="2057400"/>
            <a:ext cx="3017520" cy="914400"/>
          </a:xfrm>
          <a:prstGeom prst="rect">
            <a:avLst/>
          </a:prstGeom>
          <a:noFill/>
          <a:ln/>
        </p:spPr>
        <p:txBody>
          <a:bodyPr wrap="square" lIns="0" tIns="0" rIns="0" bIns="0" rtlCol="0" anchor="t"/>
          <a:lstStyle/>
          <a:p>
            <a:pPr indent="0" marL="0">
              <a:buNone/>
            </a:pPr>
            <a:r>
              <a:rPr lang="en-US" sz="1400" dirty="0">
                <a:solidFill>
                  <a:schemeClr val="tx2"/>
                </a:solidFill>
              </a:rPr>
              <a:t>Simple et lisible : chaque caractéristique ajoute ou retire un montant au prix.</a:t>
            </a:r>
            <a:endParaRPr lang="en-US" sz="1400" dirty="0"/>
          </a:p>
        </p:txBody>
      </p:sp>
      <p:sp>
        <p:nvSpPr>
          <p:cNvPr id="20" name="texte_112"/>
          <p:cNvSpPr txBox="1"/>
          <p:nvPr/>
        </p:nvSpPr>
        <p:spPr>
          <a:xfrm>
            <a:off x="8595360" y="3108960"/>
            <a:ext cx="3017520" cy="320040"/>
          </a:xfrm>
          <a:prstGeom prst="rect">
            <a:avLst/>
          </a:prstGeom>
          <a:noFill/>
          <a:ln/>
        </p:spPr>
        <p:txBody>
          <a:bodyPr wrap="square" lIns="0" tIns="0" rIns="0" bIns="0" rtlCol="0" anchor="t"/>
          <a:lstStyle/>
          <a:p>
            <a:pPr indent="0" marL="0">
              <a:buNone/>
            </a:pPr>
            <a:r>
              <a:rPr lang="en-US" sz="1600" b="1" dirty="0">
                <a:solidFill>
                  <a:schemeClr val="accent4"/>
                </a:solidFill>
              </a:rPr>
              <a:t>Limites</a:t>
            </a:r>
            <a:endParaRPr lang="en-US" sz="1600" dirty="0"/>
          </a:p>
        </p:txBody>
      </p:sp>
      <p:sp>
        <p:nvSpPr>
          <p:cNvPr id="21" name="texte_113"/>
          <p:cNvSpPr txBox="1"/>
          <p:nvPr/>
        </p:nvSpPr>
        <p:spPr>
          <a:xfrm>
            <a:off x="8595360" y="3474720"/>
            <a:ext cx="3017520" cy="1371600"/>
          </a:xfrm>
          <a:prstGeom prst="rect">
            <a:avLst/>
          </a:prstGeom>
          <a:noFill/>
          <a:ln/>
        </p:spPr>
        <p:txBody>
          <a:bodyPr wrap="square" lIns="0" tIns="0" rIns="0" bIns="0" rtlCol="0" anchor="t"/>
          <a:lstStyle/>
          <a:p>
            <a:pPr indent="0" marL="0">
              <a:buNone/>
            </a:pPr>
            <a:r>
              <a:rPr lang="en-US" sz="1400" dirty="0">
                <a:solidFill>
                  <a:schemeClr val="tx2"/>
                </a:solidFill>
              </a:rPr>
              <a:t>Ne capte pas les effets combinés (ex. une marque qui se déprécie plus vite). 288 coefficients pour 1 398 véhicules : risque d'instabilité.</a:t>
            </a:r>
            <a:endParaRPr lang="en-US" sz="1400" dirty="0"/>
          </a:p>
        </p:txBody>
      </p:sp>
      <p:sp>
        <p:nvSpPr>
          <p:cNvPr id="22" name="encadre_retenir"/>
          <p:cNvSpPr/>
          <p:nvPr/>
        </p:nvSpPr>
        <p:spPr>
          <a:xfrm>
            <a:off x="548640" y="5166360"/>
            <a:ext cx="11064240" cy="1005840"/>
          </a:xfrm>
          <a:prstGeom prst="roundRect">
            <a:avLst>
              <a:gd name="adj" fmla="val 7273"/>
            </a:avLst>
          </a:prstGeom>
          <a:solidFill>
            <a:schemeClr val="bg2"/>
          </a:solidFill>
          <a:ln w="12700">
            <a:solidFill>
              <a:schemeClr val="bg2"/>
            </a:solidFill>
            <a:prstDash val="solid"/>
          </a:ln>
        </p:spPr>
      </p:sp>
      <p:sp>
        <p:nvSpPr>
          <p:cNvPr id="23" name="texte_114"/>
          <p:cNvSpPr txBox="1"/>
          <p:nvPr/>
        </p:nvSpPr>
        <p:spPr>
          <a:xfrm>
            <a:off x="777240" y="5166360"/>
            <a:ext cx="10607040" cy="1005840"/>
          </a:xfrm>
          <a:prstGeom prst="rect">
            <a:avLst/>
          </a:prstGeom>
          <a:noFill/>
          <a:ln/>
        </p:spPr>
        <p:txBody>
          <a:bodyPr wrap="square" lIns="0" tIns="0" rIns="0" bIns="0" rtlCol="0" anchor="ctr"/>
          <a:lstStyle/>
          <a:p>
            <a:pPr indent="0" marL="0">
              <a:buNone/>
            </a:pPr>
            <a:r>
              <a:rPr lang="en-US" sz="1500" b="1" dirty="0">
                <a:solidFill>
                  <a:schemeClr val="tx1"/>
                </a:solidFill>
              </a:rPr>
              <a:t>À retenir : </a:t>
            </a:r>
            <a:pPr indent="0" marL="0">
              <a:buNone/>
            </a:pPr>
            <a:r>
              <a:rPr lang="en-US" sz="1500" dirty="0">
                <a:solidFill>
                  <a:schemeClr val="tx1"/>
                </a:solidFill>
              </a:rPr>
              <a:t>les caractéristiques expliquent bien le prix. Mais le score varie selon les véhicules testés : R² de 0,52 à 0,82 d'un pli à l'autre.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05 · RÉGULARISATION : RIDGE, LASSO, ELASTICNET</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Trop de pénalité dégrade le modèle ; le gain de la régularisation reste à démontrer</a:t>
            </a:r>
            <a:endParaRPr lang="en-US" sz="2800" dirty="0"/>
          </a:p>
        </p:txBody>
      </p:sp>
      <p:sp>
        <p:nvSpPr>
          <p:cNvPr id="4" name="texte_115"/>
          <p:cNvSpPr txBox="1"/>
          <p:nvPr/>
        </p:nvSpPr>
        <p:spPr>
          <a:xfrm>
            <a:off x="548640" y="1691640"/>
            <a:ext cx="5120640" cy="365760"/>
          </a:xfrm>
          <a:prstGeom prst="rect">
            <a:avLst/>
          </a:prstGeom>
          <a:noFill/>
          <a:ln/>
        </p:spPr>
        <p:txBody>
          <a:bodyPr wrap="square" lIns="0" tIns="0" rIns="0" bIns="0" rtlCol="0" anchor="t"/>
          <a:lstStyle/>
          <a:p>
            <a:pPr indent="0" marL="0">
              <a:buNone/>
            </a:pPr>
            <a:r>
              <a:rPr lang="en-US" sz="1700" b="1" dirty="0">
                <a:solidFill>
                  <a:schemeClr val="tx1"/>
                </a:solidFill>
              </a:rPr>
              <a:t>Idée : erreur + alpha × taille des coefficients</a:t>
            </a:r>
            <a:endParaRPr lang="en-US" sz="1700" dirty="0"/>
          </a:p>
        </p:txBody>
      </p:sp>
      <p:sp>
        <p:nvSpPr>
          <p:cNvPr id="5" name="tag_116"/>
          <p:cNvSpPr/>
          <p:nvPr/>
        </p:nvSpPr>
        <p:spPr>
          <a:xfrm>
            <a:off x="548640" y="2194560"/>
            <a:ext cx="868680" cy="731520"/>
          </a:xfrm>
          <a:prstGeom prst="roundRect">
            <a:avLst>
              <a:gd name="adj" fmla="val 10000"/>
            </a:avLst>
          </a:prstGeom>
          <a:solidFill>
            <a:schemeClr val="accent2"/>
          </a:solidFill>
          <a:ln w="12700">
            <a:solidFill>
              <a:schemeClr val="accent2"/>
            </a:solidFill>
            <a:prstDash val="solid"/>
          </a:ln>
        </p:spPr>
      </p:sp>
      <p:sp>
        <p:nvSpPr>
          <p:cNvPr id="6" name="texte_117"/>
          <p:cNvSpPr txBox="1"/>
          <p:nvPr/>
        </p:nvSpPr>
        <p:spPr>
          <a:xfrm>
            <a:off x="548640" y="2194560"/>
            <a:ext cx="868680" cy="731520"/>
          </a:xfrm>
          <a:prstGeom prst="rect">
            <a:avLst/>
          </a:prstGeom>
          <a:noFill/>
          <a:ln/>
        </p:spPr>
        <p:txBody>
          <a:bodyPr wrap="square" lIns="0" tIns="0" rIns="0" bIns="0" rtlCol="0" anchor="ctr"/>
          <a:lstStyle/>
          <a:p>
            <a:pPr algn="ctr" indent="0" marL="0">
              <a:buNone/>
            </a:pPr>
            <a:r>
              <a:rPr lang="en-US" sz="1500" b="1" dirty="0">
                <a:solidFill>
                  <a:schemeClr val="bg1"/>
                </a:solidFill>
              </a:rPr>
              <a:t>L2</a:t>
            </a:r>
            <a:endParaRPr lang="en-US" sz="1500" dirty="0"/>
          </a:p>
        </p:txBody>
      </p:sp>
      <p:sp>
        <p:nvSpPr>
          <p:cNvPr id="7" name="texte_118"/>
          <p:cNvSpPr txBox="1"/>
          <p:nvPr/>
        </p:nvSpPr>
        <p:spPr>
          <a:xfrm>
            <a:off x="1600200" y="2212848"/>
            <a:ext cx="3840480" cy="274320"/>
          </a:xfrm>
          <a:prstGeom prst="rect">
            <a:avLst/>
          </a:prstGeom>
          <a:noFill/>
          <a:ln/>
        </p:spPr>
        <p:txBody>
          <a:bodyPr wrap="square" lIns="0" tIns="0" rIns="0" bIns="0" rtlCol="0" anchor="t"/>
          <a:lstStyle/>
          <a:p>
            <a:pPr indent="0" marL="0">
              <a:buNone/>
            </a:pPr>
            <a:r>
              <a:rPr lang="en-US" sz="1500" b="1" dirty="0">
                <a:solidFill>
                  <a:schemeClr val="tx1"/>
                </a:solidFill>
              </a:rPr>
              <a:t>Ridge</a:t>
            </a:r>
            <a:endParaRPr lang="en-US" sz="1500" dirty="0"/>
          </a:p>
        </p:txBody>
      </p:sp>
      <p:sp>
        <p:nvSpPr>
          <p:cNvPr id="8" name="texte_119"/>
          <p:cNvSpPr txBox="1"/>
          <p:nvPr/>
        </p:nvSpPr>
        <p:spPr>
          <a:xfrm>
            <a:off x="1600200" y="2505456"/>
            <a:ext cx="3886200" cy="457200"/>
          </a:xfrm>
          <a:prstGeom prst="rect">
            <a:avLst/>
          </a:prstGeom>
          <a:noFill/>
          <a:ln/>
        </p:spPr>
        <p:txBody>
          <a:bodyPr wrap="square" lIns="0" tIns="0" rIns="0" bIns="0" rtlCol="0" anchor="t"/>
          <a:lstStyle/>
          <a:p>
            <a:pPr indent="0" marL="0">
              <a:buNone/>
            </a:pPr>
            <a:r>
              <a:rPr lang="en-US" sz="1300" dirty="0">
                <a:solidFill>
                  <a:schemeClr val="tx2"/>
                </a:solidFill>
              </a:rPr>
              <a:t>Réduit tous les coefficients : plus stable sur les modèles rares.</a:t>
            </a:r>
            <a:endParaRPr lang="en-US" sz="1300" dirty="0"/>
          </a:p>
        </p:txBody>
      </p:sp>
      <p:sp>
        <p:nvSpPr>
          <p:cNvPr id="9" name="tag_120"/>
          <p:cNvSpPr/>
          <p:nvPr/>
        </p:nvSpPr>
        <p:spPr>
          <a:xfrm>
            <a:off x="548640" y="3108960"/>
            <a:ext cx="868680" cy="731520"/>
          </a:xfrm>
          <a:prstGeom prst="roundRect">
            <a:avLst>
              <a:gd name="adj" fmla="val 10000"/>
            </a:avLst>
          </a:prstGeom>
          <a:solidFill>
            <a:schemeClr val="accent2"/>
          </a:solidFill>
          <a:ln w="12700">
            <a:solidFill>
              <a:schemeClr val="accent2"/>
            </a:solidFill>
            <a:prstDash val="solid"/>
          </a:ln>
        </p:spPr>
      </p:sp>
      <p:sp>
        <p:nvSpPr>
          <p:cNvPr id="10" name="texte_121"/>
          <p:cNvSpPr txBox="1"/>
          <p:nvPr/>
        </p:nvSpPr>
        <p:spPr>
          <a:xfrm>
            <a:off x="548640" y="3108960"/>
            <a:ext cx="868680" cy="731520"/>
          </a:xfrm>
          <a:prstGeom prst="rect">
            <a:avLst/>
          </a:prstGeom>
          <a:noFill/>
          <a:ln/>
        </p:spPr>
        <p:txBody>
          <a:bodyPr wrap="square" lIns="0" tIns="0" rIns="0" bIns="0" rtlCol="0" anchor="ctr"/>
          <a:lstStyle/>
          <a:p>
            <a:pPr algn="ctr" indent="0" marL="0">
              <a:buNone/>
            </a:pPr>
            <a:r>
              <a:rPr lang="en-US" sz="1500" b="1" dirty="0">
                <a:solidFill>
                  <a:schemeClr val="bg1"/>
                </a:solidFill>
              </a:rPr>
              <a:t>L1</a:t>
            </a:r>
            <a:endParaRPr lang="en-US" sz="1500" dirty="0"/>
          </a:p>
        </p:txBody>
      </p:sp>
      <p:sp>
        <p:nvSpPr>
          <p:cNvPr id="11" name="texte_122"/>
          <p:cNvSpPr txBox="1"/>
          <p:nvPr/>
        </p:nvSpPr>
        <p:spPr>
          <a:xfrm>
            <a:off x="1600200" y="3127248"/>
            <a:ext cx="3840480" cy="274320"/>
          </a:xfrm>
          <a:prstGeom prst="rect">
            <a:avLst/>
          </a:prstGeom>
          <a:noFill/>
          <a:ln/>
        </p:spPr>
        <p:txBody>
          <a:bodyPr wrap="square" lIns="0" tIns="0" rIns="0" bIns="0" rtlCol="0" anchor="t"/>
          <a:lstStyle/>
          <a:p>
            <a:pPr indent="0" marL="0">
              <a:buNone/>
            </a:pPr>
            <a:r>
              <a:rPr lang="en-US" sz="1500" b="1" dirty="0">
                <a:solidFill>
                  <a:schemeClr val="tx1"/>
                </a:solidFill>
              </a:rPr>
              <a:t>Lasso</a:t>
            </a:r>
            <a:endParaRPr lang="en-US" sz="1500" dirty="0"/>
          </a:p>
        </p:txBody>
      </p:sp>
      <p:sp>
        <p:nvSpPr>
          <p:cNvPr id="12" name="texte_123"/>
          <p:cNvSpPr txBox="1"/>
          <p:nvPr/>
        </p:nvSpPr>
        <p:spPr>
          <a:xfrm>
            <a:off x="1600200" y="3419856"/>
            <a:ext cx="3886200" cy="457200"/>
          </a:xfrm>
          <a:prstGeom prst="rect">
            <a:avLst/>
          </a:prstGeom>
          <a:noFill/>
          <a:ln/>
        </p:spPr>
        <p:txBody>
          <a:bodyPr wrap="square" lIns="0" tIns="0" rIns="0" bIns="0" rtlCol="0" anchor="t"/>
          <a:lstStyle/>
          <a:p>
            <a:pPr indent="0" marL="0">
              <a:buNone/>
            </a:pPr>
            <a:r>
              <a:rPr lang="en-US" sz="1300" dirty="0">
                <a:solidFill>
                  <a:schemeClr val="tx2"/>
                </a:solidFill>
              </a:rPr>
              <a:t>Peut mettre des coefficients à zéro : ne garde que l'essentiel.</a:t>
            </a:r>
            <a:endParaRPr lang="en-US" sz="1300" dirty="0"/>
          </a:p>
        </p:txBody>
      </p:sp>
      <p:sp>
        <p:nvSpPr>
          <p:cNvPr id="13" name="tag_124"/>
          <p:cNvSpPr/>
          <p:nvPr/>
        </p:nvSpPr>
        <p:spPr>
          <a:xfrm>
            <a:off x="548640" y="4023360"/>
            <a:ext cx="868680" cy="731520"/>
          </a:xfrm>
          <a:prstGeom prst="roundRect">
            <a:avLst>
              <a:gd name="adj" fmla="val 10000"/>
            </a:avLst>
          </a:prstGeom>
          <a:solidFill>
            <a:schemeClr val="accent1"/>
          </a:solidFill>
          <a:ln w="12700">
            <a:solidFill>
              <a:schemeClr val="accent1"/>
            </a:solidFill>
            <a:prstDash val="solid"/>
          </a:ln>
        </p:spPr>
      </p:sp>
      <p:sp>
        <p:nvSpPr>
          <p:cNvPr id="14" name="texte_125"/>
          <p:cNvSpPr txBox="1"/>
          <p:nvPr/>
        </p:nvSpPr>
        <p:spPr>
          <a:xfrm>
            <a:off x="548640" y="4023360"/>
            <a:ext cx="868680" cy="731520"/>
          </a:xfrm>
          <a:prstGeom prst="rect">
            <a:avLst/>
          </a:prstGeom>
          <a:noFill/>
          <a:ln/>
        </p:spPr>
        <p:txBody>
          <a:bodyPr wrap="square" lIns="0" tIns="0" rIns="0" bIns="0" rtlCol="0" anchor="ctr"/>
          <a:lstStyle/>
          <a:p>
            <a:pPr algn="ctr" indent="0" marL="0">
              <a:buNone/>
            </a:pPr>
            <a:r>
              <a:rPr lang="en-US" sz="1500" b="1" dirty="0">
                <a:solidFill>
                  <a:schemeClr val="tx1"/>
                </a:solidFill>
              </a:rPr>
              <a:t>L1+L2</a:t>
            </a:r>
            <a:endParaRPr lang="en-US" sz="1500" dirty="0"/>
          </a:p>
        </p:txBody>
      </p:sp>
      <p:sp>
        <p:nvSpPr>
          <p:cNvPr id="15" name="texte_126"/>
          <p:cNvSpPr txBox="1"/>
          <p:nvPr/>
        </p:nvSpPr>
        <p:spPr>
          <a:xfrm>
            <a:off x="1600200" y="4041648"/>
            <a:ext cx="3840480" cy="274320"/>
          </a:xfrm>
          <a:prstGeom prst="rect">
            <a:avLst/>
          </a:prstGeom>
          <a:noFill/>
          <a:ln/>
        </p:spPr>
        <p:txBody>
          <a:bodyPr wrap="square" lIns="0" tIns="0" rIns="0" bIns="0" rtlCol="0" anchor="t"/>
          <a:lstStyle/>
          <a:p>
            <a:pPr indent="0" marL="0">
              <a:buNone/>
            </a:pPr>
            <a:r>
              <a:rPr lang="en-US" sz="1500" b="1" dirty="0">
                <a:solidFill>
                  <a:schemeClr val="tx1"/>
                </a:solidFill>
              </a:rPr>
              <a:t>ElasticNet</a:t>
            </a:r>
            <a:endParaRPr lang="en-US" sz="1500" dirty="0"/>
          </a:p>
        </p:txBody>
      </p:sp>
      <p:sp>
        <p:nvSpPr>
          <p:cNvPr id="16" name="texte_127"/>
          <p:cNvSpPr txBox="1"/>
          <p:nvPr/>
        </p:nvSpPr>
        <p:spPr>
          <a:xfrm>
            <a:off x="1600200" y="4334256"/>
            <a:ext cx="3886200" cy="457200"/>
          </a:xfrm>
          <a:prstGeom prst="rect">
            <a:avLst/>
          </a:prstGeom>
          <a:noFill/>
          <a:ln/>
        </p:spPr>
        <p:txBody>
          <a:bodyPr wrap="square" lIns="0" tIns="0" rIns="0" bIns="0" rtlCol="0" anchor="t"/>
          <a:lstStyle/>
          <a:p>
            <a:pPr indent="0" marL="0">
              <a:buNone/>
            </a:pPr>
            <a:r>
              <a:rPr lang="en-US" sz="1300" dirty="0">
                <a:solidFill>
                  <a:schemeClr val="tx2"/>
                </a:solidFill>
              </a:rPr>
              <a:t>Mélange des deux ; le dosage est choisi automatiquement.</a:t>
            </a:r>
            <a:endParaRPr lang="en-US" sz="1300" dirty="0"/>
          </a:p>
        </p:txBody>
      </p:sp>
      <p:sp>
        <p:nvSpPr>
          <p:cNvPr id="17" name="encadre_verification"/>
          <p:cNvSpPr/>
          <p:nvPr/>
        </p:nvSpPr>
        <p:spPr>
          <a:xfrm>
            <a:off x="548640" y="4983480"/>
            <a:ext cx="4937760" cy="1234440"/>
          </a:xfrm>
          <a:prstGeom prst="roundRect">
            <a:avLst>
              <a:gd name="adj" fmla="val 5926"/>
            </a:avLst>
          </a:prstGeom>
          <a:solidFill>
            <a:srgbClr val="FBF0D9"/>
          </a:solidFill>
          <a:ln w="12700">
            <a:solidFill>
              <a:srgbClr val="FBF0D9"/>
            </a:solidFill>
            <a:prstDash val="solid"/>
          </a:ln>
        </p:spPr>
      </p:sp>
      <p:sp>
        <p:nvSpPr>
          <p:cNvPr id="18" name="texte_128"/>
          <p:cNvSpPr txBox="1"/>
          <p:nvPr/>
        </p:nvSpPr>
        <p:spPr>
          <a:xfrm>
            <a:off x="731520" y="5029200"/>
            <a:ext cx="4572000" cy="1143000"/>
          </a:xfrm>
          <a:prstGeom prst="rect">
            <a:avLst/>
          </a:prstGeom>
          <a:noFill/>
          <a:ln/>
        </p:spPr>
        <p:txBody>
          <a:bodyPr wrap="square" lIns="0" tIns="0" rIns="0" bIns="0" rtlCol="0" anchor="ctr"/>
          <a:lstStyle/>
          <a:p>
            <a:pPr indent="0" marL="0">
              <a:buNone/>
            </a:pPr>
            <a:r>
              <a:rPr lang="en-US" sz="1400" b="1" dirty="0">
                <a:solidFill>
                  <a:schemeClr val="tx1"/>
                </a:solidFill>
              </a:rPr>
              <a:t>Vérification reproduite* : </a:t>
            </a:r>
            <a:pPr indent="0" marL="0">
              <a:buNone/>
            </a:pPr>
            <a:r>
              <a:rPr lang="en-US" sz="1400" dirty="0">
                <a:solidFill>
                  <a:schemeClr val="tx1"/>
                </a:solidFill>
              </a:rPr>
              <a:t>résolue exactement, la régression linéaire atteint 1 690 $ de MAE et 0,765 de R² CV, au niveau des modèles régularisés.</a:t>
            </a:r>
            <a:endParaRPr lang="en-US" sz="1400" dirty="0"/>
          </a:p>
        </p:txBody>
      </p:sp>
      <p:graphicFrame>
        <p:nvGraphicFramePr>
          <p:cNvPr id="19" name="graphique_regularisation" descr=""/>
          <p:cNvGraphicFramePr/>
          <p:nvPr/>
        </p:nvGraphicFramePr>
        <p:xfrm>
          <a:off x="5852160" y="1645920"/>
          <a:ext cx="5760720" cy="4160520"/>
        </p:xfrm>
        <a:graphic xmlns:a="http://schemas.openxmlformats.org/drawingml/2006/main">
          <a:graphicData uri="http://schemas.openxmlformats.org/drawingml/2006/chart">
            <c:chart xmlns:c="http://schemas.openxmlformats.org/drawingml/2006/chart" r:id="rId1"/>
          </a:graphicData>
        </a:graphic>
      </p:graphicFrame>
      <p:sp>
        <p:nvSpPr>
          <p:cNvPr id="20" name="texte_129"/>
          <p:cNvSpPr txBox="1"/>
          <p:nvPr/>
        </p:nvSpPr>
        <p:spPr>
          <a:xfrm>
            <a:off x="5852160" y="5852160"/>
            <a:ext cx="5760720" cy="365760"/>
          </a:xfrm>
          <a:prstGeom prst="rect">
            <a:avLst/>
          </a:prstGeom>
          <a:noFill/>
          <a:ln/>
        </p:spPr>
        <p:txBody>
          <a:bodyPr wrap="square" lIns="0" tIns="0" rIns="0" bIns="0" rtlCol="0" anchor="t"/>
          <a:lstStyle/>
          <a:p>
            <a:pPr indent="0" marL="0">
              <a:buNone/>
            </a:pPr>
            <a:r>
              <a:rPr lang="en-US" sz="1100" i="1" dirty="0">
                <a:solidFill>
                  <a:schemeClr val="accent6"/>
                </a:solidFill>
              </a:rPr>
              <a:t>* Reproduit pour la présentation (mêmes données, même découpage), pas encore dans le notebook ni MLflow.</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06 · ARBRES ET ENSEMBLES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L'arbre sans contrainte apprend par cœur ; les ensembles ne battent pas les linéaires au test</a:t>
            </a:r>
            <a:endParaRPr lang="en-US" sz="2800" dirty="0"/>
          </a:p>
        </p:txBody>
      </p:sp>
      <p:graphicFrame>
        <p:nvGraphicFramePr>
          <p:cNvPr id="4" name="graphique_arbre" descr=""/>
          <p:cNvGraphicFramePr/>
          <p:nvPr/>
        </p:nvGraphicFramePr>
        <p:xfrm>
          <a:off x="548640" y="164592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5" name="texte_130"/>
          <p:cNvSpPr txBox="1"/>
          <p:nvPr/>
        </p:nvSpPr>
        <p:spPr>
          <a:xfrm>
            <a:off x="548640" y="5669280"/>
            <a:ext cx="5120640" cy="548640"/>
          </a:xfrm>
          <a:prstGeom prst="rect">
            <a:avLst/>
          </a:prstGeom>
          <a:noFill/>
          <a:ln/>
        </p:spPr>
        <p:txBody>
          <a:bodyPr wrap="square" lIns="0" tIns="0" rIns="0" bIns="0" rtlCol="0" anchor="t"/>
          <a:lstStyle/>
          <a:p>
            <a:pPr indent="0" marL="0">
              <a:buNone/>
            </a:pPr>
            <a:r>
              <a:rPr lang="en-US" sz="1300" dirty="0">
                <a:solidFill>
                  <a:schemeClr val="tx2"/>
                </a:solidFill>
              </a:rPr>
              <a:t>Arbre sans contrainte (1 véhicule min. par feuille) : R² 1,00 en entraînement, 0,51 au test → overfitting.</a:t>
            </a:r>
            <a:endParaRPr lang="en-US" sz="1300" dirty="0"/>
          </a:p>
        </p:txBody>
      </p:sp>
      <p:sp>
        <p:nvSpPr>
          <p:cNvPr id="6" name="carte_131"/>
          <p:cNvSpPr/>
          <p:nvPr/>
        </p:nvSpPr>
        <p:spPr>
          <a:xfrm>
            <a:off x="6035040" y="1645920"/>
            <a:ext cx="5577840" cy="2103120"/>
          </a:xfrm>
          <a:prstGeom prst="roundRect">
            <a:avLst>
              <a:gd name="adj" fmla="val 3478"/>
            </a:avLst>
          </a:prstGeom>
          <a:solidFill>
            <a:schemeClr val="bg2"/>
          </a:solidFill>
          <a:ln w="12700">
            <a:solidFill>
              <a:schemeClr val="bg2"/>
            </a:solidFill>
            <a:prstDash val="solid"/>
          </a:ln>
        </p:spPr>
      </p:sp>
      <p:sp>
        <p:nvSpPr>
          <p:cNvPr id="7" name="texte_132"/>
          <p:cNvSpPr txBox="1"/>
          <p:nvPr/>
        </p:nvSpPr>
        <p:spPr>
          <a:xfrm>
            <a:off x="6263640" y="1783080"/>
            <a:ext cx="5120640" cy="320040"/>
          </a:xfrm>
          <a:prstGeom prst="rect">
            <a:avLst/>
          </a:prstGeom>
          <a:noFill/>
          <a:ln/>
        </p:spPr>
        <p:txBody>
          <a:bodyPr wrap="square" lIns="0" tIns="0" rIns="0" bIns="0" rtlCol="0" anchor="t"/>
          <a:lstStyle/>
          <a:p>
            <a:pPr indent="0" marL="0">
              <a:buNone/>
            </a:pPr>
            <a:r>
              <a:rPr lang="en-US" sz="1700" b="1" dirty="0">
                <a:solidFill>
                  <a:schemeClr val="accent2"/>
                </a:solidFill>
              </a:rPr>
              <a:t>Bagging (parallèle) · Random Forest</a:t>
            </a:r>
            <a:endParaRPr lang="en-US" sz="1700" dirty="0"/>
          </a:p>
        </p:txBody>
      </p:sp>
      <p:sp>
        <p:nvSpPr>
          <p:cNvPr id="8" name="texte_133"/>
          <p:cNvSpPr txBox="1"/>
          <p:nvPr/>
        </p:nvSpPr>
        <p:spPr>
          <a:xfrm>
            <a:off x="6263640" y="2148840"/>
            <a:ext cx="5120640" cy="548640"/>
          </a:xfrm>
          <a:prstGeom prst="rect">
            <a:avLst/>
          </a:prstGeom>
          <a:noFill/>
          <a:ln/>
        </p:spPr>
        <p:txBody>
          <a:bodyPr wrap="square" lIns="0" tIns="0" rIns="0" bIns="0" rtlCol="0" anchor="t"/>
          <a:lstStyle/>
          <a:p>
            <a:pPr indent="0" marL="0">
              <a:buNone/>
            </a:pPr>
            <a:r>
              <a:rPr lang="en-US" sz="1400" dirty="0">
                <a:solidFill>
                  <a:schemeClr val="tx2"/>
                </a:solidFill>
              </a:rPr>
              <a:t>Arbres entraînés sur des échantillons bootstrap, prédictions moyennées → réduit la variance.</a:t>
            </a:r>
            <a:endParaRPr lang="en-US" sz="1400" dirty="0"/>
          </a:p>
        </p:txBody>
      </p:sp>
      <p:sp>
        <p:nvSpPr>
          <p:cNvPr id="9" name="texte_134"/>
          <p:cNvSpPr txBox="1"/>
          <p:nvPr/>
        </p:nvSpPr>
        <p:spPr>
          <a:xfrm>
            <a:off x="6263640" y="2788920"/>
            <a:ext cx="5120640" cy="320040"/>
          </a:xfrm>
          <a:prstGeom prst="rect">
            <a:avLst/>
          </a:prstGeom>
          <a:noFill/>
          <a:ln/>
        </p:spPr>
        <p:txBody>
          <a:bodyPr wrap="square" lIns="0" tIns="0" rIns="0" bIns="0" rtlCol="0" anchor="t"/>
          <a:lstStyle/>
          <a:p>
            <a:pPr indent="0" marL="0">
              <a:buNone/>
            </a:pPr>
            <a:r>
              <a:rPr lang="en-US" sz="1400" b="1" dirty="0">
                <a:solidFill>
                  <a:schemeClr val="tx1"/>
                </a:solidFill>
              </a:rPr>
              <a:t>Réglages : </a:t>
            </a:r>
            <a:pPr indent="0" marL="0">
              <a:buNone/>
            </a:pPr>
            <a:r>
              <a:rPr lang="en-US" sz="1400" dirty="0">
                <a:solidFill>
                  <a:schemeClr val="tx1"/>
                </a:solidFill>
              </a:rPr>
              <a:t>100 ou 200 arbres : même résultat</a:t>
            </a:r>
            <a:endParaRPr lang="en-US" sz="1400" dirty="0"/>
          </a:p>
        </p:txBody>
      </p:sp>
      <p:sp>
        <p:nvSpPr>
          <p:cNvPr id="10" name="texte_135"/>
          <p:cNvSpPr txBox="1"/>
          <p:nvPr/>
        </p:nvSpPr>
        <p:spPr>
          <a:xfrm>
            <a:off x="6263640" y="3182112"/>
            <a:ext cx="5120640" cy="411480"/>
          </a:xfrm>
          <a:prstGeom prst="rect">
            <a:avLst/>
          </a:prstGeom>
          <a:noFill/>
          <a:ln/>
        </p:spPr>
        <p:txBody>
          <a:bodyPr wrap="square" lIns="0" tIns="0" rIns="0" bIns="0" rtlCol="0" anchor="t"/>
          <a:lstStyle/>
          <a:p>
            <a:pPr indent="0" marL="0">
              <a:buNone/>
            </a:pPr>
            <a:r>
              <a:rPr lang="en-US" sz="1400" b="1" dirty="0">
                <a:solidFill>
                  <a:schemeClr val="tx1"/>
                </a:solidFill>
              </a:rPr>
              <a:t>Résultats : </a:t>
            </a:r>
            <a:pPr indent="0" marL="0">
              <a:buNone/>
            </a:pPr>
            <a:r>
              <a:rPr lang="en-US" sz="1400" dirty="0">
                <a:solidFill>
                  <a:schemeClr val="tx1"/>
                </a:solidFill>
              </a:rPr>
              <a:t>R² test 0,66 · R² CV 0,71</a:t>
            </a:r>
            <a:endParaRPr lang="en-US" sz="1400" dirty="0"/>
          </a:p>
        </p:txBody>
      </p:sp>
      <p:sp>
        <p:nvSpPr>
          <p:cNvPr id="11" name="carte_136"/>
          <p:cNvSpPr/>
          <p:nvPr/>
        </p:nvSpPr>
        <p:spPr>
          <a:xfrm>
            <a:off x="6035040" y="3931920"/>
            <a:ext cx="5577840" cy="2103120"/>
          </a:xfrm>
          <a:prstGeom prst="roundRect">
            <a:avLst>
              <a:gd name="adj" fmla="val 3478"/>
            </a:avLst>
          </a:prstGeom>
          <a:solidFill>
            <a:schemeClr val="bg2"/>
          </a:solidFill>
          <a:ln w="12700">
            <a:solidFill>
              <a:schemeClr val="bg2"/>
            </a:solidFill>
            <a:prstDash val="solid"/>
          </a:ln>
        </p:spPr>
      </p:sp>
      <p:sp>
        <p:nvSpPr>
          <p:cNvPr id="12" name="texte_137"/>
          <p:cNvSpPr txBox="1"/>
          <p:nvPr/>
        </p:nvSpPr>
        <p:spPr>
          <a:xfrm>
            <a:off x="6263640" y="4069080"/>
            <a:ext cx="5120640" cy="320040"/>
          </a:xfrm>
          <a:prstGeom prst="rect">
            <a:avLst/>
          </a:prstGeom>
          <a:noFill/>
          <a:ln/>
        </p:spPr>
        <p:txBody>
          <a:bodyPr wrap="square" lIns="0" tIns="0" rIns="0" bIns="0" rtlCol="0" anchor="t"/>
          <a:lstStyle/>
          <a:p>
            <a:pPr indent="0" marL="0">
              <a:buNone/>
            </a:pPr>
            <a:r>
              <a:rPr lang="en-US" sz="1700" b="1" dirty="0">
                <a:solidFill>
                  <a:schemeClr val="accent2"/>
                </a:solidFill>
              </a:rPr>
              <a:t>Boosting (séquentiel) · XGBoost</a:t>
            </a:r>
            <a:endParaRPr lang="en-US" sz="1700" dirty="0"/>
          </a:p>
        </p:txBody>
      </p:sp>
      <p:sp>
        <p:nvSpPr>
          <p:cNvPr id="13" name="texte_138"/>
          <p:cNvSpPr txBox="1"/>
          <p:nvPr/>
        </p:nvSpPr>
        <p:spPr>
          <a:xfrm>
            <a:off x="6263640" y="4434840"/>
            <a:ext cx="5120640" cy="548640"/>
          </a:xfrm>
          <a:prstGeom prst="rect">
            <a:avLst/>
          </a:prstGeom>
          <a:noFill/>
          <a:ln/>
        </p:spPr>
        <p:txBody>
          <a:bodyPr wrap="square" lIns="0" tIns="0" rIns="0" bIns="0" rtlCol="0" anchor="t"/>
          <a:lstStyle/>
          <a:p>
            <a:pPr indent="0" marL="0">
              <a:buNone/>
            </a:pPr>
            <a:r>
              <a:rPr lang="en-US" sz="1400" dirty="0">
                <a:solidFill>
                  <a:schemeClr val="tx2"/>
                </a:solidFill>
              </a:rPr>
              <a:t>Arbres ajoutés un par un ; chacun corrige les erreurs des précédents → réduit le biais.</a:t>
            </a:r>
            <a:endParaRPr lang="en-US" sz="1400" dirty="0"/>
          </a:p>
        </p:txBody>
      </p:sp>
      <p:sp>
        <p:nvSpPr>
          <p:cNvPr id="14" name="texte_139"/>
          <p:cNvSpPr txBox="1"/>
          <p:nvPr/>
        </p:nvSpPr>
        <p:spPr>
          <a:xfrm>
            <a:off x="6263640" y="5074920"/>
            <a:ext cx="5120640" cy="320040"/>
          </a:xfrm>
          <a:prstGeom prst="rect">
            <a:avLst/>
          </a:prstGeom>
          <a:noFill/>
          <a:ln/>
        </p:spPr>
        <p:txBody>
          <a:bodyPr wrap="square" lIns="0" tIns="0" rIns="0" bIns="0" rtlCol="0" anchor="t"/>
          <a:lstStyle/>
          <a:p>
            <a:pPr indent="0" marL="0">
              <a:buNone/>
            </a:pPr>
            <a:r>
              <a:rPr lang="en-US" sz="1400" b="1" dirty="0">
                <a:solidFill>
                  <a:schemeClr val="tx1"/>
                </a:solidFill>
              </a:rPr>
              <a:t>Réglages : </a:t>
            </a:r>
            <a:pPr indent="0" marL="0">
              <a:buNone/>
            </a:pPr>
            <a:r>
              <a:rPr lang="en-US" sz="1400" dirty="0">
                <a:solidFill>
                  <a:schemeClr val="tx1"/>
                </a:solidFill>
              </a:rPr>
              <a:t>100 arbres, profondeur 3 (6 réglages essayés)</a:t>
            </a:r>
            <a:endParaRPr lang="en-US" sz="1400" dirty="0"/>
          </a:p>
        </p:txBody>
      </p:sp>
      <p:sp>
        <p:nvSpPr>
          <p:cNvPr id="15" name="texte_140"/>
          <p:cNvSpPr txBox="1"/>
          <p:nvPr/>
        </p:nvSpPr>
        <p:spPr>
          <a:xfrm>
            <a:off x="6263640" y="5468112"/>
            <a:ext cx="5120640" cy="411480"/>
          </a:xfrm>
          <a:prstGeom prst="rect">
            <a:avLst/>
          </a:prstGeom>
          <a:noFill/>
          <a:ln/>
        </p:spPr>
        <p:txBody>
          <a:bodyPr wrap="square" lIns="0" tIns="0" rIns="0" bIns="0" rtlCol="0" anchor="t"/>
          <a:lstStyle/>
          <a:p>
            <a:pPr indent="0" marL="0">
              <a:buNone/>
            </a:pPr>
            <a:r>
              <a:rPr lang="en-US" sz="1400" b="1" dirty="0">
                <a:solidFill>
                  <a:schemeClr val="tx1"/>
                </a:solidFill>
              </a:rPr>
              <a:t>Résultats : </a:t>
            </a:r>
            <a:pPr indent="0" marL="0">
              <a:buNone/>
            </a:pPr>
            <a:r>
              <a:rPr lang="en-US" sz="1400" dirty="0">
                <a:solidFill>
                  <a:schemeClr val="tx1"/>
                </a:solidFill>
              </a:rPr>
              <a:t>R² test 0,67 · R² CV 0,77, le plus régulier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07 · COMPARAISON</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Les trois modèles régularisés sont en tête, au coude-à-coude</a:t>
            </a:r>
            <a:endParaRPr lang="en-US" sz="2800" dirty="0"/>
          </a:p>
        </p:txBody>
      </p:sp>
      <p:graphicFrame>
        <p:nvGraphicFramePr>
          <p:cNvPr id="9" name="tableau_comparaison"/>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2468880"/>
                <a:gridCol w="1188720"/>
                <a:gridCol w="1188720"/>
                <a:gridCol w="1188720"/>
                <a:gridCol w="1188720"/>
              </a:tblGrid>
              <a:tr h="411480">
                <a:tc>
                  <a:txBody>
                    <a:bodyPr/>
                    <a:lstStyle/>
                    <a:p>
                      <a:pPr algn="l" indent="0" marL="0">
                        <a:buNone/>
                      </a:pPr>
                      <a:r>
                        <a:rPr lang="en-US" sz="1300" b="1" dirty="0">
                          <a:solidFill>
                            <a:schemeClr val="bg1"/>
                          </a:solidFill>
                        </a:rPr>
                        <a:t>Modèle</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MAE ($)</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RMSE ($)</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R² test</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R² CV</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411480">
                <a:tc>
                  <a:txBody>
                    <a:bodyPr/>
                    <a:lstStyle/>
                    <a:p>
                      <a:pPr algn="l" indent="0" marL="0">
                        <a:buNone/>
                      </a:pPr>
                      <a:r>
                        <a:rPr lang="en-US" sz="1300" b="1" dirty="0">
                          <a:solidFill>
                            <a:schemeClr val="tx1"/>
                          </a:solidFill>
                        </a:rPr>
                        <a:t>Référence (Dummy)</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5 741</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7 872</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−0,02</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Régression linéaire</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2 274</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4 243</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0,70</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0,72</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RidgeCV</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1 832</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3 777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0,76</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Lasso α = 1</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1 726</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3 848</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0,76</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0,75</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ElasticNetCV ★</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c>
                  <a:txBody>
                    <a:bodyPr/>
                    <a:lstStyle/>
                    <a:p>
                      <a:pPr algn="r" indent="0" marL="0">
                        <a:buNone/>
                      </a:pPr>
                      <a:r>
                        <a:rPr lang="en-US" sz="1300" b="1" dirty="0">
                          <a:solidFill>
                            <a:schemeClr val="tx1"/>
                          </a:solidFill>
                        </a:rPr>
                        <a:t>1 800</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c>
                  <a:txBody>
                    <a:bodyPr/>
                    <a:lstStyle/>
                    <a:p>
                      <a:pPr algn="r" indent="0" marL="0">
                        <a:buNone/>
                      </a:pPr>
                      <a:r>
                        <a:rPr lang="en-US" sz="1300" b="1" dirty="0">
                          <a:solidFill>
                            <a:schemeClr val="tx1"/>
                          </a:solidFill>
                        </a:rPr>
                        <a:t>3 751</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c>
                  <a:txBody>
                    <a:bodyPr/>
                    <a:lstStyle/>
                    <a:p>
                      <a:pPr algn="r" indent="0" marL="0">
                        <a:buNone/>
                      </a:pPr>
                      <a:r>
                        <a:rPr lang="en-US" sz="1300" b="1" dirty="0">
                          <a:solidFill>
                            <a:schemeClr val="tx1"/>
                          </a:solidFill>
                        </a:rPr>
                        <a:t>0,77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c>
                  <a:txBody>
                    <a:bodyPr/>
                    <a:lstStyle/>
                    <a:p>
                      <a:pPr algn="r" indent="0" marL="0">
                        <a:buNone/>
                      </a:pPr>
                      <a:r>
                        <a:rPr lang="en-US" sz="1300" b="1" dirty="0">
                          <a:solidFill>
                            <a:schemeClr val="tx1"/>
                          </a:solidFill>
                        </a:rPr>
                        <a:t>0,77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r>
              <a:tr h="411480">
                <a:tc>
                  <a:txBody>
                    <a:bodyPr/>
                    <a:lstStyle/>
                    <a:p>
                      <a:pPr algn="l" indent="0" marL="0">
                        <a:buNone/>
                      </a:pPr>
                      <a:r>
                        <a:rPr lang="en-US" sz="1300" b="1" dirty="0">
                          <a:solidFill>
                            <a:schemeClr val="tx1"/>
                          </a:solidFill>
                        </a:rPr>
                        <a:t>Arbre de décision</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2 582</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4 653</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0,64</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0,45</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Random Forest</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1 973</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4 537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0,66</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0,71</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rPr>
                        <a:t>XGBoost</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2 109</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4 503</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0,67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0,77</a:t>
                      </a:r>
                      <a:endParaRPr lang="en-US" sz="13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bl>
          </a:graphicData>
        </a:graphic>
      </p:graphicFrame>
      <p:sp>
        <p:nvSpPr>
          <p:cNvPr id="5" name="texte_141"/>
          <p:cNvSpPr txBox="1"/>
          <p:nvPr/>
        </p:nvSpPr>
        <p:spPr>
          <a:xfrm>
            <a:off x="548640" y="5486400"/>
            <a:ext cx="7223760" cy="365760"/>
          </a:xfrm>
          <a:prstGeom prst="rect">
            <a:avLst/>
          </a:prstGeom>
          <a:noFill/>
          <a:ln/>
        </p:spPr>
        <p:txBody>
          <a:bodyPr wrap="square" lIns="0" tIns="0" rIns="0" bIns="0" rtlCol="0" anchor="t"/>
          <a:lstStyle/>
          <a:p>
            <a:pPr indent="0" marL="0">
              <a:buNone/>
            </a:pPr>
            <a:r>
              <a:rPr lang="en-US" sz="1200" i="1" dirty="0">
                <a:solidFill>
                  <a:schemeClr val="accent6"/>
                </a:solidFill>
              </a:rPr>
              <a:t>Même test de 350 véhicules ; R² CV = moyenne sur 5 plis. Régression linéaire : résultat du notebook (voir diapo 6).</a:t>
            </a:r>
            <a:endParaRPr lang="en-US" sz="1200" dirty="0"/>
          </a:p>
        </p:txBody>
      </p:sp>
      <p:sp>
        <p:nvSpPr>
          <p:cNvPr id="6" name="carte_142"/>
          <p:cNvSpPr/>
          <p:nvPr/>
        </p:nvSpPr>
        <p:spPr>
          <a:xfrm>
            <a:off x="8092440" y="1645920"/>
            <a:ext cx="3520440" cy="1005840"/>
          </a:xfrm>
          <a:prstGeom prst="roundRect">
            <a:avLst>
              <a:gd name="adj" fmla="val 7273"/>
            </a:avLst>
          </a:prstGeom>
          <a:solidFill>
            <a:schemeClr val="bg2"/>
          </a:solidFill>
          <a:ln w="12700">
            <a:solidFill>
              <a:schemeClr val="bg2"/>
            </a:solidFill>
            <a:prstDash val="solid"/>
          </a:ln>
        </p:spPr>
      </p:sp>
      <p:sp>
        <p:nvSpPr>
          <p:cNvPr id="7" name="texte_143"/>
          <p:cNvSpPr txBox="1"/>
          <p:nvPr/>
        </p:nvSpPr>
        <p:spPr>
          <a:xfrm>
            <a:off x="8275320" y="1737360"/>
            <a:ext cx="3200400" cy="274320"/>
          </a:xfrm>
          <a:prstGeom prst="rect">
            <a:avLst/>
          </a:prstGeom>
          <a:noFill/>
          <a:ln/>
        </p:spPr>
        <p:txBody>
          <a:bodyPr wrap="square" lIns="0" tIns="0" rIns="0" bIns="0" rtlCol="0" anchor="t"/>
          <a:lstStyle/>
          <a:p>
            <a:pPr indent="0" marL="0">
              <a:buNone/>
            </a:pPr>
            <a:r>
              <a:rPr lang="en-US" sz="1400" b="1" dirty="0">
                <a:solidFill>
                  <a:schemeClr val="accent2"/>
                </a:solidFill>
              </a:rPr>
              <a:t>Tous battent la référence</a:t>
            </a:r>
            <a:endParaRPr lang="en-US" sz="1400" dirty="0"/>
          </a:p>
        </p:txBody>
      </p:sp>
      <p:sp>
        <p:nvSpPr>
          <p:cNvPr id="8" name="texte_144"/>
          <p:cNvSpPr txBox="1"/>
          <p:nvPr/>
        </p:nvSpPr>
        <p:spPr>
          <a:xfrm>
            <a:off x="8275320" y="2029968"/>
            <a:ext cx="3200400" cy="566928"/>
          </a:xfrm>
          <a:prstGeom prst="rect">
            <a:avLst/>
          </a:prstGeom>
          <a:noFill/>
          <a:ln/>
        </p:spPr>
        <p:txBody>
          <a:bodyPr wrap="square" lIns="0" tIns="0" rIns="0" bIns="0" rtlCol="0" anchor="t"/>
          <a:lstStyle/>
          <a:p>
            <a:pPr indent="0" marL="0">
              <a:buNone/>
            </a:pPr>
            <a:r>
              <a:rPr lang="en-US" sz="1300" dirty="0">
                <a:solidFill>
                  <a:schemeClr val="tx2"/>
                </a:solidFill>
              </a:rPr>
              <a:t>L'erreur moyenne passe de 5 700 $ à moins de 2 600 $.</a:t>
            </a:r>
            <a:endParaRPr lang="en-US" sz="1300" dirty="0"/>
          </a:p>
        </p:txBody>
      </p:sp>
      <p:sp>
        <p:nvSpPr>
          <p:cNvPr id="9" name="carte_145"/>
          <p:cNvSpPr/>
          <p:nvPr/>
        </p:nvSpPr>
        <p:spPr>
          <a:xfrm>
            <a:off x="8092440" y="2761488"/>
            <a:ext cx="3520440" cy="1005840"/>
          </a:xfrm>
          <a:prstGeom prst="roundRect">
            <a:avLst>
              <a:gd name="adj" fmla="val 7273"/>
            </a:avLst>
          </a:prstGeom>
          <a:solidFill>
            <a:schemeClr val="bg2"/>
          </a:solidFill>
          <a:ln w="12700">
            <a:solidFill>
              <a:schemeClr val="bg2"/>
            </a:solidFill>
            <a:prstDash val="solid"/>
          </a:ln>
        </p:spPr>
      </p:sp>
      <p:sp>
        <p:nvSpPr>
          <p:cNvPr id="10" name="texte_146"/>
          <p:cNvSpPr txBox="1"/>
          <p:nvPr/>
        </p:nvSpPr>
        <p:spPr>
          <a:xfrm>
            <a:off x="8275320" y="2852928"/>
            <a:ext cx="3200400" cy="274320"/>
          </a:xfrm>
          <a:prstGeom prst="rect">
            <a:avLst/>
          </a:prstGeom>
          <a:noFill/>
          <a:ln/>
        </p:spPr>
        <p:txBody>
          <a:bodyPr wrap="square" lIns="0" tIns="0" rIns="0" bIns="0" rtlCol="0" anchor="t"/>
          <a:lstStyle/>
          <a:p>
            <a:pPr indent="0" marL="0">
              <a:buNone/>
            </a:pPr>
            <a:r>
              <a:rPr lang="en-US" sz="1400" b="1" dirty="0">
                <a:solidFill>
                  <a:schemeClr val="accent2"/>
                </a:solidFill>
              </a:rPr>
              <a:t>Le trio régularisé mène</a:t>
            </a:r>
            <a:endParaRPr lang="en-US" sz="1400" dirty="0"/>
          </a:p>
        </p:txBody>
      </p:sp>
      <p:sp>
        <p:nvSpPr>
          <p:cNvPr id="11" name="texte_147"/>
          <p:cNvSpPr txBox="1"/>
          <p:nvPr/>
        </p:nvSpPr>
        <p:spPr>
          <a:xfrm>
            <a:off x="8275320" y="3145536"/>
            <a:ext cx="3200400" cy="566928"/>
          </a:xfrm>
          <a:prstGeom prst="rect">
            <a:avLst/>
          </a:prstGeom>
          <a:noFill/>
          <a:ln/>
        </p:spPr>
        <p:txBody>
          <a:bodyPr wrap="square" lIns="0" tIns="0" rIns="0" bIns="0" rtlCol="0" anchor="t"/>
          <a:lstStyle/>
          <a:p>
            <a:pPr indent="0" marL="0">
              <a:buNone/>
            </a:pPr>
            <a:r>
              <a:rPr lang="en-US" sz="1300" dirty="0">
                <a:solidFill>
                  <a:schemeClr val="tx2"/>
                </a:solidFill>
              </a:rPr>
              <a:t>Lasso a la plus petite MAE ; ElasticNetCV le meilleur RMSE et R².</a:t>
            </a:r>
            <a:endParaRPr lang="en-US" sz="1300" dirty="0"/>
          </a:p>
        </p:txBody>
      </p:sp>
      <p:sp>
        <p:nvSpPr>
          <p:cNvPr id="12" name="carte_148"/>
          <p:cNvSpPr/>
          <p:nvPr/>
        </p:nvSpPr>
        <p:spPr>
          <a:xfrm>
            <a:off x="8092440" y="3877056"/>
            <a:ext cx="3520440" cy="1005840"/>
          </a:xfrm>
          <a:prstGeom prst="roundRect">
            <a:avLst>
              <a:gd name="adj" fmla="val 7273"/>
            </a:avLst>
          </a:prstGeom>
          <a:solidFill>
            <a:schemeClr val="bg2"/>
          </a:solidFill>
          <a:ln w="12700">
            <a:solidFill>
              <a:schemeClr val="bg2"/>
            </a:solidFill>
            <a:prstDash val="solid"/>
          </a:ln>
        </p:spPr>
      </p:sp>
      <p:sp>
        <p:nvSpPr>
          <p:cNvPr id="13" name="texte_149"/>
          <p:cNvSpPr txBox="1"/>
          <p:nvPr/>
        </p:nvSpPr>
        <p:spPr>
          <a:xfrm>
            <a:off x="8275320" y="3968496"/>
            <a:ext cx="3200400" cy="274320"/>
          </a:xfrm>
          <a:prstGeom prst="rect">
            <a:avLst/>
          </a:prstGeom>
          <a:noFill/>
          <a:ln/>
        </p:spPr>
        <p:txBody>
          <a:bodyPr wrap="square" lIns="0" tIns="0" rIns="0" bIns="0" rtlCol="0" anchor="t"/>
          <a:lstStyle/>
          <a:p>
            <a:pPr indent="0" marL="0">
              <a:buNone/>
            </a:pPr>
            <a:r>
              <a:rPr lang="en-US" sz="1400" b="1" dirty="0">
                <a:solidFill>
                  <a:schemeClr val="accent2"/>
                </a:solidFill>
              </a:rPr>
              <a:t>Les écarts sont minces</a:t>
            </a:r>
            <a:endParaRPr lang="en-US" sz="1400" dirty="0"/>
          </a:p>
        </p:txBody>
      </p:sp>
      <p:sp>
        <p:nvSpPr>
          <p:cNvPr id="14" name="texte_150"/>
          <p:cNvSpPr txBox="1"/>
          <p:nvPr/>
        </p:nvSpPr>
        <p:spPr>
          <a:xfrm>
            <a:off x="8275320" y="4261104"/>
            <a:ext cx="3200400" cy="566928"/>
          </a:xfrm>
          <a:prstGeom prst="rect">
            <a:avLst/>
          </a:prstGeom>
          <a:noFill/>
          <a:ln/>
        </p:spPr>
        <p:txBody>
          <a:bodyPr wrap="square" lIns="0" tIns="0" rIns="0" bIns="0" rtlCol="0" anchor="t"/>
          <a:lstStyle/>
          <a:p>
            <a:pPr indent="0" marL="0">
              <a:buNone/>
            </a:pPr>
            <a:r>
              <a:rPr lang="en-US" sz="1300" dirty="0">
                <a:solidFill>
                  <a:schemeClr val="tx2"/>
                </a:solidFill>
              </a:rPr>
              <a:t>Moins de 110 $ de MAE entre eux : pas de vainqueur net.</a:t>
            </a:r>
            <a:endParaRPr lang="en-US" sz="1300" dirty="0"/>
          </a:p>
        </p:txBody>
      </p:sp>
      <p:sp>
        <p:nvSpPr>
          <p:cNvPr id="15" name="carte_151"/>
          <p:cNvSpPr/>
          <p:nvPr/>
        </p:nvSpPr>
        <p:spPr>
          <a:xfrm>
            <a:off x="8092440" y="4992624"/>
            <a:ext cx="3520440" cy="1005840"/>
          </a:xfrm>
          <a:prstGeom prst="roundRect">
            <a:avLst>
              <a:gd name="adj" fmla="val 7273"/>
            </a:avLst>
          </a:prstGeom>
          <a:solidFill>
            <a:schemeClr val="bg2"/>
          </a:solidFill>
          <a:ln w="12700">
            <a:solidFill>
              <a:schemeClr val="bg2"/>
            </a:solidFill>
            <a:prstDash val="solid"/>
          </a:ln>
        </p:spPr>
      </p:sp>
      <p:sp>
        <p:nvSpPr>
          <p:cNvPr id="16" name="texte_152"/>
          <p:cNvSpPr txBox="1"/>
          <p:nvPr/>
        </p:nvSpPr>
        <p:spPr>
          <a:xfrm>
            <a:off x="8275320" y="5084064"/>
            <a:ext cx="3200400" cy="274320"/>
          </a:xfrm>
          <a:prstGeom prst="rect">
            <a:avLst/>
          </a:prstGeom>
          <a:noFill/>
          <a:ln/>
        </p:spPr>
        <p:txBody>
          <a:bodyPr wrap="square" lIns="0" tIns="0" rIns="0" bIns="0" rtlCol="0" anchor="t"/>
          <a:lstStyle/>
          <a:p>
            <a:pPr indent="0" marL="0">
              <a:buNone/>
            </a:pPr>
            <a:r>
              <a:rPr lang="en-US" sz="1400" b="1" dirty="0">
                <a:solidFill>
                  <a:schemeClr val="accent2"/>
                </a:solidFill>
              </a:rPr>
              <a:t>Plus complexe ≠ meilleur</a:t>
            </a:r>
            <a:endParaRPr lang="en-US" sz="1400" dirty="0"/>
          </a:p>
        </p:txBody>
      </p:sp>
      <p:sp>
        <p:nvSpPr>
          <p:cNvPr id="17" name="texte_153"/>
          <p:cNvSpPr txBox="1"/>
          <p:nvPr/>
        </p:nvSpPr>
        <p:spPr>
          <a:xfrm>
            <a:off x="8275320" y="5376672"/>
            <a:ext cx="3200400" cy="566928"/>
          </a:xfrm>
          <a:prstGeom prst="rect">
            <a:avLst/>
          </a:prstGeom>
          <a:noFill/>
          <a:ln/>
        </p:spPr>
        <p:txBody>
          <a:bodyPr wrap="square" lIns="0" tIns="0" rIns="0" bIns="0" rtlCol="0" anchor="t"/>
          <a:lstStyle/>
          <a:p>
            <a:pPr indent="0" marL="0">
              <a:buNone/>
            </a:pPr>
            <a:r>
              <a:rPr lang="en-US" sz="1300" dirty="0">
                <a:solidFill>
                  <a:schemeClr val="tx2"/>
                </a:solidFill>
              </a:rPr>
              <a:t>Arbre instable ; XGBoost bon en CV mais moins bon au test.</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08 · MLFLOW</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Dans MLflow : 5 finalistes, et trois autres situations à ne pas confondre</a:t>
            </a:r>
            <a:endParaRPr lang="en-US" sz="2800" dirty="0"/>
          </a:p>
        </p:txBody>
      </p:sp>
      <p:sp>
        <p:nvSpPr>
          <p:cNvPr id="4" name="carte_154"/>
          <p:cNvSpPr/>
          <p:nvPr/>
        </p:nvSpPr>
        <p:spPr>
          <a:xfrm>
            <a:off x="548640" y="1691640"/>
            <a:ext cx="5440680" cy="2103120"/>
          </a:xfrm>
          <a:prstGeom prst="roundRect">
            <a:avLst>
              <a:gd name="adj" fmla="val 3478"/>
            </a:avLst>
          </a:prstGeom>
          <a:solidFill>
            <a:schemeClr val="bg2"/>
          </a:solidFill>
          <a:ln w="12700">
            <a:solidFill>
              <a:schemeClr val="bg2"/>
            </a:solidFill>
            <a:prstDash val="solid"/>
          </a:ln>
        </p:spPr>
      </p:sp>
      <p:sp>
        <p:nvSpPr>
          <p:cNvPr id="5" name="pastille_155"/>
          <p:cNvSpPr/>
          <p:nvPr/>
        </p:nvSpPr>
        <p:spPr>
          <a:xfrm>
            <a:off x="777240" y="1920240"/>
            <a:ext cx="384048" cy="384048"/>
          </a:xfrm>
          <a:prstGeom prst="ellipse">
            <a:avLst/>
          </a:prstGeom>
          <a:solidFill>
            <a:schemeClr val="accent5"/>
          </a:solidFill>
          <a:ln w="12700">
            <a:solidFill>
              <a:schemeClr val="accent5"/>
            </a:solidFill>
            <a:prstDash val="solid"/>
          </a:ln>
        </p:spPr>
      </p:sp>
      <p:sp>
        <p:nvSpPr>
          <p:cNvPr id="6" name="pastille_txt_156"/>
          <p:cNvSpPr txBox="1"/>
          <p:nvPr/>
        </p:nvSpPr>
        <p:spPr>
          <a:xfrm>
            <a:off x="777240" y="1920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7" name="texte_157"/>
          <p:cNvSpPr txBox="1"/>
          <p:nvPr/>
        </p:nvSpPr>
        <p:spPr>
          <a:xfrm>
            <a:off x="1325880" y="1938528"/>
            <a:ext cx="4480560" cy="365760"/>
          </a:xfrm>
          <a:prstGeom prst="rect">
            <a:avLst/>
          </a:prstGeom>
          <a:noFill/>
          <a:ln/>
        </p:spPr>
        <p:txBody>
          <a:bodyPr wrap="square" lIns="0" tIns="0" rIns="0" bIns="0" rtlCol="0" anchor="t"/>
          <a:lstStyle/>
          <a:p>
            <a:pPr indent="0" marL="0">
              <a:buNone/>
            </a:pPr>
            <a:r>
              <a:rPr lang="en-US" sz="1700" b="1" dirty="0">
                <a:solidFill>
                  <a:schemeClr val="tx1"/>
                </a:solidFill>
              </a:rPr>
              <a:t>Finalistes journalisés</a:t>
            </a:r>
            <a:endParaRPr lang="en-US" sz="1700" dirty="0"/>
          </a:p>
        </p:txBody>
      </p:sp>
      <p:sp>
        <p:nvSpPr>
          <p:cNvPr id="8" name="texte_158"/>
          <p:cNvSpPr txBox="1"/>
          <p:nvPr/>
        </p:nvSpPr>
        <p:spPr>
          <a:xfrm>
            <a:off x="777240" y="2468880"/>
            <a:ext cx="4983480" cy="822960"/>
          </a:xfrm>
          <a:prstGeom prst="rect">
            <a:avLst/>
          </a:prstGeom>
          <a:noFill/>
          <a:ln/>
        </p:spPr>
        <p:txBody>
          <a:bodyPr wrap="square" lIns="0" tIns="0" rIns="0" bIns="0" rtlCol="0" anchor="t"/>
          <a:lstStyle/>
          <a:p>
            <a:pPr indent="0" marL="0">
              <a:buNone/>
            </a:pPr>
            <a:r>
              <a:rPr lang="en-US" sz="1400" dirty="0">
                <a:solidFill>
                  <a:schemeClr val="tx2"/>
                </a:solidFill>
              </a:rPr>
              <a:t>Linéaire, RidgeCV, Lasso (alpha fixé à 1), ElasticNetCV, XGBoost. Les 4 non retenus comme champion restent valides.</a:t>
            </a:r>
            <a:endParaRPr lang="en-US" sz="1400" dirty="0"/>
          </a:p>
        </p:txBody>
      </p:sp>
      <p:sp>
        <p:nvSpPr>
          <p:cNvPr id="9" name="texte_159"/>
          <p:cNvSpPr txBox="1"/>
          <p:nvPr/>
        </p:nvSpPr>
        <p:spPr>
          <a:xfrm>
            <a:off x="777240" y="3337560"/>
            <a:ext cx="4983480" cy="320040"/>
          </a:xfrm>
          <a:prstGeom prst="rect">
            <a:avLst/>
          </a:prstGeom>
          <a:noFill/>
          <a:ln/>
        </p:spPr>
        <p:txBody>
          <a:bodyPr wrap="square" lIns="0" tIns="0" rIns="0" bIns="0" rtlCol="0" anchor="t"/>
          <a:lstStyle/>
          <a:p>
            <a:pPr indent="0" marL="0">
              <a:buNone/>
            </a:pPr>
            <a:r>
              <a:rPr lang="en-US" sz="1400" b="1" dirty="0">
                <a:solidFill>
                  <a:schemeClr val="accent2"/>
                </a:solidFill>
              </a:rPr>
              <a:t>→ Base de la décision finale</a:t>
            </a:r>
            <a:endParaRPr lang="en-US" sz="1400" dirty="0"/>
          </a:p>
        </p:txBody>
      </p:sp>
      <p:sp>
        <p:nvSpPr>
          <p:cNvPr id="10" name="carte_160"/>
          <p:cNvSpPr/>
          <p:nvPr/>
        </p:nvSpPr>
        <p:spPr>
          <a:xfrm>
            <a:off x="6172200" y="1691640"/>
            <a:ext cx="5440680" cy="2103120"/>
          </a:xfrm>
          <a:prstGeom prst="roundRect">
            <a:avLst>
              <a:gd name="adj" fmla="val 3478"/>
            </a:avLst>
          </a:prstGeom>
          <a:solidFill>
            <a:schemeClr val="bg2"/>
          </a:solidFill>
          <a:ln w="12700">
            <a:solidFill>
              <a:schemeClr val="bg2"/>
            </a:solidFill>
            <a:prstDash val="solid"/>
          </a:ln>
        </p:spPr>
      </p:sp>
      <p:sp>
        <p:nvSpPr>
          <p:cNvPr id="11" name="pastille_161"/>
          <p:cNvSpPr/>
          <p:nvPr/>
        </p:nvSpPr>
        <p:spPr>
          <a:xfrm>
            <a:off x="6400800" y="1920240"/>
            <a:ext cx="384048" cy="384048"/>
          </a:xfrm>
          <a:prstGeom prst="ellipse">
            <a:avLst/>
          </a:prstGeom>
          <a:solidFill>
            <a:schemeClr val="accent2"/>
          </a:solidFill>
          <a:ln w="12700">
            <a:solidFill>
              <a:schemeClr val="accent2"/>
            </a:solidFill>
            <a:prstDash val="solid"/>
          </a:ln>
        </p:spPr>
      </p:sp>
      <p:sp>
        <p:nvSpPr>
          <p:cNvPr id="12" name="pastille_txt_162"/>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3" name="texte_163"/>
          <p:cNvSpPr txBox="1"/>
          <p:nvPr/>
        </p:nvSpPr>
        <p:spPr>
          <a:xfrm>
            <a:off x="6949440" y="1938528"/>
            <a:ext cx="4480560" cy="365760"/>
          </a:xfrm>
          <a:prstGeom prst="rect">
            <a:avLst/>
          </a:prstGeom>
          <a:noFill/>
          <a:ln/>
        </p:spPr>
        <p:txBody>
          <a:bodyPr wrap="square" lIns="0" tIns="0" rIns="0" bIns="0" rtlCol="0" anchor="t"/>
          <a:lstStyle/>
          <a:p>
            <a:pPr indent="0" marL="0">
              <a:buNone/>
            </a:pPr>
            <a:r>
              <a:rPr lang="en-US" sz="1700" b="1" dirty="0">
                <a:solidFill>
                  <a:schemeClr val="tx1"/>
                </a:solidFill>
              </a:rPr>
              <a:t>Variantes écartées, non journalisées</a:t>
            </a:r>
            <a:endParaRPr lang="en-US" sz="1700" dirty="0"/>
          </a:p>
        </p:txBody>
      </p:sp>
      <p:sp>
        <p:nvSpPr>
          <p:cNvPr id="14" name="texte_164"/>
          <p:cNvSpPr txBox="1"/>
          <p:nvPr/>
        </p:nvSpPr>
        <p:spPr>
          <a:xfrm>
            <a:off x="6400800" y="2468880"/>
            <a:ext cx="4983480" cy="822960"/>
          </a:xfrm>
          <a:prstGeom prst="rect">
            <a:avLst/>
          </a:prstGeom>
          <a:noFill/>
          <a:ln/>
        </p:spPr>
        <p:txBody>
          <a:bodyPr wrap="square" lIns="0" tIns="0" rIns="0" bIns="0" rtlCol="0" anchor="t"/>
          <a:lstStyle/>
          <a:p>
            <a:pPr indent="0" marL="0">
              <a:buNone/>
            </a:pPr>
            <a:r>
              <a:rPr lang="en-US" sz="1400" dirty="0">
                <a:solidFill>
                  <a:schemeClr val="tx2"/>
                </a:solidFill>
              </a:rPr>
              <a:t>Ridge α=10, Lasso α=10, ElasticNet α=1, arbre, Random Forest : moins bons dans le notebook 02.</a:t>
            </a:r>
            <a:endParaRPr lang="en-US" sz="1400" dirty="0"/>
          </a:p>
        </p:txBody>
      </p:sp>
      <p:sp>
        <p:nvSpPr>
          <p:cNvPr id="15" name="texte_165"/>
          <p:cNvSpPr txBox="1"/>
          <p:nvPr/>
        </p:nvSpPr>
        <p:spPr>
          <a:xfrm>
            <a:off x="6400800" y="3337560"/>
            <a:ext cx="4983480" cy="320040"/>
          </a:xfrm>
          <a:prstGeom prst="rect">
            <a:avLst/>
          </a:prstGeom>
          <a:noFill/>
          <a:ln/>
        </p:spPr>
        <p:txBody>
          <a:bodyPr wrap="square" lIns="0" tIns="0" rIns="0" bIns="0" rtlCol="0" anchor="t"/>
          <a:lstStyle/>
          <a:p>
            <a:pPr indent="0" marL="0">
              <a:buNone/>
            </a:pPr>
            <a:r>
              <a:rPr lang="en-US" sz="1400" b="1" dirty="0">
                <a:solidFill>
                  <a:schemeClr val="accent2"/>
                </a:solidFill>
              </a:rPr>
              <a:t>→ Motif appuyé par les résultats</a:t>
            </a:r>
            <a:endParaRPr lang="en-US" sz="1400" dirty="0"/>
          </a:p>
        </p:txBody>
      </p:sp>
      <p:sp>
        <p:nvSpPr>
          <p:cNvPr id="16" name="carte_166"/>
          <p:cNvSpPr/>
          <p:nvPr/>
        </p:nvSpPr>
        <p:spPr>
          <a:xfrm>
            <a:off x="548640" y="3977640"/>
            <a:ext cx="5440680" cy="2103120"/>
          </a:xfrm>
          <a:prstGeom prst="roundRect">
            <a:avLst>
              <a:gd name="adj" fmla="val 3478"/>
            </a:avLst>
          </a:prstGeom>
          <a:solidFill>
            <a:schemeClr val="bg2"/>
          </a:solidFill>
          <a:ln w="12700">
            <a:solidFill>
              <a:schemeClr val="bg2"/>
            </a:solidFill>
            <a:prstDash val="solid"/>
          </a:ln>
        </p:spPr>
      </p:sp>
      <p:sp>
        <p:nvSpPr>
          <p:cNvPr id="17" name="pastille_167"/>
          <p:cNvSpPr/>
          <p:nvPr/>
        </p:nvSpPr>
        <p:spPr>
          <a:xfrm>
            <a:off x="777240" y="4206240"/>
            <a:ext cx="384048" cy="384048"/>
          </a:xfrm>
          <a:prstGeom prst="ellipse">
            <a:avLst/>
          </a:prstGeom>
          <a:solidFill>
            <a:schemeClr val="accent4"/>
          </a:solidFill>
          <a:ln w="12700">
            <a:solidFill>
              <a:schemeClr val="accent4"/>
            </a:solidFill>
            <a:prstDash val="solid"/>
          </a:ln>
        </p:spPr>
      </p:sp>
      <p:sp>
        <p:nvSpPr>
          <p:cNvPr id="18" name="pastille_txt_168"/>
          <p:cNvSpPr txBox="1"/>
          <p:nvPr/>
        </p:nvSpPr>
        <p:spPr>
          <a:xfrm>
            <a:off x="777240" y="4206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9" name="texte_169"/>
          <p:cNvSpPr txBox="1"/>
          <p:nvPr/>
        </p:nvSpPr>
        <p:spPr>
          <a:xfrm>
            <a:off x="1325880" y="4224528"/>
            <a:ext cx="4480560" cy="365760"/>
          </a:xfrm>
          <a:prstGeom prst="rect">
            <a:avLst/>
          </a:prstGeom>
          <a:noFill/>
          <a:ln/>
        </p:spPr>
        <p:txBody>
          <a:bodyPr wrap="square" lIns="0" tIns="0" rIns="0" bIns="0" rtlCol="0" anchor="t"/>
          <a:lstStyle/>
          <a:p>
            <a:pPr indent="0" marL="0">
              <a:buNone/>
            </a:pPr>
            <a:r>
              <a:rPr lang="en-US" sz="1700" b="1" dirty="0">
                <a:solidFill>
                  <a:schemeClr val="tx1"/>
                </a:solidFill>
              </a:rPr>
              <a:t>Non journalisés, motif non écrit</a:t>
            </a:r>
            <a:endParaRPr lang="en-US" sz="1700" dirty="0"/>
          </a:p>
        </p:txBody>
      </p:sp>
      <p:sp>
        <p:nvSpPr>
          <p:cNvPr id="20" name="texte_170"/>
          <p:cNvSpPr txBox="1"/>
          <p:nvPr/>
        </p:nvSpPr>
        <p:spPr>
          <a:xfrm>
            <a:off x="777240" y="4754880"/>
            <a:ext cx="4983480" cy="822960"/>
          </a:xfrm>
          <a:prstGeom prst="rect">
            <a:avLst/>
          </a:prstGeom>
          <a:noFill/>
          <a:ln/>
        </p:spPr>
        <p:txBody>
          <a:bodyPr wrap="square" lIns="0" tIns="0" rIns="0" bIns="0" rtlCol="0" anchor="t"/>
          <a:lstStyle/>
          <a:p>
            <a:pPr indent="0" marL="0">
              <a:buNone/>
            </a:pPr>
            <a:r>
              <a:rPr lang="en-US" sz="1400" dirty="0">
                <a:solidFill>
                  <a:schemeClr val="tx2"/>
                </a:solidFill>
              </a:rPr>
              <a:t>Ridge α=1 (doublon probable de RidgeCV, qui choisit α=1) et Dummy (simple référence).</a:t>
            </a:r>
            <a:endParaRPr lang="en-US" sz="1400" dirty="0"/>
          </a:p>
        </p:txBody>
      </p:sp>
      <p:sp>
        <p:nvSpPr>
          <p:cNvPr id="21" name="texte_171"/>
          <p:cNvSpPr txBox="1"/>
          <p:nvPr/>
        </p:nvSpPr>
        <p:spPr>
          <a:xfrm>
            <a:off x="777240" y="5623560"/>
            <a:ext cx="4983480" cy="320040"/>
          </a:xfrm>
          <a:prstGeom prst="rect">
            <a:avLst/>
          </a:prstGeom>
          <a:noFill/>
          <a:ln/>
        </p:spPr>
        <p:txBody>
          <a:bodyPr wrap="square" lIns="0" tIns="0" rIns="0" bIns="0" rtlCol="0" anchor="t"/>
          <a:lstStyle/>
          <a:p>
            <a:pPr indent="0" marL="0">
              <a:buNone/>
            </a:pPr>
            <a:r>
              <a:rPr lang="en-US" sz="1400" b="1" dirty="0">
                <a:solidFill>
                  <a:schemeClr val="accent2"/>
                </a:solidFill>
              </a:rPr>
              <a:t>→ Hypothèses à confirmer</a:t>
            </a:r>
            <a:endParaRPr lang="en-US" sz="1400" dirty="0"/>
          </a:p>
        </p:txBody>
      </p:sp>
      <p:sp>
        <p:nvSpPr>
          <p:cNvPr id="22" name="carte_172"/>
          <p:cNvSpPr/>
          <p:nvPr/>
        </p:nvSpPr>
        <p:spPr>
          <a:xfrm>
            <a:off x="6172200" y="3977640"/>
            <a:ext cx="5440680" cy="2103120"/>
          </a:xfrm>
          <a:prstGeom prst="roundRect">
            <a:avLst>
              <a:gd name="adj" fmla="val 3478"/>
            </a:avLst>
          </a:prstGeom>
          <a:solidFill>
            <a:schemeClr val="bg2"/>
          </a:solidFill>
          <a:ln w="12700">
            <a:solidFill>
              <a:schemeClr val="bg2"/>
            </a:solidFill>
            <a:prstDash val="solid"/>
          </a:ln>
        </p:spPr>
      </p:sp>
      <p:sp>
        <p:nvSpPr>
          <p:cNvPr id="23" name="pastille_173"/>
          <p:cNvSpPr/>
          <p:nvPr/>
        </p:nvSpPr>
        <p:spPr>
          <a:xfrm>
            <a:off x="6400800" y="4206240"/>
            <a:ext cx="384048" cy="384048"/>
          </a:xfrm>
          <a:prstGeom prst="ellipse">
            <a:avLst/>
          </a:prstGeom>
          <a:solidFill>
            <a:schemeClr val="accent6"/>
          </a:solidFill>
          <a:ln w="12700">
            <a:solidFill>
              <a:schemeClr val="accent6"/>
            </a:solidFill>
            <a:prstDash val="solid"/>
          </a:ln>
        </p:spPr>
      </p:sp>
      <p:sp>
        <p:nvSpPr>
          <p:cNvPr id="24" name="pastille_txt_174"/>
          <p:cNvSpPr txBox="1"/>
          <p:nvPr/>
        </p:nvSpPr>
        <p:spPr>
          <a:xfrm>
            <a:off x="6400800" y="42062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5" name="texte_175"/>
          <p:cNvSpPr txBox="1"/>
          <p:nvPr/>
        </p:nvSpPr>
        <p:spPr>
          <a:xfrm>
            <a:off x="6949440" y="4224528"/>
            <a:ext cx="4480560" cy="365760"/>
          </a:xfrm>
          <a:prstGeom prst="rect">
            <a:avLst/>
          </a:prstGeom>
          <a:noFill/>
          <a:ln/>
        </p:spPr>
        <p:txBody>
          <a:bodyPr wrap="square" lIns="0" tIns="0" rIns="0" bIns="0" rtlCol="0" anchor="t"/>
          <a:lstStyle/>
          <a:p>
            <a:pPr indent="0" marL="0">
              <a:buNone/>
            </a:pPr>
            <a:r>
              <a:rPr lang="en-US" sz="1700" b="1" dirty="0">
                <a:solidFill>
                  <a:schemeClr val="tx1"/>
                </a:solidFill>
              </a:rPr>
              <a:t>Runs supprimés</a:t>
            </a:r>
            <a:endParaRPr lang="en-US" sz="1700" dirty="0"/>
          </a:p>
        </p:txBody>
      </p:sp>
      <p:sp>
        <p:nvSpPr>
          <p:cNvPr id="26" name="texte_176"/>
          <p:cNvSpPr txBox="1"/>
          <p:nvPr/>
        </p:nvSpPr>
        <p:spPr>
          <a:xfrm>
            <a:off x="6400800" y="4754880"/>
            <a:ext cx="4983480" cy="822960"/>
          </a:xfrm>
          <a:prstGeom prst="rect">
            <a:avLst/>
          </a:prstGeom>
          <a:noFill/>
          <a:ln/>
        </p:spPr>
        <p:txBody>
          <a:bodyPr wrap="square" lIns="0" tIns="0" rIns="0" bIns="0" rtlCol="0" anchor="t"/>
          <a:lstStyle/>
          <a:p>
            <a:pPr indent="0" marL="0">
              <a:buNone/>
            </a:pPr>
            <a:r>
              <a:rPr lang="en-US" sz="1400" dirty="0">
                <a:solidFill>
                  <a:schemeClr val="tx2"/>
                </a:solidFill>
              </a:rPr>
              <a:t>25 runs d'exécutions antérieures : 3 séries identiques (dont 2 échecs XGBoost) et 2 séries faites sur un autre ordre des lignes.</a:t>
            </a:r>
            <a:endParaRPr lang="en-US" sz="1400" dirty="0"/>
          </a:p>
        </p:txBody>
      </p:sp>
      <p:sp>
        <p:nvSpPr>
          <p:cNvPr id="27" name="texte_177"/>
          <p:cNvSpPr txBox="1"/>
          <p:nvPr/>
        </p:nvSpPr>
        <p:spPr>
          <a:xfrm>
            <a:off x="6400800" y="5623560"/>
            <a:ext cx="4983480" cy="320040"/>
          </a:xfrm>
          <a:prstGeom prst="rect">
            <a:avLst/>
          </a:prstGeom>
          <a:noFill/>
          <a:ln/>
        </p:spPr>
        <p:txBody>
          <a:bodyPr wrap="square" lIns="0" tIns="0" rIns="0" bIns="0" rtlCol="0" anchor="t"/>
          <a:lstStyle/>
          <a:p>
            <a:pPr indent="0" marL="0">
              <a:buNone/>
            </a:pPr>
            <a:r>
              <a:rPr lang="en-US" sz="1400" b="1" dirty="0">
                <a:solidFill>
                  <a:schemeClr val="accent2"/>
                </a:solidFill>
              </a:rPr>
              <a:t>→ Hors comparaison ; montrent la sensibilité au découpage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09 · CHOIX DU MODÈLE</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ElasticNetCV : le meilleur compromis, pas un vainqueur net</a:t>
            </a:r>
            <a:endParaRPr lang="en-US" sz="2800" dirty="0"/>
          </a:p>
        </p:txBody>
      </p:sp>
      <p:graphicFrame>
        <p:nvGraphicFramePr>
          <p:cNvPr id="4" name="graphique_finalistes" descr=""/>
          <p:cNvGraphicFramePr/>
          <p:nvPr/>
        </p:nvGraphicFramePr>
        <p:xfrm>
          <a:off x="548640" y="1645920"/>
          <a:ext cx="585216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au_duel"/>
          <p:cNvGraphicFramePr>
            <a:graphicFrameLocks noGrp="1"/>
          </p:cNvGraphicFramePr>
          <p:nvPr>
            <p:extLst>
              <p:ext uri="{D42A27DB-BD31-4B8C-83A1-F6EECF244321}">
                <p14:modId xmlns:p14="http://schemas.microsoft.com/office/powerpoint/2010/main" val="1579011935"/>
              </p:ext>
            </p:extLst>
          </p:nvPr>
        </p:nvGraphicFramePr>
        <p:xfrm>
          <a:off x="6766560" y="1645920"/>
          <a:ext cx="4846320" cy="914400"/>
        </p:xfrm>
        <a:graphic>
          <a:graphicData uri="http://schemas.openxmlformats.org/drawingml/2006/table">
            <a:tbl>
              <a:tblPr/>
              <a:tblGrid>
                <a:gridCol w="1371600"/>
                <a:gridCol w="1737360"/>
                <a:gridCol w="1737360"/>
              </a:tblGrid>
              <a:tr h="411480">
                <a:tc>
                  <a:txBody>
                    <a:bodyPr/>
                    <a:lstStyle/>
                    <a:p>
                      <a:pPr algn="l" indent="0" marL="0">
                        <a:buNone/>
                      </a:pP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Lasso α=1</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ElasticNetCV ★</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411480">
                <a:tc>
                  <a:txBody>
                    <a:bodyPr/>
                    <a:lstStyle/>
                    <a:p>
                      <a:pPr algn="l" indent="0" marL="0">
                        <a:buNone/>
                      </a:pPr>
                      <a:r>
                        <a:rPr lang="en-US" sz="1400" b="1" dirty="0">
                          <a:solidFill>
                            <a:schemeClr val="tx1"/>
                          </a:solidFill>
                        </a:rPr>
                        <a:t>MAE</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1 726 $</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c>
                  <a:txBody>
                    <a:bodyPr/>
                    <a:lstStyle/>
                    <a:p>
                      <a:pPr algn="ctr" indent="0" marL="0">
                        <a:buNone/>
                      </a:pPr>
                      <a:r>
                        <a:rPr lang="en-US" sz="1400" dirty="0">
                          <a:solidFill>
                            <a:schemeClr val="tx1"/>
                          </a:solidFill>
                        </a:rPr>
                        <a:t>1 800 $</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algn="l" indent="0" marL="0">
                        <a:buNone/>
                      </a:pPr>
                      <a:r>
                        <a:rPr lang="en-US" sz="1400" b="1" dirty="0">
                          <a:solidFill>
                            <a:schemeClr val="tx1"/>
                          </a:solidFill>
                        </a:rPr>
                        <a:t>RMSE</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3 848 $</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3 751 $</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r>
              <a:tr h="411480">
                <a:tc>
                  <a:txBody>
                    <a:bodyPr/>
                    <a:lstStyle/>
                    <a:p>
                      <a:pPr algn="l" indent="0" marL="0">
                        <a:buNone/>
                      </a:pPr>
                      <a:r>
                        <a:rPr lang="en-US" sz="1400" b="1" dirty="0">
                          <a:solidFill>
                            <a:schemeClr val="tx1"/>
                          </a:solidFill>
                        </a:rPr>
                        <a:t>R² test</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0,76</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0,77</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r>
              <a:tr h="411480">
                <a:tc>
                  <a:txBody>
                    <a:bodyPr/>
                    <a:lstStyle/>
                    <a:p>
                      <a:pPr algn="l" indent="0" marL="0">
                        <a:buNone/>
                      </a:pPr>
                      <a:r>
                        <a:rPr lang="en-US" sz="1400" b="1" dirty="0">
                          <a:solidFill>
                            <a:schemeClr val="tx1"/>
                          </a:solidFill>
                        </a:rPr>
                        <a:t>R² CV</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0,75</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0,77</a:t>
                      </a:r>
                      <a:endParaRPr lang="en-US" sz="1400" dirty="0"/>
                    </a:p>
                  </a:txBody>
                  <a:tcPr marL="91440" marR="9144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FBE6B3"/>
                    </a:solidFill>
                  </a:tcPr>
                </a:tc>
              </a:tr>
            </a:tbl>
          </a:graphicData>
        </a:graphic>
      </p:graphicFrame>
      <p:sp>
        <p:nvSpPr>
          <p:cNvPr id="6" name="texte_178"/>
          <p:cNvSpPr txBox="1"/>
          <p:nvPr/>
        </p:nvSpPr>
        <p:spPr>
          <a:xfrm>
            <a:off x="6766560" y="3840480"/>
            <a:ext cx="4846320" cy="685800"/>
          </a:xfrm>
          <a:prstGeom prst="rect">
            <a:avLst/>
          </a:prstGeom>
          <a:noFill/>
          <a:ln/>
        </p:spPr>
        <p:txBody>
          <a:bodyPr wrap="square" lIns="0" tIns="0" rIns="0" bIns="0" rtlCol="0" anchor="t"/>
          <a:lstStyle/>
          <a:p>
            <a:pPr indent="0" marL="0">
              <a:buNone/>
            </a:pPr>
            <a:r>
              <a:rPr lang="en-US" sz="1400" dirty="0">
                <a:solidFill>
                  <a:schemeClr val="tx2"/>
                </a:solidFill>
              </a:rPr>
              <a:t>Critère du notebook : R² test, puis RMSE, en tenant compte de la validation croisée.</a:t>
            </a:r>
            <a:endParaRPr lang="en-US" sz="1400" dirty="0"/>
          </a:p>
        </p:txBody>
      </p:sp>
      <p:sp>
        <p:nvSpPr>
          <p:cNvPr id="7" name="encadre_fragilite"/>
          <p:cNvSpPr/>
          <p:nvPr/>
        </p:nvSpPr>
        <p:spPr>
          <a:xfrm>
            <a:off x="6766560" y="4709160"/>
            <a:ext cx="4846320" cy="1463040"/>
          </a:xfrm>
          <a:prstGeom prst="roundRect">
            <a:avLst>
              <a:gd name="adj" fmla="val 5000"/>
            </a:avLst>
          </a:prstGeom>
          <a:solidFill>
            <a:srgbClr val="F6E3DE"/>
          </a:solidFill>
          <a:ln w="12700">
            <a:solidFill>
              <a:srgbClr val="F6E3DE"/>
            </a:solidFill>
            <a:prstDash val="solid"/>
          </a:ln>
        </p:spPr>
      </p:sp>
      <p:sp>
        <p:nvSpPr>
          <p:cNvPr id="8" name="texte_179"/>
          <p:cNvSpPr txBox="1"/>
          <p:nvPr/>
        </p:nvSpPr>
        <p:spPr>
          <a:xfrm>
            <a:off x="6949440" y="4754880"/>
            <a:ext cx="4526280" cy="1371600"/>
          </a:xfrm>
          <a:prstGeom prst="rect">
            <a:avLst/>
          </a:prstGeom>
          <a:noFill/>
          <a:ln/>
        </p:spPr>
        <p:txBody>
          <a:bodyPr wrap="square" lIns="0" tIns="0" rIns="0" bIns="0" rtlCol="0" anchor="ctr"/>
          <a:lstStyle/>
          <a:p>
            <a:pPr indent="0" marL="0">
              <a:buNone/>
            </a:pPr>
            <a:r>
              <a:rPr lang="en-US" sz="1400" b="1" dirty="0">
                <a:solidFill>
                  <a:schemeClr val="accent4"/>
                </a:solidFill>
              </a:rPr>
              <a:t>Victoire fragile : </a:t>
            </a:r>
            <a:pPr indent="0" marL="0">
              <a:buNone/>
            </a:pPr>
            <a:r>
              <a:rPr lang="en-US" sz="1400" dirty="0">
                <a:solidFill>
                  <a:schemeClr val="tx1"/>
                </a:solidFill>
              </a:rPr>
              <a:t>sans un seul véhicule du test (une Porsche à 88 000 $), Lasso passe devant sur le RMSE. Et selon le découpage, la MAE d'ElasticNetCV a varié de 1 776 à 1 821 $.</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10 · ANALYSE DES ERREURS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Erreur modérée sur les modèles bien représentés, forte sur les modèles rares ou chers</a:t>
            </a:r>
            <a:endParaRPr lang="en-US" sz="2800" dirty="0"/>
          </a:p>
        </p:txBody>
      </p:sp>
      <p:graphicFrame>
        <p:nvGraphicFramePr>
          <p:cNvPr id="4" name="graphique_reel_predit" descr=""/>
          <p:cNvGraphicFramePr/>
          <p:nvPr/>
        </p:nvGraphicFramePr>
        <p:xfrm>
          <a:off x="548640" y="1645920"/>
          <a:ext cx="5394960" cy="4572000"/>
        </p:xfrm>
        <a:graphic xmlns:a="http://schemas.openxmlformats.org/drawingml/2006/main">
          <a:graphicData uri="http://schemas.openxmlformats.org/drawingml/2006/chart">
            <c:chart xmlns:c="http://schemas.openxmlformats.org/drawingml/2006/chart" r:id="rId1"/>
          </a:graphicData>
        </a:graphic>
      </p:graphicFrame>
      <p:sp>
        <p:nvSpPr>
          <p:cNvPr id="5" name="texte_180"/>
          <p:cNvSpPr txBox="1"/>
          <p:nvPr/>
        </p:nvSpPr>
        <p:spPr>
          <a:xfrm>
            <a:off x="4343400" y="3749040"/>
            <a:ext cx="1371600" cy="502920"/>
          </a:xfrm>
          <a:prstGeom prst="rect">
            <a:avLst/>
          </a:prstGeom>
          <a:noFill/>
          <a:ln/>
        </p:spPr>
        <p:txBody>
          <a:bodyPr wrap="square" lIns="0" tIns="0" rIns="0" bIns="0" rtlCol="0" anchor="t"/>
          <a:lstStyle/>
          <a:p>
            <a:pPr algn="r" indent="0" marL="0">
              <a:buNone/>
            </a:pPr>
            <a:r>
              <a:rPr lang="en-US" sz="1100" b="1" dirty="0">
                <a:solidFill>
                  <a:schemeClr val="accent4"/>
                </a:solidFill>
              </a:rPr>
              <a:t>Porsche : réel 87 995 $, prédit 31 464 $</a:t>
            </a:r>
            <a:endParaRPr lang="en-US" sz="1100" dirty="0"/>
          </a:p>
        </p:txBody>
      </p:sp>
      <p:sp>
        <p:nvSpPr>
          <p:cNvPr id="6" name="carte_181"/>
          <p:cNvSpPr/>
          <p:nvPr/>
        </p:nvSpPr>
        <p:spPr>
          <a:xfrm>
            <a:off x="6309360" y="1645920"/>
            <a:ext cx="1664208" cy="1234440"/>
          </a:xfrm>
          <a:prstGeom prst="roundRect">
            <a:avLst>
              <a:gd name="adj" fmla="val 5926"/>
            </a:avLst>
          </a:prstGeom>
          <a:solidFill>
            <a:schemeClr val="bg2"/>
          </a:solidFill>
          <a:ln w="12700">
            <a:solidFill>
              <a:schemeClr val="bg2"/>
            </a:solidFill>
            <a:prstDash val="solid"/>
          </a:ln>
        </p:spPr>
      </p:sp>
      <p:sp>
        <p:nvSpPr>
          <p:cNvPr id="7" name="texte_182"/>
          <p:cNvSpPr txBox="1"/>
          <p:nvPr/>
        </p:nvSpPr>
        <p:spPr>
          <a:xfrm>
            <a:off x="6419088" y="1755648"/>
            <a:ext cx="1463040" cy="502920"/>
          </a:xfrm>
          <a:prstGeom prst="rect">
            <a:avLst/>
          </a:prstGeom>
          <a:noFill/>
          <a:ln/>
        </p:spPr>
        <p:txBody>
          <a:bodyPr wrap="square" lIns="0" tIns="0" rIns="0" bIns="0" rtlCol="0" anchor="t"/>
          <a:lstStyle/>
          <a:p>
            <a:pPr indent="0" marL="0">
              <a:buNone/>
            </a:pPr>
            <a:r>
              <a:rPr lang="en-US" sz="2200" b="1" dirty="0">
                <a:solidFill>
                  <a:schemeClr val="accent2"/>
                </a:solidFill>
              </a:rPr>
              <a:t>1 546 $</a:t>
            </a:r>
            <a:endParaRPr lang="en-US" sz="2200" dirty="0"/>
          </a:p>
        </p:txBody>
      </p:sp>
      <p:sp>
        <p:nvSpPr>
          <p:cNvPr id="8" name="texte_183"/>
          <p:cNvSpPr txBox="1"/>
          <p:nvPr/>
        </p:nvSpPr>
        <p:spPr>
          <a:xfrm>
            <a:off x="6419088" y="2286000"/>
            <a:ext cx="1463040" cy="548640"/>
          </a:xfrm>
          <a:prstGeom prst="rect">
            <a:avLst/>
          </a:prstGeom>
          <a:noFill/>
          <a:ln/>
        </p:spPr>
        <p:txBody>
          <a:bodyPr wrap="square" lIns="0" tIns="0" rIns="0" bIns="0" rtlCol="0" anchor="t"/>
          <a:lstStyle/>
          <a:p>
            <a:pPr indent="0" marL="0">
              <a:buNone/>
            </a:pPr>
            <a:r>
              <a:rPr lang="en-US" sz="1200" dirty="0">
                <a:solidFill>
                  <a:schemeClr val="tx2"/>
                </a:solidFill>
              </a:rPr>
              <a:t>MAE de 10 à 40 k$ (340 véhicules)</a:t>
            </a:r>
            <a:endParaRPr lang="en-US" sz="1200" dirty="0"/>
          </a:p>
        </p:txBody>
      </p:sp>
      <p:sp>
        <p:nvSpPr>
          <p:cNvPr id="9" name="carte_184"/>
          <p:cNvSpPr/>
          <p:nvPr/>
        </p:nvSpPr>
        <p:spPr>
          <a:xfrm>
            <a:off x="8110728" y="1645920"/>
            <a:ext cx="1664208" cy="1234440"/>
          </a:xfrm>
          <a:prstGeom prst="roundRect">
            <a:avLst>
              <a:gd name="adj" fmla="val 5926"/>
            </a:avLst>
          </a:prstGeom>
          <a:solidFill>
            <a:schemeClr val="bg2"/>
          </a:solidFill>
          <a:ln w="12700">
            <a:solidFill>
              <a:schemeClr val="bg2"/>
            </a:solidFill>
            <a:prstDash val="solid"/>
          </a:ln>
        </p:spPr>
      </p:sp>
      <p:sp>
        <p:nvSpPr>
          <p:cNvPr id="10" name="texte_185"/>
          <p:cNvSpPr txBox="1"/>
          <p:nvPr/>
        </p:nvSpPr>
        <p:spPr>
          <a:xfrm>
            <a:off x="8220456" y="1755648"/>
            <a:ext cx="1463040" cy="502920"/>
          </a:xfrm>
          <a:prstGeom prst="rect">
            <a:avLst/>
          </a:prstGeom>
          <a:noFill/>
          <a:ln/>
        </p:spPr>
        <p:txBody>
          <a:bodyPr wrap="square" lIns="0" tIns="0" rIns="0" bIns="0" rtlCol="0" anchor="t"/>
          <a:lstStyle/>
          <a:p>
            <a:pPr indent="0" marL="0">
              <a:buNone/>
            </a:pPr>
            <a:r>
              <a:rPr lang="en-US" sz="2200" b="1" dirty="0">
                <a:solidFill>
                  <a:schemeClr val="accent4"/>
                </a:solidFill>
              </a:rPr>
              <a:t>14 991 $</a:t>
            </a:r>
            <a:endParaRPr lang="en-US" sz="2200" dirty="0"/>
          </a:p>
        </p:txBody>
      </p:sp>
      <p:sp>
        <p:nvSpPr>
          <p:cNvPr id="11" name="texte_186"/>
          <p:cNvSpPr txBox="1"/>
          <p:nvPr/>
        </p:nvSpPr>
        <p:spPr>
          <a:xfrm>
            <a:off x="8220456" y="2286000"/>
            <a:ext cx="1463040" cy="548640"/>
          </a:xfrm>
          <a:prstGeom prst="rect">
            <a:avLst/>
          </a:prstGeom>
          <a:noFill/>
          <a:ln/>
        </p:spPr>
        <p:txBody>
          <a:bodyPr wrap="square" lIns="0" tIns="0" rIns="0" bIns="0" rtlCol="0" anchor="t"/>
          <a:lstStyle/>
          <a:p>
            <a:pPr indent="0" marL="0">
              <a:buNone/>
            </a:pPr>
            <a:r>
              <a:rPr lang="en-US" sz="1200" dirty="0">
                <a:solidFill>
                  <a:schemeClr val="tx2"/>
                </a:solidFill>
              </a:rPr>
              <a:t>MAE au-delà de 40 k$ (6 véhicules)</a:t>
            </a:r>
            <a:endParaRPr lang="en-US" sz="1200" dirty="0"/>
          </a:p>
        </p:txBody>
      </p:sp>
      <p:sp>
        <p:nvSpPr>
          <p:cNvPr id="12" name="carte_187"/>
          <p:cNvSpPr/>
          <p:nvPr/>
        </p:nvSpPr>
        <p:spPr>
          <a:xfrm>
            <a:off x="9912096" y="1645920"/>
            <a:ext cx="1664208" cy="1234440"/>
          </a:xfrm>
          <a:prstGeom prst="roundRect">
            <a:avLst>
              <a:gd name="adj" fmla="val 5926"/>
            </a:avLst>
          </a:prstGeom>
          <a:solidFill>
            <a:schemeClr val="bg2"/>
          </a:solidFill>
          <a:ln w="12700">
            <a:solidFill>
              <a:schemeClr val="bg2"/>
            </a:solidFill>
            <a:prstDash val="solid"/>
          </a:ln>
        </p:spPr>
      </p:sp>
      <p:sp>
        <p:nvSpPr>
          <p:cNvPr id="13" name="texte_188"/>
          <p:cNvSpPr txBox="1"/>
          <p:nvPr/>
        </p:nvSpPr>
        <p:spPr>
          <a:xfrm>
            <a:off x="10021824" y="1755648"/>
            <a:ext cx="1463040" cy="502920"/>
          </a:xfrm>
          <a:prstGeom prst="rect">
            <a:avLst/>
          </a:prstGeom>
          <a:noFill/>
          <a:ln/>
        </p:spPr>
        <p:txBody>
          <a:bodyPr wrap="square" lIns="0" tIns="0" rIns="0" bIns="0" rtlCol="0" anchor="t"/>
          <a:lstStyle/>
          <a:p>
            <a:pPr indent="0" marL="0">
              <a:buNone/>
            </a:pPr>
            <a:r>
              <a:rPr lang="en-US" sz="2200" b="1" dirty="0">
                <a:solidFill>
                  <a:schemeClr val="tx1"/>
                </a:solidFill>
              </a:rPr>
              <a:t>69 %</a:t>
            </a:r>
            <a:endParaRPr lang="en-US" sz="2200" dirty="0"/>
          </a:p>
        </p:txBody>
      </p:sp>
      <p:sp>
        <p:nvSpPr>
          <p:cNvPr id="14" name="texte_189"/>
          <p:cNvSpPr txBox="1"/>
          <p:nvPr/>
        </p:nvSpPr>
        <p:spPr>
          <a:xfrm>
            <a:off x="10021824" y="2286000"/>
            <a:ext cx="1463040" cy="548640"/>
          </a:xfrm>
          <a:prstGeom prst="rect">
            <a:avLst/>
          </a:prstGeom>
          <a:noFill/>
          <a:ln/>
        </p:spPr>
        <p:txBody>
          <a:bodyPr wrap="square" lIns="0" tIns="0" rIns="0" bIns="0" rtlCol="0" anchor="t"/>
          <a:lstStyle/>
          <a:p>
            <a:pPr indent="0" marL="0">
              <a:buNone/>
            </a:pPr>
            <a:r>
              <a:rPr lang="en-US" sz="1200" dirty="0">
                <a:solidFill>
                  <a:schemeClr val="tx2"/>
                </a:solidFill>
              </a:rPr>
              <a:t>à moins de 2 000 $ d'erreur</a:t>
            </a:r>
            <a:endParaRPr lang="en-US" sz="1200" dirty="0"/>
          </a:p>
        </p:txBody>
      </p:sp>
      <p:graphicFrame>
        <p:nvGraphicFramePr>
          <p:cNvPr id="15" name="graphique_frequence_modele" descr=""/>
          <p:cNvGraphicFramePr/>
          <p:nvPr/>
        </p:nvGraphicFramePr>
        <p:xfrm>
          <a:off x="6309360" y="3063240"/>
          <a:ext cx="5303520" cy="2148840"/>
        </p:xfrm>
        <a:graphic xmlns:a="http://schemas.openxmlformats.org/drawingml/2006/main">
          <a:graphicData uri="http://schemas.openxmlformats.org/drawingml/2006/chart">
            <c:chart xmlns:c="http://schemas.openxmlformats.org/drawingml/2006/chart" r:id="rId2"/>
          </a:graphicData>
        </a:graphic>
      </p:graphicFrame>
      <p:sp>
        <p:nvSpPr>
          <p:cNvPr id="16" name="texte_190"/>
          <p:cNvSpPr txBox="1"/>
          <p:nvPr/>
        </p:nvSpPr>
        <p:spPr>
          <a:xfrm>
            <a:off x="6309360" y="5349240"/>
            <a:ext cx="5303520" cy="822960"/>
          </a:xfrm>
          <a:prstGeom prst="rect">
            <a:avLst/>
          </a:prstGeom>
          <a:noFill/>
          <a:ln/>
        </p:spPr>
        <p:txBody>
          <a:bodyPr wrap="square" lIns="0" tIns="0" rIns="0" bIns="0" rtlCol="0" anchor="t"/>
          <a:lstStyle/>
          <a:p>
            <a:pPr indent="0" marL="0">
              <a:buNone/>
            </a:pPr>
            <a:r>
              <a:rPr lang="en-US" sz="1300" dirty="0">
                <a:solidFill>
                  <a:schemeClr val="tx2"/>
                </a:solidFill>
              </a:rPr>
              <a:t>Marque ou modèle inconnus sont ignorés par l'encodage : la prédiction repose alors sur l'année, le kilométrage, la carrosserie…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1"/>
                </a:solidFill>
              </a:rPr>
              <a:t>11 · CONCLUSION</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bg1"/>
                </a:solidFill>
              </a:rPr>
              <a:t>Ce que ce projet m'a appris sur la comparaison de modèles</a:t>
            </a:r>
            <a:endParaRPr lang="en-US" sz="2800" dirty="0"/>
          </a:p>
        </p:txBody>
      </p:sp>
      <p:sp>
        <p:nvSpPr>
          <p:cNvPr id="4" name="pastille_191"/>
          <p:cNvSpPr/>
          <p:nvPr/>
        </p:nvSpPr>
        <p:spPr>
          <a:xfrm>
            <a:off x="548640" y="1737360"/>
            <a:ext cx="384048" cy="384048"/>
          </a:xfrm>
          <a:prstGeom prst="ellipse">
            <a:avLst/>
          </a:prstGeom>
          <a:solidFill>
            <a:schemeClr val="accent1"/>
          </a:solidFill>
          <a:ln w="12700">
            <a:solidFill>
              <a:schemeClr val="accent1"/>
            </a:solidFill>
            <a:prstDash val="solid"/>
          </a:ln>
        </p:spPr>
      </p:sp>
      <p:sp>
        <p:nvSpPr>
          <p:cNvPr id="5" name="pastille_txt_192"/>
          <p:cNvSpPr txBox="1"/>
          <p:nvPr/>
        </p:nvSpPr>
        <p:spPr>
          <a:xfrm>
            <a:off x="548640" y="17373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texte_193"/>
          <p:cNvSpPr txBox="1"/>
          <p:nvPr/>
        </p:nvSpPr>
        <p:spPr>
          <a:xfrm>
            <a:off x="1143000" y="1691640"/>
            <a:ext cx="5852160" cy="365760"/>
          </a:xfrm>
          <a:prstGeom prst="rect">
            <a:avLst/>
          </a:prstGeom>
          <a:noFill/>
          <a:ln/>
        </p:spPr>
        <p:txBody>
          <a:bodyPr wrap="square" lIns="0" tIns="0" rIns="0" bIns="0" rtlCol="0" anchor="t"/>
          <a:lstStyle/>
          <a:p>
            <a:pPr indent="0" marL="0">
              <a:buNone/>
            </a:pPr>
            <a:r>
              <a:rPr lang="en-US" sz="1700" b="1" dirty="0">
                <a:solidFill>
                  <a:schemeClr val="bg1"/>
                </a:solidFill>
              </a:rPr>
              <a:t>Toujours partir d'une référence</a:t>
            </a:r>
            <a:endParaRPr lang="en-US" sz="1700" dirty="0"/>
          </a:p>
        </p:txBody>
      </p:sp>
      <p:sp>
        <p:nvSpPr>
          <p:cNvPr id="7" name="texte_194"/>
          <p:cNvSpPr txBox="1"/>
          <p:nvPr/>
        </p:nvSpPr>
        <p:spPr>
          <a:xfrm>
            <a:off x="1143000" y="2075688"/>
            <a:ext cx="5852160" cy="457200"/>
          </a:xfrm>
          <a:prstGeom prst="rect">
            <a:avLst/>
          </a:prstGeom>
          <a:noFill/>
          <a:ln/>
        </p:spPr>
        <p:txBody>
          <a:bodyPr wrap="square" lIns="0" tIns="0" rIns="0" bIns="0" rtlCol="0" anchor="t"/>
          <a:lstStyle/>
          <a:p>
            <a:pPr indent="0" marL="0">
              <a:buNone/>
            </a:pPr>
            <a:r>
              <a:rPr lang="en-US" sz="1400" dirty="0">
                <a:solidFill>
                  <a:schemeClr val="accent3"/>
                </a:solidFill>
              </a:rPr>
              <a:t>Sans le Dummy, impossible de juger 1 800 $ d'erreur moyenne.</a:t>
            </a:r>
            <a:endParaRPr lang="en-US" sz="1400" dirty="0"/>
          </a:p>
        </p:txBody>
      </p:sp>
      <p:sp>
        <p:nvSpPr>
          <p:cNvPr id="8" name="pastille_195"/>
          <p:cNvSpPr/>
          <p:nvPr/>
        </p:nvSpPr>
        <p:spPr>
          <a:xfrm>
            <a:off x="548640" y="2743200"/>
            <a:ext cx="384048" cy="384048"/>
          </a:xfrm>
          <a:prstGeom prst="ellipse">
            <a:avLst/>
          </a:prstGeom>
          <a:solidFill>
            <a:schemeClr val="accent1"/>
          </a:solidFill>
          <a:ln w="12700">
            <a:solidFill>
              <a:schemeClr val="accent1"/>
            </a:solidFill>
            <a:prstDash val="solid"/>
          </a:ln>
        </p:spPr>
      </p:sp>
      <p:sp>
        <p:nvSpPr>
          <p:cNvPr id="9" name="pastille_txt_196"/>
          <p:cNvSpPr txBox="1"/>
          <p:nvPr/>
        </p:nvSpPr>
        <p:spPr>
          <a:xfrm>
            <a:off x="548640" y="27432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texte_197"/>
          <p:cNvSpPr txBox="1"/>
          <p:nvPr/>
        </p:nvSpPr>
        <p:spPr>
          <a:xfrm>
            <a:off x="1143000" y="2697480"/>
            <a:ext cx="5852160" cy="365760"/>
          </a:xfrm>
          <a:prstGeom prst="rect">
            <a:avLst/>
          </a:prstGeom>
          <a:noFill/>
          <a:ln/>
        </p:spPr>
        <p:txBody>
          <a:bodyPr wrap="square" lIns="0" tIns="0" rIns="0" bIns="0" rtlCol="0" anchor="t"/>
          <a:lstStyle/>
          <a:p>
            <a:pPr indent="0" marL="0">
              <a:buNone/>
            </a:pPr>
            <a:r>
              <a:rPr lang="en-US" sz="1700" b="1" dirty="0">
                <a:solidFill>
                  <a:schemeClr val="bg1"/>
                </a:solidFill>
              </a:rPr>
              <a:t>Plus complexe n'est pas forcément meilleur</a:t>
            </a:r>
            <a:endParaRPr lang="en-US" sz="1700" dirty="0"/>
          </a:p>
        </p:txBody>
      </p:sp>
      <p:sp>
        <p:nvSpPr>
          <p:cNvPr id="11" name="texte_198"/>
          <p:cNvSpPr txBox="1"/>
          <p:nvPr/>
        </p:nvSpPr>
        <p:spPr>
          <a:xfrm>
            <a:off x="1143000" y="3081528"/>
            <a:ext cx="5852160" cy="457200"/>
          </a:xfrm>
          <a:prstGeom prst="rect">
            <a:avLst/>
          </a:prstGeom>
          <a:noFill/>
          <a:ln/>
        </p:spPr>
        <p:txBody>
          <a:bodyPr wrap="square" lIns="0" tIns="0" rIns="0" bIns="0" rtlCol="0" anchor="t"/>
          <a:lstStyle/>
          <a:p>
            <a:pPr indent="0" marL="0">
              <a:buNone/>
            </a:pPr>
            <a:r>
              <a:rPr lang="en-US" sz="1400" dirty="0">
                <a:solidFill>
                  <a:schemeClr val="accent3"/>
                </a:solidFill>
              </a:rPr>
              <a:t>L'arbre sans contrainte surapprend ; les ensembles ne gagnent pas au test.</a:t>
            </a:r>
            <a:endParaRPr lang="en-US" sz="1400" dirty="0"/>
          </a:p>
        </p:txBody>
      </p:sp>
      <p:sp>
        <p:nvSpPr>
          <p:cNvPr id="12" name="pastille_199"/>
          <p:cNvSpPr/>
          <p:nvPr/>
        </p:nvSpPr>
        <p:spPr>
          <a:xfrm>
            <a:off x="548640" y="3749040"/>
            <a:ext cx="384048" cy="384048"/>
          </a:xfrm>
          <a:prstGeom prst="ellipse">
            <a:avLst/>
          </a:prstGeom>
          <a:solidFill>
            <a:schemeClr val="accent1"/>
          </a:solidFill>
          <a:ln w="12700">
            <a:solidFill>
              <a:schemeClr val="accent1"/>
            </a:solidFill>
            <a:prstDash val="solid"/>
          </a:ln>
        </p:spPr>
      </p:sp>
      <p:sp>
        <p:nvSpPr>
          <p:cNvPr id="13" name="pastille_txt_200"/>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e_201"/>
          <p:cNvSpPr txBox="1"/>
          <p:nvPr/>
        </p:nvSpPr>
        <p:spPr>
          <a:xfrm>
            <a:off x="1143000" y="3703320"/>
            <a:ext cx="5852160" cy="365760"/>
          </a:xfrm>
          <a:prstGeom prst="rect">
            <a:avLst/>
          </a:prstGeom>
          <a:noFill/>
          <a:ln/>
        </p:spPr>
        <p:txBody>
          <a:bodyPr wrap="square" lIns="0" tIns="0" rIns="0" bIns="0" rtlCol="0" anchor="t"/>
          <a:lstStyle/>
          <a:p>
            <a:pPr indent="0" marL="0">
              <a:buNone/>
            </a:pPr>
            <a:r>
              <a:rPr lang="en-US" sz="1700" b="1" dirty="0">
                <a:solidFill>
                  <a:schemeClr val="bg1"/>
                </a:solidFill>
              </a:rPr>
              <a:t>Un petit écart n'est pas une victoire</a:t>
            </a:r>
            <a:endParaRPr lang="en-US" sz="1700" dirty="0"/>
          </a:p>
        </p:txBody>
      </p:sp>
      <p:sp>
        <p:nvSpPr>
          <p:cNvPr id="15" name="texte_202"/>
          <p:cNvSpPr txBox="1"/>
          <p:nvPr/>
        </p:nvSpPr>
        <p:spPr>
          <a:xfrm>
            <a:off x="1143000" y="4087368"/>
            <a:ext cx="5852160" cy="457200"/>
          </a:xfrm>
          <a:prstGeom prst="rect">
            <a:avLst/>
          </a:prstGeom>
          <a:noFill/>
          <a:ln/>
        </p:spPr>
        <p:txBody>
          <a:bodyPr wrap="square" lIns="0" tIns="0" rIns="0" bIns="0" rtlCol="0" anchor="t"/>
          <a:lstStyle/>
          <a:p>
            <a:pPr indent="0" marL="0">
              <a:buNone/>
            </a:pPr>
            <a:r>
              <a:rPr lang="en-US" sz="1400" dirty="0">
                <a:solidFill>
                  <a:schemeClr val="accent3"/>
                </a:solidFill>
              </a:rPr>
              <a:t>Le meilleur modèle dépend de la métrique ; un véhicule peut inverser le classement.</a:t>
            </a:r>
            <a:endParaRPr lang="en-US" sz="1400" dirty="0"/>
          </a:p>
        </p:txBody>
      </p:sp>
      <p:sp>
        <p:nvSpPr>
          <p:cNvPr id="16" name="pastille_203"/>
          <p:cNvSpPr/>
          <p:nvPr/>
        </p:nvSpPr>
        <p:spPr>
          <a:xfrm>
            <a:off x="548640" y="4754880"/>
            <a:ext cx="384048" cy="384048"/>
          </a:xfrm>
          <a:prstGeom prst="ellipse">
            <a:avLst/>
          </a:prstGeom>
          <a:solidFill>
            <a:schemeClr val="accent1"/>
          </a:solidFill>
          <a:ln w="12700">
            <a:solidFill>
              <a:schemeClr val="accent1"/>
            </a:solidFill>
            <a:prstDash val="solid"/>
          </a:ln>
        </p:spPr>
      </p:sp>
      <p:sp>
        <p:nvSpPr>
          <p:cNvPr id="17" name="pastille_txt_204"/>
          <p:cNvSpPr txBox="1"/>
          <p:nvPr/>
        </p:nvSpPr>
        <p:spPr>
          <a:xfrm>
            <a:off x="548640" y="4754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8" name="texte_205"/>
          <p:cNvSpPr txBox="1"/>
          <p:nvPr/>
        </p:nvSpPr>
        <p:spPr>
          <a:xfrm>
            <a:off x="1143000" y="4709160"/>
            <a:ext cx="5852160" cy="365760"/>
          </a:xfrm>
          <a:prstGeom prst="rect">
            <a:avLst/>
          </a:prstGeom>
          <a:noFill/>
          <a:ln/>
        </p:spPr>
        <p:txBody>
          <a:bodyPr wrap="square" lIns="0" tIns="0" rIns="0" bIns="0" rtlCol="0" anchor="t"/>
          <a:lstStyle/>
          <a:p>
            <a:pPr indent="0" marL="0">
              <a:buNone/>
            </a:pPr>
            <a:r>
              <a:rPr lang="en-US" sz="1700" b="1" dirty="0">
                <a:solidFill>
                  <a:schemeClr val="bg1"/>
                </a:solidFill>
              </a:rPr>
              <a:t>Vérifier le calcul autant que le modèle</a:t>
            </a:r>
            <a:endParaRPr lang="en-US" sz="1700" dirty="0"/>
          </a:p>
        </p:txBody>
      </p:sp>
      <p:sp>
        <p:nvSpPr>
          <p:cNvPr id="19" name="texte_206"/>
          <p:cNvSpPr txBox="1"/>
          <p:nvPr/>
        </p:nvSpPr>
        <p:spPr>
          <a:xfrm>
            <a:off x="1143000" y="5093208"/>
            <a:ext cx="5852160" cy="457200"/>
          </a:xfrm>
          <a:prstGeom prst="rect">
            <a:avLst/>
          </a:prstGeom>
          <a:noFill/>
          <a:ln/>
        </p:spPr>
        <p:txBody>
          <a:bodyPr wrap="square" lIns="0" tIns="0" rIns="0" bIns="0" rtlCol="0" anchor="t"/>
          <a:lstStyle/>
          <a:p>
            <a:pPr indent="0" marL="0">
              <a:buNone/>
            </a:pPr>
            <a:r>
              <a:rPr lang="en-US" sz="1400" dirty="0">
                <a:solidFill>
                  <a:schemeClr val="accent3"/>
                </a:solidFill>
              </a:rPr>
              <a:t>Un solveur arrêté trop tôt sous-estimait la régression linéaire.</a:t>
            </a:r>
            <a:endParaRPr lang="en-US" sz="1400" dirty="0"/>
          </a:p>
        </p:txBody>
      </p:sp>
      <p:sp>
        <p:nvSpPr>
          <p:cNvPr id="20" name="carte_suite"/>
          <p:cNvSpPr/>
          <p:nvPr/>
        </p:nvSpPr>
        <p:spPr>
          <a:xfrm>
            <a:off x="7406640" y="1691640"/>
            <a:ext cx="4206240" cy="3931920"/>
          </a:xfrm>
          <a:prstGeom prst="roundRect">
            <a:avLst>
              <a:gd name="adj" fmla="val 1860"/>
            </a:avLst>
          </a:prstGeom>
          <a:solidFill>
            <a:schemeClr val="tx2"/>
          </a:solidFill>
          <a:ln w="12700">
            <a:solidFill>
              <a:schemeClr val="tx2"/>
            </a:solidFill>
            <a:prstDash val="solid"/>
          </a:ln>
        </p:spPr>
      </p:sp>
      <p:sp>
        <p:nvSpPr>
          <p:cNvPr id="21" name="texte_207"/>
          <p:cNvSpPr txBox="1"/>
          <p:nvPr/>
        </p:nvSpPr>
        <p:spPr>
          <a:xfrm>
            <a:off x="7635240" y="1828800"/>
            <a:ext cx="3749040" cy="365760"/>
          </a:xfrm>
          <a:prstGeom prst="rect">
            <a:avLst/>
          </a:prstGeom>
          <a:noFill/>
          <a:ln/>
        </p:spPr>
        <p:txBody>
          <a:bodyPr wrap="square" lIns="0" tIns="0" rIns="0" bIns="0" rtlCol="0" anchor="t"/>
          <a:lstStyle/>
          <a:p>
            <a:pPr indent="0" marL="0">
              <a:buNone/>
            </a:pPr>
            <a:r>
              <a:rPr lang="en-US" sz="1600" b="1" dirty="0">
                <a:solidFill>
                  <a:schemeClr val="accent1"/>
                </a:solidFill>
              </a:rPr>
              <a:t>Pour aller plus loin</a:t>
            </a:r>
            <a:endParaRPr lang="en-US" sz="1600" dirty="0"/>
          </a:p>
        </p:txBody>
      </p:sp>
      <p:sp>
        <p:nvSpPr>
          <p:cNvPr id="22" name="texte_208"/>
          <p:cNvSpPr txBox="1"/>
          <p:nvPr/>
        </p:nvSpPr>
        <p:spPr>
          <a:xfrm>
            <a:off x="7635240" y="2331720"/>
            <a:ext cx="379476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Garder un test réservé à l'évaluation finale</a:t>
            </a:r>
            <a:endParaRPr lang="en-US" sz="1400" dirty="0"/>
          </a:p>
          <a:p>
            <a:pPr marL="342900" indent="-342900">
              <a:spcAft>
                <a:spcPts val="1000"/>
              </a:spcAft>
              <a:buSzPct val="100000"/>
              <a:buChar char="•"/>
            </a:pPr>
            <a:r>
              <a:rPr lang="en-US" sz="1400" dirty="0">
                <a:solidFill>
                  <a:schemeClr val="bg1"/>
                </a:solidFill>
              </a:rPr>
              <a:t>Rejouer la régression linéaire exacte dans le notebook et MLflow</a:t>
            </a:r>
            <a:endParaRPr lang="en-US" sz="1400" dirty="0"/>
          </a:p>
          <a:p>
            <a:pPr marL="342900" indent="-342900">
              <a:spcAft>
                <a:spcPts val="1000"/>
              </a:spcAft>
              <a:buSzPct val="100000"/>
              <a:buChar char="•"/>
            </a:pPr>
            <a:r>
              <a:rPr lang="en-US" sz="1400" dirty="0">
                <a:solidFill>
                  <a:schemeClr val="bg1"/>
                </a:solidFill>
              </a:rPr>
              <a:t>Regrouper les modèles de véhicule rares</a:t>
            </a:r>
            <a:endParaRPr lang="en-US" sz="1400" dirty="0"/>
          </a:p>
          <a:p>
            <a:pPr marL="342900" indent="-342900">
              <a:spcAft>
                <a:spcPts val="1000"/>
              </a:spcAft>
              <a:buSzPct val="100000"/>
              <a:buChar char="•"/>
            </a:pPr>
            <a:r>
              <a:rPr lang="en-US" sz="1400" dirty="0">
                <a:solidFill>
                  <a:schemeClr val="bg1"/>
                </a:solidFill>
              </a:rPr>
              <a:t>Plus de données, surtout haut de gamme</a:t>
            </a:r>
            <a:endParaRPr lang="en-US" sz="1400" dirty="0"/>
          </a:p>
        </p:txBody>
      </p:sp>
      <p:sp>
        <p:nvSpPr>
          <p:cNvPr id="23" name="texte_209"/>
          <p:cNvSpPr txBox="1"/>
          <p:nvPr/>
        </p:nvSpPr>
        <p:spPr>
          <a:xfrm>
            <a:off x="548640" y="5852160"/>
            <a:ext cx="5486400" cy="457200"/>
          </a:xfrm>
          <a:prstGeom prst="rect">
            <a:avLst/>
          </a:prstGeom>
          <a:noFill/>
          <a:ln/>
        </p:spPr>
        <p:txBody>
          <a:bodyPr wrap="square" lIns="0" tIns="0" rIns="0" bIns="0" rtlCol="0" anchor="t"/>
          <a:lstStyle/>
          <a:p>
            <a:pPr indent="0" marL="0">
              <a:buNone/>
            </a:pPr>
            <a:r>
              <a:rPr lang="en-US" sz="2000" b="1" dirty="0">
                <a:solidFill>
                  <a:schemeClr val="accent1"/>
                </a:solidFill>
              </a:rPr>
              <a:t>Merci — questions ?</a:t>
            </a:r>
            <a:endParaRPr lang="en-US" sz="2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ANNEXE A · HYPERPARAMÈTRES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Hyperparamètres testés et retenus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gridCol w="4206240"/>
                <a:gridCol w="1645920"/>
                <a:gridCol w="1737360"/>
                <a:gridCol w="1554480"/>
              </a:tblGrid>
              <a:tr h="475488">
                <a:tc>
                  <a:txBody>
                    <a:bodyPr/>
                    <a:lstStyle/>
                    <a:p>
                      <a:pPr indent="0" marL="0">
                        <a:buNone/>
                      </a:pPr>
                      <a:r>
                        <a:rPr lang="en-US" sz="1100" b="1" dirty="0">
                          <a:solidFill>
                            <a:schemeClr val="bg1"/>
                          </a:solidFill>
                        </a:rPr>
                        <a:t>Modèle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Valeurs testées</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Retenu</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Méthode de choix</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Source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475488">
                <a:tc>
                  <a:txBody>
                    <a:bodyPr/>
                    <a:lstStyle/>
                    <a:p>
                      <a:pPr indent="0" marL="0">
                        <a:buNone/>
                      </a:pPr>
                      <a:r>
                        <a:rPr lang="en-US" sz="1100" b="1" dirty="0">
                          <a:solidFill>
                            <a:schemeClr val="tx1"/>
                          </a:solidFill>
                        </a:rPr>
                        <a:t>DummyRegressor</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strategy = mean, median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référence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 cell. 19, 53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75488">
                <a:tc>
                  <a:txBody>
                    <a:bodyPr/>
                    <a:lstStyle/>
                    <a:p>
                      <a:pPr indent="0" marL="0">
                        <a:buNone/>
                      </a:pPr>
                      <a:r>
                        <a:rPr lang="en-US" sz="1100" b="1" dirty="0">
                          <a:solidFill>
                            <a:schemeClr val="tx1"/>
                          </a:solidFill>
                        </a:rPr>
                        <a:t>LinearRegression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aucun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02 · cell. 29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Ridge / RidgeCV</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α ∈ {1, 10} puis {0,01 ; 0,1 ; 1 ; 10 ; 100}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α = 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CV interne 5 plis (R²)</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 cell. 59–66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75488">
                <a:tc>
                  <a:txBody>
                    <a:bodyPr/>
                    <a:lstStyle/>
                    <a:p>
                      <a:pPr indent="0" marL="0">
                        <a:buNone/>
                      </a:pPr>
                      <a:r>
                        <a:rPr lang="en-US" sz="1100" b="1" dirty="0">
                          <a:solidFill>
                            <a:schemeClr val="tx1"/>
                          </a:solidFill>
                        </a:rPr>
                        <a:t>Lasso</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α ∈ {1, 10}, max_iter = 10 000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α = 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comparaison au test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02 · cell. 73–77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ElasticNet / ElasticNetCV</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α = 1, l1 = 0,5 puis α ∈ {0,001 … 10} × l1 ∈ {0,1 ; 0,5 ; 0,9}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α = 0,001, l1 = 0,5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CV interne 5 plis (MSE)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 cell. 80–84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75488">
                <a:tc>
                  <a:txBody>
                    <a:bodyPr/>
                    <a:lstStyle/>
                    <a:p>
                      <a:pPr indent="0" marL="0">
                        <a:buNone/>
                      </a:pPr>
                      <a:r>
                        <a:rPr lang="en-US" sz="1100" b="1" dirty="0">
                          <a:solidFill>
                            <a:schemeClr val="tx1"/>
                          </a:solidFill>
                        </a:rPr>
                        <a:t>DecisionTree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max_depth ∈ {3, 5, 10, None} ; min_samples_leaf ∈ {1, 2, 5, 10, 20}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min_samples_leaf = 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comparaison au test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02 · cell. 94–98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RandomForest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n_estimators ∈ {100, 200} ; max_depth = 10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100 arbres</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comparaison au test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02 · cell. 36, 105–110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75488">
                <a:tc>
                  <a:txBody>
                    <a:bodyPr/>
                    <a:lstStyle/>
                    <a:p>
                      <a:pPr indent="0" marL="0">
                        <a:buNone/>
                      </a:pPr>
                      <a:r>
                        <a:rPr lang="en-US" sz="1100" b="1" dirty="0">
                          <a:solidFill>
                            <a:schemeClr val="tx1"/>
                          </a:solidFill>
                        </a:rPr>
                        <a:t>XGBoost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(n, lr, prof.) : (100, 0,1, 3) (200, 0,05, 3) (300, 0,03, 3) (200, 0,05, 2) (300, 0,03, 2) (200, 0,05, 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100, 0,1, 3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comparaison au test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02 · cell. 112, 118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bl>
          </a:graphicData>
        </a:graphic>
      </p:graphicFrame>
      <p:sp>
        <p:nvSpPr>
          <p:cNvPr id="5" name="texte_210"/>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100" i="1" dirty="0">
                <a:solidFill>
                  <a:schemeClr val="accent6"/>
                </a:solidFill>
              </a:rPr>
              <a:t>Tous : random_state = 42 pour le découpage et les modèles aléatoires. Le choix « comparaison au test » est une limite : il utilise le jeu de test comme jeu de validation.</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ANNEXE B · RÉSULTATS DÉTAILLÉS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Scores par pli, variantes et diagnostics recalculés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gridCol w="777240"/>
                <a:gridCol w="777240"/>
                <a:gridCol w="777240"/>
                <a:gridCol w="777240"/>
                <a:gridCol w="777240"/>
                <a:gridCol w="1463040"/>
                <a:gridCol w="1143000"/>
                <a:gridCol w="2651760"/>
              </a:tblGrid>
              <a:tr h="384048">
                <a:tc>
                  <a:txBody>
                    <a:bodyPr/>
                    <a:lstStyle/>
                    <a:p>
                      <a:pPr indent="0" marL="0">
                        <a:buNone/>
                      </a:pPr>
                      <a:r>
                        <a:rPr lang="en-US" sz="1100" b="1" dirty="0">
                          <a:solidFill>
                            <a:schemeClr val="bg1"/>
                          </a:solidFill>
                        </a:rPr>
                        <a:t>Modèle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Pli 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Pli 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Pli 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Pli 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Pli 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Moy. ± é.-t.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R² train*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RMSE test sans Taycan*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384048">
                <a:tc>
                  <a:txBody>
                    <a:bodyPr/>
                    <a:lstStyle/>
                    <a:p>
                      <a:pPr indent="0" marL="0">
                        <a:buNone/>
                      </a:pPr>
                      <a:r>
                        <a:rPr lang="en-US" sz="1100" b="1" dirty="0">
                          <a:solidFill>
                            <a:schemeClr val="tx1"/>
                          </a:solidFill>
                        </a:rPr>
                        <a:t>LinearRegression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0,519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0,729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0,820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0,820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0,727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0,723 ± 0,110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0,862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2 777 $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LinReg, solveur exact*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0,580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0,823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0,830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0,826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0,765 ± 0,095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0,950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Ridge α = 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0,565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0,810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0,868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0,837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0,769 ± 0,108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RidgeCV</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0,565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0,810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0,844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0,831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0,764 ± 0,103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0,927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2 265 $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Lasso α = 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0,563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0,841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0,787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0,824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0,755 ± 0,100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0,947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2 178 $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ElasticNetCV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0,566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0,816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0,868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0,838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0,770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0,772 ± 0,108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0,935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2 226 $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XGBoost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0,756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0,824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0,797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0,795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0,671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0,769 ± 0,054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0,904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2 972 $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RandomForest 100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0,584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0,722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0,807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0,835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0,606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0,711 ± 0,102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0,965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DecisionTree leaf = 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0,477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0,430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0,542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0,733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0,093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0,455 ± 0,208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0,949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bl>
          </a:graphicData>
        </a:graphic>
      </p:graphicFrame>
      <p:sp>
        <p:nvSpPr>
          <p:cNvPr id="5" name="texte_211"/>
          <p:cNvSpPr txBox="1"/>
          <p:nvPr/>
        </p:nvSpPr>
        <p:spPr>
          <a:xfrm>
            <a:off x="548640" y="5623560"/>
            <a:ext cx="11064240" cy="685800"/>
          </a:xfrm>
          <a:prstGeom prst="rect">
            <a:avLst/>
          </a:prstGeom>
          <a:noFill/>
          <a:ln/>
        </p:spPr>
        <p:txBody>
          <a:bodyPr wrap="square" lIns="0" tIns="0" rIns="0" bIns="0" rtlCol="0" anchor="t"/>
          <a:lstStyle/>
          <a:p>
            <a:pPr indent="0" marL="0">
              <a:buNone/>
            </a:pPr>
            <a:r>
              <a:rPr lang="en-US" sz="1100" i="1" dirty="0">
                <a:solidFill>
                  <a:schemeClr val="accent6"/>
                </a:solidFill>
              </a:rPr>
              <a:t>Plis : sorties du notebook 02 (cell. 46, 49, 69, 88, 99, 116, 123, 126). * = recalculé pour la présentation (scikit-learn 1.7.2, xgboost 3.4.1), non journalisé dans MLflow. Variantes au test seul : Ridge α=10 R² 0,726 ; Lasso α=10 0,712 ; ElasticNet α=1 0,494 ; RF 200 0,655 ; RF prof. 10 0,622.</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ANNEXE C · RÉFÉRENCES MLFLOW</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Identifiants pour vérifier chaque chiffre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74520"/>
                <a:gridCol w="3200400"/>
                <a:gridCol w="3063240"/>
                <a:gridCol w="777240"/>
                <a:gridCol w="777240"/>
                <a:gridCol w="685800"/>
                <a:gridCol w="685800"/>
              </a:tblGrid>
              <a:tr h="411480">
                <a:tc>
                  <a:txBody>
                    <a:bodyPr/>
                    <a:lstStyle/>
                    <a:p>
                      <a:pPr indent="0" marL="0">
                        <a:buNone/>
                      </a:pPr>
                      <a:r>
                        <a:rPr lang="en-US" sz="1100" b="1" dirty="0">
                          <a:solidFill>
                            <a:schemeClr val="bg1"/>
                          </a:solidFill>
                        </a:rPr>
                        <a:t>Run (actif)</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run_id</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model_id</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MAE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RMSE</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R² test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R² CV</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411480">
                <a:tc>
                  <a:txBody>
                    <a:bodyPr/>
                    <a:lstStyle/>
                    <a:p>
                      <a:pPr indent="0" marL="0">
                        <a:buNone/>
                      </a:pPr>
                      <a:r>
                        <a:rPr lang="en-US" sz="1100" b="1" dirty="0">
                          <a:solidFill>
                            <a:schemeClr val="tx1"/>
                          </a:solidFill>
                        </a:rPr>
                        <a:t>final_elasticnetcv ★</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76c4acc94b42470c9187836d911ebeb0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m-70c17cf5b38c4a9bb1da3708acee911b</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1 800,09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3 751,06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0,7692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0,7716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indent="0" marL="0">
                        <a:buNone/>
                      </a:pPr>
                      <a:r>
                        <a:rPr lang="en-US" sz="1100" b="1" dirty="0">
                          <a:solidFill>
                            <a:schemeClr val="tx1"/>
                          </a:solidFill>
                        </a:rPr>
                        <a:t>final_ridgecv</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67aa18a08f3243259c02deccbeb8e476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m-a3041268269a40bcaa478364a27ababb</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1 831,63</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3 777,28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0,7660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0,7636</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411480">
                <a:tc>
                  <a:txBody>
                    <a:bodyPr/>
                    <a:lstStyle/>
                    <a:p>
                      <a:pPr indent="0" marL="0">
                        <a:buNone/>
                      </a:pPr>
                      <a:r>
                        <a:rPr lang="en-US" sz="1100" b="1" dirty="0">
                          <a:solidFill>
                            <a:schemeClr val="tx1"/>
                          </a:solidFill>
                        </a:rPr>
                        <a:t>final_lasso_alpha_1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f9a1784e532e47da9d698c8d5b1a0ce1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m-b25de0eb3a154bfea8a9d7b07b2c1b7c</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1 725,97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3 847,80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0,7572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0,7549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r h="411480">
                <a:tc>
                  <a:txBody>
                    <a:bodyPr/>
                    <a:lstStyle/>
                    <a:p>
                      <a:pPr indent="0" marL="0">
                        <a:buNone/>
                      </a:pPr>
                      <a:r>
                        <a:rPr lang="en-US" sz="1100" b="1" dirty="0">
                          <a:solidFill>
                            <a:schemeClr val="tx1"/>
                          </a:solidFill>
                        </a:rPr>
                        <a:t>final_linearregression</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ce208f97b680408f8d6a50f03b3b2220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m-7af8686cd3a14a3ca72d6dc49c6c37f1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2 274,19</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4 242,58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0,7048</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0,7227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r h="411480">
                <a:tc>
                  <a:txBody>
                    <a:bodyPr/>
                    <a:lstStyle/>
                    <a:p>
                      <a:pPr indent="0" marL="0">
                        <a:buNone/>
                      </a:pPr>
                      <a:r>
                        <a:rPr lang="en-US" sz="1100" b="1" dirty="0">
                          <a:solidFill>
                            <a:schemeClr val="tx1"/>
                          </a:solidFill>
                        </a:rPr>
                        <a:t>final_xgboost</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ee2f765c95d845b598ab9fe527e32581</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m-5a68632e405d4f4289895bcb0017d084</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2 109,02</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4 502,50</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0,6675</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0,7687</a:t>
                      </a:r>
                      <a:endParaRPr lang="en-US" sz="1100" dirty="0"/>
                    </a:p>
                  </a:txBody>
                  <a:tcPr marL="73152" marR="73152" marT="27432" marB="27432"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1"/>
                    </a:solidFill>
                  </a:tcPr>
                </a:tc>
              </a:tr>
            </a:tbl>
          </a:graphicData>
        </a:graphic>
      </p:graphicFrame>
      <p:sp>
        <p:nvSpPr>
          <p:cNvPr id="5" name="texte_212"/>
          <p:cNvSpPr txBox="1"/>
          <p:nvPr/>
        </p:nvSpPr>
        <p:spPr>
          <a:xfrm>
            <a:off x="548640" y="4343400"/>
            <a:ext cx="11064240" cy="146304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Expérience : </a:t>
            </a:r>
            <a:pPr indent="0" marL="0">
              <a:spcAft>
                <a:spcPts val="600"/>
              </a:spcAft>
              <a:buNone/>
            </a:pPr>
            <a:r>
              <a:rPr lang="en-US" sz="1200" dirty="0">
                <a:solidFill>
                  <a:schemeClr val="tx2"/>
                </a:solidFill>
              </a:rPr>
              <a:t>prediction_prix_automobile_final (ID 1) · notebooks/mlflow.db · lancer « mlflow ui » depuis notebooks/.</a:t>
            </a:r>
            <a:endParaRPr lang="en-US" sz="1200" dirty="0"/>
          </a:p>
          <a:p>
            <a:pPr indent="0" marL="0">
              <a:spcAft>
                <a:spcPts val="600"/>
              </a:spcAft>
              <a:buNone/>
            </a:pPr>
            <a:r>
              <a:rPr lang="en-US" sz="1200" b="1" dirty="0">
                <a:solidFill>
                  <a:schemeClr val="tx2"/>
                </a:solidFill>
              </a:rPr>
              <a:t>Runs supprimés (25) : </a:t>
            </a:r>
            <a:pPr indent="0" marL="0">
              <a:spcAft>
                <a:spcPts val="600"/>
              </a:spcAft>
              <a:buNone/>
            </a:pPr>
            <a:r>
              <a:rPr lang="en-US" sz="1200" dirty="0">
                <a:solidFill>
                  <a:schemeClr val="tx2"/>
                </a:solidFill>
              </a:rPr>
              <a:t>9 oct. 02:31, 02:36, 02:40 UTC (identiques ; XGBoost FAILED 2b5c8bfb…, 6d4c112c…), 9 oct. 02:42 et 14 oct. 20:41 UTC (autres ordres des lignes). Runs actifs : 14 oct. 21:00 UTC.</a:t>
            </a:r>
            <a:endParaRPr lang="en-US" sz="1200" dirty="0"/>
          </a:p>
          <a:p>
            <a:pPr indent="0" marL="0">
              <a:spcAft>
                <a:spcPts val="600"/>
              </a:spcAft>
              <a:buNone/>
            </a:pPr>
            <a:r>
              <a:rPr lang="en-US" sz="1200" b="1" dirty="0">
                <a:solidFill>
                  <a:schemeClr val="tx2"/>
                </a:solidFill>
              </a:rPr>
              <a:t>Champion déployé : </a:t>
            </a:r>
            <a:pPr indent="0" marL="0">
              <a:spcAft>
                <a:spcPts val="600"/>
              </a:spcAft>
              <a:buNone/>
            </a:pPr>
            <a:r>
              <a:rPr lang="en-US" sz="1200" dirty="0">
                <a:solidFill>
                  <a:schemeClr val="tx2"/>
                </a:solidFill>
              </a:rPr>
              <a:t>models/best_model.joblib = ElasticNetCV(α_ = 0,001, l1_ratio_ = 0,5), métriques recalculées identiques au run.</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ANNEXE D · VÉRIFICATIONS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Vérifications reproduites pour la présentation (hors notebook et MLflow)</a:t>
            </a:r>
            <a:endParaRPr lang="en-US" sz="2800" dirty="0"/>
          </a:p>
        </p:txBody>
      </p:sp>
      <p:sp>
        <p:nvSpPr>
          <p:cNvPr id="4" name="carte_213"/>
          <p:cNvSpPr/>
          <p:nvPr/>
        </p:nvSpPr>
        <p:spPr>
          <a:xfrm>
            <a:off x="548640" y="1600200"/>
            <a:ext cx="11064240" cy="850392"/>
          </a:xfrm>
          <a:prstGeom prst="roundRect">
            <a:avLst>
              <a:gd name="adj" fmla="val 8602"/>
            </a:avLst>
          </a:prstGeom>
          <a:solidFill>
            <a:schemeClr val="bg2"/>
          </a:solidFill>
          <a:ln w="12700">
            <a:solidFill>
              <a:schemeClr val="bg2"/>
            </a:solidFill>
            <a:prstDash val="solid"/>
          </a:ln>
        </p:spPr>
      </p:sp>
      <p:sp>
        <p:nvSpPr>
          <p:cNvPr id="5" name="texte_214"/>
          <p:cNvSpPr txBox="1"/>
          <p:nvPr/>
        </p:nvSpPr>
        <p:spPr>
          <a:xfrm>
            <a:off x="731520" y="1645920"/>
            <a:ext cx="2286000" cy="758952"/>
          </a:xfrm>
          <a:prstGeom prst="rect">
            <a:avLst/>
          </a:prstGeom>
          <a:noFill/>
          <a:ln/>
        </p:spPr>
        <p:txBody>
          <a:bodyPr wrap="square" lIns="0" tIns="0" rIns="0" bIns="0" rtlCol="0" anchor="ctr"/>
          <a:lstStyle/>
          <a:p>
            <a:pPr indent="0" marL="0">
              <a:buNone/>
            </a:pPr>
            <a:r>
              <a:rPr lang="en-US" sz="1300" b="1" dirty="0">
                <a:solidFill>
                  <a:schemeClr val="accent2"/>
                </a:solidFill>
              </a:rPr>
              <a:t>Champion sauvegardé</a:t>
            </a:r>
            <a:endParaRPr lang="en-US" sz="1300" dirty="0"/>
          </a:p>
        </p:txBody>
      </p:sp>
      <p:sp>
        <p:nvSpPr>
          <p:cNvPr id="6" name="texte_215"/>
          <p:cNvSpPr txBox="1"/>
          <p:nvPr/>
        </p:nvSpPr>
        <p:spPr>
          <a:xfrm>
            <a:off x="3108960" y="1645920"/>
            <a:ext cx="8321040" cy="758952"/>
          </a:xfrm>
          <a:prstGeom prst="rect">
            <a:avLst/>
          </a:prstGeom>
          <a:noFill/>
          <a:ln/>
        </p:spPr>
        <p:txBody>
          <a:bodyPr wrap="square" lIns="0" tIns="0" rIns="0" bIns="0" rtlCol="0" anchor="ctr"/>
          <a:lstStyle/>
          <a:p>
            <a:pPr indent="0" marL="0">
              <a:buNone/>
            </a:pPr>
            <a:r>
              <a:rPr lang="en-US" sz="1150" dirty="0">
                <a:solidFill>
                  <a:schemeClr val="tx2"/>
                </a:solidFill>
              </a:rPr>
              <a:t>best_model.joblib rechargé : ElasticNetCV (alpha 0,001 ; l1_ratio 0,5), MAE 1 800,09 $, RMSE 3 751,06 $, R² 0,7692 — identique au run MLflow.</a:t>
            </a:r>
            <a:endParaRPr lang="en-US" sz="1150" dirty="0"/>
          </a:p>
        </p:txBody>
      </p:sp>
      <p:sp>
        <p:nvSpPr>
          <p:cNvPr id="7" name="carte_216"/>
          <p:cNvSpPr/>
          <p:nvPr/>
        </p:nvSpPr>
        <p:spPr>
          <a:xfrm>
            <a:off x="548640" y="2542032"/>
            <a:ext cx="11064240" cy="850392"/>
          </a:xfrm>
          <a:prstGeom prst="roundRect">
            <a:avLst>
              <a:gd name="adj" fmla="val 8602"/>
            </a:avLst>
          </a:prstGeom>
          <a:solidFill>
            <a:schemeClr val="bg2"/>
          </a:solidFill>
          <a:ln w="12700">
            <a:solidFill>
              <a:schemeClr val="bg2"/>
            </a:solidFill>
            <a:prstDash val="solid"/>
          </a:ln>
        </p:spPr>
      </p:sp>
      <p:sp>
        <p:nvSpPr>
          <p:cNvPr id="8" name="texte_217"/>
          <p:cNvSpPr txBox="1"/>
          <p:nvPr/>
        </p:nvSpPr>
        <p:spPr>
          <a:xfrm>
            <a:off x="731520" y="2587752"/>
            <a:ext cx="2286000" cy="758952"/>
          </a:xfrm>
          <a:prstGeom prst="rect">
            <a:avLst/>
          </a:prstGeom>
          <a:noFill/>
          <a:ln/>
        </p:spPr>
        <p:txBody>
          <a:bodyPr wrap="square" lIns="0" tIns="0" rIns="0" bIns="0" rtlCol="0" anchor="ctr"/>
          <a:lstStyle/>
          <a:p>
            <a:pPr indent="0" marL="0">
              <a:buNone/>
            </a:pPr>
            <a:r>
              <a:rPr lang="en-US" sz="1300" b="1" dirty="0">
                <a:solidFill>
                  <a:schemeClr val="accent2"/>
                </a:solidFill>
              </a:rPr>
              <a:t>Régression linéaire</a:t>
            </a:r>
            <a:endParaRPr lang="en-US" sz="1300" dirty="0"/>
          </a:p>
        </p:txBody>
      </p:sp>
      <p:sp>
        <p:nvSpPr>
          <p:cNvPr id="9" name="texte_218"/>
          <p:cNvSpPr txBox="1"/>
          <p:nvPr/>
        </p:nvSpPr>
        <p:spPr>
          <a:xfrm>
            <a:off x="3108960" y="2587752"/>
            <a:ext cx="8321040" cy="758952"/>
          </a:xfrm>
          <a:prstGeom prst="rect">
            <a:avLst/>
          </a:prstGeom>
          <a:noFill/>
          <a:ln/>
        </p:spPr>
        <p:txBody>
          <a:bodyPr wrap="square" lIns="0" tIns="0" rIns="0" bIns="0" rtlCol="0" anchor="ctr"/>
          <a:lstStyle/>
          <a:p>
            <a:pPr indent="0" marL="0">
              <a:buNone/>
            </a:pPr>
            <a:r>
              <a:rPr lang="en-US" sz="1150" dirty="0">
                <a:solidFill>
                  <a:schemeClr val="tx2"/>
                </a:solidFill>
              </a:rPr>
              <a:t>Matrice creuse (notebook) : MAE 2 274 $ ; recalculée : R² train 0,862, MAE 2 186 $ (solveur instable). Matrice dense, non standardisée : R² train 0,950, MAE 1 690 $, RMSE 3 776 $, R² test 0,766 — identique à la version standardisée et au minimum des moindres carrés (lstsq). Cause : solveur lsqr arrêté trop tôt. R² CV 0,765 ± 0,095.</a:t>
            </a:r>
            <a:endParaRPr lang="en-US" sz="1150" dirty="0"/>
          </a:p>
        </p:txBody>
      </p:sp>
      <p:sp>
        <p:nvSpPr>
          <p:cNvPr id="10" name="carte_219"/>
          <p:cNvSpPr/>
          <p:nvPr/>
        </p:nvSpPr>
        <p:spPr>
          <a:xfrm>
            <a:off x="548640" y="3483864"/>
            <a:ext cx="11064240" cy="850392"/>
          </a:xfrm>
          <a:prstGeom prst="roundRect">
            <a:avLst>
              <a:gd name="adj" fmla="val 8602"/>
            </a:avLst>
          </a:prstGeom>
          <a:solidFill>
            <a:schemeClr val="bg2"/>
          </a:solidFill>
          <a:ln w="12700">
            <a:solidFill>
              <a:schemeClr val="bg2"/>
            </a:solidFill>
            <a:prstDash val="solid"/>
          </a:ln>
        </p:spPr>
      </p:sp>
      <p:sp>
        <p:nvSpPr>
          <p:cNvPr id="11" name="texte_220"/>
          <p:cNvSpPr txBox="1"/>
          <p:nvPr/>
        </p:nvSpPr>
        <p:spPr>
          <a:xfrm>
            <a:off x="731520" y="3529584"/>
            <a:ext cx="2286000" cy="758952"/>
          </a:xfrm>
          <a:prstGeom prst="rect">
            <a:avLst/>
          </a:prstGeom>
          <a:noFill/>
          <a:ln/>
        </p:spPr>
        <p:txBody>
          <a:bodyPr wrap="square" lIns="0" tIns="0" rIns="0" bIns="0" rtlCol="0" anchor="ctr"/>
          <a:lstStyle/>
          <a:p>
            <a:pPr indent="0" marL="0">
              <a:buNone/>
            </a:pPr>
            <a:r>
              <a:rPr lang="en-US" sz="1300" b="1" dirty="0">
                <a:solidFill>
                  <a:schemeClr val="accent2"/>
                </a:solidFill>
              </a:rPr>
              <a:t>CV interne</a:t>
            </a:r>
            <a:endParaRPr lang="en-US" sz="1300" dirty="0"/>
          </a:p>
        </p:txBody>
      </p:sp>
      <p:sp>
        <p:nvSpPr>
          <p:cNvPr id="12" name="texte_221"/>
          <p:cNvSpPr txBox="1"/>
          <p:nvPr/>
        </p:nvSpPr>
        <p:spPr>
          <a:xfrm>
            <a:off x="3108960" y="3529584"/>
            <a:ext cx="8321040" cy="758952"/>
          </a:xfrm>
          <a:prstGeom prst="rect">
            <a:avLst/>
          </a:prstGeom>
          <a:noFill/>
          <a:ln/>
        </p:spPr>
        <p:txBody>
          <a:bodyPr wrap="square" lIns="0" tIns="0" rIns="0" bIns="0" rtlCol="0" anchor="ctr"/>
          <a:lstStyle/>
          <a:p>
            <a:pPr indent="0" marL="0">
              <a:buNone/>
            </a:pPr>
            <a:r>
              <a:rPr lang="en-US" sz="1150" dirty="0">
                <a:solidFill>
                  <a:schemeClr val="tx2"/>
                </a:solidFill>
              </a:rPr>
              <a:t>RidgeCV / ElasticNetCV reçoivent des données déjà encodées et standardisées sur tout l'entraînement. Refaite avec GridSearchCV sur le pipeline complet : mêmes paramètres (α = 1 ; α = 0,001, l1_ratio 0,5) et mêmes scores test.</a:t>
            </a:r>
            <a:endParaRPr lang="en-US" sz="1150" dirty="0"/>
          </a:p>
        </p:txBody>
      </p:sp>
      <p:sp>
        <p:nvSpPr>
          <p:cNvPr id="13" name="carte_222"/>
          <p:cNvSpPr/>
          <p:nvPr/>
        </p:nvSpPr>
        <p:spPr>
          <a:xfrm>
            <a:off x="548640" y="4425696"/>
            <a:ext cx="11064240" cy="850392"/>
          </a:xfrm>
          <a:prstGeom prst="roundRect">
            <a:avLst>
              <a:gd name="adj" fmla="val 8602"/>
            </a:avLst>
          </a:prstGeom>
          <a:solidFill>
            <a:schemeClr val="bg2"/>
          </a:solidFill>
          <a:ln w="12700">
            <a:solidFill>
              <a:schemeClr val="bg2"/>
            </a:solidFill>
            <a:prstDash val="solid"/>
          </a:ln>
        </p:spPr>
      </p:sp>
      <p:sp>
        <p:nvSpPr>
          <p:cNvPr id="14" name="texte_223"/>
          <p:cNvSpPr txBox="1"/>
          <p:nvPr/>
        </p:nvSpPr>
        <p:spPr>
          <a:xfrm>
            <a:off x="731520" y="4471416"/>
            <a:ext cx="2286000" cy="758952"/>
          </a:xfrm>
          <a:prstGeom prst="rect">
            <a:avLst/>
          </a:prstGeom>
          <a:noFill/>
          <a:ln/>
        </p:spPr>
        <p:txBody>
          <a:bodyPr wrap="square" lIns="0" tIns="0" rIns="0" bIns="0" rtlCol="0" anchor="ctr"/>
          <a:lstStyle/>
          <a:p>
            <a:pPr indent="0" marL="0">
              <a:buNone/>
            </a:pPr>
            <a:r>
              <a:rPr lang="en-US" sz="1300" b="1" dirty="0">
                <a:solidFill>
                  <a:schemeClr val="accent2"/>
                </a:solidFill>
              </a:rPr>
              <a:t>Sensibilité à un véhicule</a:t>
            </a:r>
            <a:endParaRPr lang="en-US" sz="1300" dirty="0"/>
          </a:p>
        </p:txBody>
      </p:sp>
      <p:sp>
        <p:nvSpPr>
          <p:cNvPr id="15" name="texte_224"/>
          <p:cNvSpPr txBox="1"/>
          <p:nvPr/>
        </p:nvSpPr>
        <p:spPr>
          <a:xfrm>
            <a:off x="3108960" y="4471416"/>
            <a:ext cx="8321040" cy="758952"/>
          </a:xfrm>
          <a:prstGeom prst="rect">
            <a:avLst/>
          </a:prstGeom>
          <a:noFill/>
          <a:ln/>
        </p:spPr>
        <p:txBody>
          <a:bodyPr wrap="square" lIns="0" tIns="0" rIns="0" bIns="0" rtlCol="0" anchor="ctr"/>
          <a:lstStyle/>
          <a:p>
            <a:pPr indent="0" marL="0">
              <a:buNone/>
            </a:pPr>
            <a:r>
              <a:rPr lang="en-US" sz="1150" dirty="0">
                <a:solidFill>
                  <a:schemeClr val="tx2"/>
                </a:solidFill>
              </a:rPr>
              <a:t>Sans la Porsche Taycan : RMSE Lasso 2 178 $, ElasticNetCV 2 226 $, RidgeCV 2 265 $. La Porsche (marque absente du train) est prédite 28 445 $ en 2018 et 37 501 $ en 2024 : les autres variables restent utilisées.</a:t>
            </a:r>
            <a:endParaRPr lang="en-US" sz="1150" dirty="0"/>
          </a:p>
        </p:txBody>
      </p:sp>
      <p:sp>
        <p:nvSpPr>
          <p:cNvPr id="16" name="carte_225"/>
          <p:cNvSpPr/>
          <p:nvPr/>
        </p:nvSpPr>
        <p:spPr>
          <a:xfrm>
            <a:off x="548640" y="5367528"/>
            <a:ext cx="11064240" cy="850392"/>
          </a:xfrm>
          <a:prstGeom prst="roundRect">
            <a:avLst>
              <a:gd name="adj" fmla="val 8602"/>
            </a:avLst>
          </a:prstGeom>
          <a:solidFill>
            <a:schemeClr val="bg2"/>
          </a:solidFill>
          <a:ln w="12700">
            <a:solidFill>
              <a:schemeClr val="bg2"/>
            </a:solidFill>
            <a:prstDash val="solid"/>
          </a:ln>
        </p:spPr>
      </p:sp>
      <p:sp>
        <p:nvSpPr>
          <p:cNvPr id="17" name="texte_226"/>
          <p:cNvSpPr txBox="1"/>
          <p:nvPr/>
        </p:nvSpPr>
        <p:spPr>
          <a:xfrm>
            <a:off x="731520" y="5413248"/>
            <a:ext cx="2286000" cy="758952"/>
          </a:xfrm>
          <a:prstGeom prst="rect">
            <a:avLst/>
          </a:prstGeom>
          <a:noFill/>
          <a:ln/>
        </p:spPr>
        <p:txBody>
          <a:bodyPr wrap="square" lIns="0" tIns="0" rIns="0" bIns="0" rtlCol="0" anchor="ctr"/>
          <a:lstStyle/>
          <a:p>
            <a:pPr indent="0" marL="0">
              <a:buNone/>
            </a:pPr>
            <a:r>
              <a:rPr lang="en-US" sz="1300" b="1" dirty="0">
                <a:solidFill>
                  <a:schemeClr val="accent2"/>
                </a:solidFill>
              </a:rPr>
              <a:t>Reproductibilité</a:t>
            </a:r>
            <a:endParaRPr lang="en-US" sz="1300" dirty="0"/>
          </a:p>
        </p:txBody>
      </p:sp>
      <p:sp>
        <p:nvSpPr>
          <p:cNvPr id="18" name="texte_227"/>
          <p:cNvSpPr txBox="1"/>
          <p:nvPr/>
        </p:nvSpPr>
        <p:spPr>
          <a:xfrm>
            <a:off x="3108960" y="5413248"/>
            <a:ext cx="8321040" cy="758952"/>
          </a:xfrm>
          <a:prstGeom prst="rect">
            <a:avLst/>
          </a:prstGeom>
          <a:noFill/>
          <a:ln/>
        </p:spPr>
        <p:txBody>
          <a:bodyPr wrap="square" lIns="0" tIns="0" rIns="0" bIns="0" rtlCol="0" anchor="ctr"/>
          <a:lstStyle/>
          <a:p>
            <a:pPr indent="0" marL="0">
              <a:buNone/>
            </a:pPr>
            <a:r>
              <a:rPr lang="en-US" sz="1150" dirty="0">
                <a:solidFill>
                  <a:schemeClr val="tx2"/>
                </a:solidFill>
              </a:rPr>
              <a:t>L'ancien notebook 01 réécrivait data/raw et triait de façon non stable : chaque exécution changeait l'ordre des lignes, donc le test. MAE ElasticNetCV : 1 776 $ (9 oct.), 1 821 $ (14 oct., 16 h 41), 1 800 $ (version corrigée, reproductible). Les modèles sont reproduits exactement, sauf la régression linéaire (solveur).</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92608"/>
          </a:xfrm>
          <a:prstGeom prst="rect">
            <a:avLst/>
          </a:prstGeom>
          <a:noFill/>
          <a:ln/>
        </p:spPr>
        <p:txBody>
          <a:bodyPr wrap="square" lIns="0" tIns="0" rIns="0" bIns="0" rtlCol="0"/>
          <a:lstStyle/>
          <a:p>
            <a:pPr indent="0" marL="0">
              <a:buNone/>
            </a:pPr>
            <a:r>
              <a:rPr lang="en-US" sz="1200" b="1" spc="100" kern="0" dirty="0">
                <a:solidFill>
                  <a:schemeClr val="accent2"/>
                </a:solidFill>
              </a:rPr>
              <a:t>ANNEXE E · TECHNIQUES NON UTILISÉES</a:t>
            </a:r>
            <a:endParaRPr lang="en-US" sz="1200" dirty="0"/>
          </a:p>
        </p:txBody>
      </p:sp>
      <p:sp>
        <p:nvSpPr>
          <p:cNvPr id="3" name="Text 0"/>
          <p:cNvSpPr/>
          <p:nvPr>
            <p:ph idx="101" type="title" hasCustomPrompt="1"/>
          </p:nvPr>
        </p:nvSpPr>
        <p:spPr>
          <a:xfrm>
            <a:off x="548640" y="603504"/>
            <a:ext cx="11064240" cy="868680"/>
          </a:xfrm>
          <a:prstGeom prst="rect">
            <a:avLst/>
          </a:prstGeom>
          <a:noFill/>
          <a:ln/>
        </p:spPr>
        <p:txBody>
          <a:bodyPr wrap="square" lIns="0" tIns="0" rIns="0" bIns="0" rtlCol="0" anchor="t"/>
          <a:lstStyle/>
          <a:p>
            <a:pPr algn="l" indent="0" marL="0">
              <a:buNone/>
            </a:pPr>
            <a:r>
              <a:rPr lang="en-US" sz="2800" b="1" dirty="0">
                <a:solidFill>
                  <a:schemeClr val="tx1"/>
                </a:solidFill>
              </a:rPr>
              <a:t>Techniques pertinentes mais non testées dans ce projet</a:t>
            </a:r>
            <a:endParaRPr lang="en-US" sz="2800" dirty="0"/>
          </a:p>
        </p:txBody>
      </p:sp>
      <p:sp>
        <p:nvSpPr>
          <p:cNvPr id="4" name="carte_228"/>
          <p:cNvSpPr/>
          <p:nvPr/>
        </p:nvSpPr>
        <p:spPr>
          <a:xfrm>
            <a:off x="548640" y="1645920"/>
            <a:ext cx="11064240" cy="914400"/>
          </a:xfrm>
          <a:prstGeom prst="roundRect">
            <a:avLst>
              <a:gd name="adj" fmla="val 8000"/>
            </a:avLst>
          </a:prstGeom>
          <a:solidFill>
            <a:schemeClr val="bg2"/>
          </a:solidFill>
          <a:ln w="12700">
            <a:solidFill>
              <a:schemeClr val="bg2"/>
            </a:solidFill>
            <a:prstDash val="solid"/>
          </a:ln>
        </p:spPr>
      </p:sp>
      <p:sp>
        <p:nvSpPr>
          <p:cNvPr id="5" name="texte_229"/>
          <p:cNvSpPr txBox="1"/>
          <p:nvPr/>
        </p:nvSpPr>
        <p:spPr>
          <a:xfrm>
            <a:off x="731520" y="1737360"/>
            <a:ext cx="2468880" cy="320040"/>
          </a:xfrm>
          <a:prstGeom prst="rect">
            <a:avLst/>
          </a:prstGeom>
          <a:noFill/>
          <a:ln/>
        </p:spPr>
        <p:txBody>
          <a:bodyPr wrap="square" lIns="0" tIns="0" rIns="0" bIns="0" rtlCol="0" anchor="t"/>
          <a:lstStyle/>
          <a:p>
            <a:pPr indent="0" marL="0">
              <a:buNone/>
            </a:pPr>
            <a:r>
              <a:rPr lang="en-US" sz="1400" b="1" dirty="0">
                <a:solidFill>
                  <a:schemeClr val="accent2"/>
                </a:solidFill>
              </a:rPr>
              <a:t>Sélection de prédicteurs</a:t>
            </a:r>
            <a:endParaRPr lang="en-US" sz="1400" dirty="0"/>
          </a:p>
        </p:txBody>
      </p:sp>
      <p:sp>
        <p:nvSpPr>
          <p:cNvPr id="6" name="texte_230"/>
          <p:cNvSpPr txBox="1"/>
          <p:nvPr/>
        </p:nvSpPr>
        <p:spPr>
          <a:xfrm>
            <a:off x="731520" y="2084832"/>
            <a:ext cx="2468880" cy="411480"/>
          </a:xfrm>
          <a:prstGeom prst="rect">
            <a:avLst/>
          </a:prstGeom>
          <a:noFill/>
          <a:ln/>
        </p:spPr>
        <p:txBody>
          <a:bodyPr wrap="square" lIns="0" tIns="0" rIns="0" bIns="0" rtlCol="0" anchor="t"/>
          <a:lstStyle/>
          <a:p>
            <a:pPr indent="0" marL="0">
              <a:buNone/>
            </a:pPr>
            <a:r>
              <a:rPr lang="en-US" sz="1200" dirty="0">
                <a:solidFill>
                  <a:schemeClr val="tx1"/>
                </a:solidFill>
              </a:rPr>
              <a:t>Forward / backward (cours 12)</a:t>
            </a:r>
            <a:endParaRPr lang="en-US" sz="1200" dirty="0"/>
          </a:p>
        </p:txBody>
      </p:sp>
      <p:sp>
        <p:nvSpPr>
          <p:cNvPr id="7" name="texte_231"/>
          <p:cNvSpPr txBox="1"/>
          <p:nvPr/>
        </p:nvSpPr>
        <p:spPr>
          <a:xfrm>
            <a:off x="3383280" y="1719072"/>
            <a:ext cx="8046720" cy="768096"/>
          </a:xfrm>
          <a:prstGeom prst="rect">
            <a:avLst/>
          </a:prstGeom>
          <a:noFill/>
          <a:ln/>
        </p:spPr>
        <p:txBody>
          <a:bodyPr wrap="square" lIns="0" tIns="0" rIns="0" bIns="0" rtlCol="0" anchor="ctr"/>
          <a:lstStyle/>
          <a:p>
            <a:pPr indent="0" marL="0">
              <a:buNone/>
            </a:pPr>
            <a:r>
              <a:rPr lang="en-US" sz="1300" dirty="0">
                <a:solidFill>
                  <a:schemeClr val="tx2"/>
                </a:solidFill>
              </a:rPr>
              <a:t>Autre remède à l'overfitting cité dans le cours ; aurait pu réduire les 288 colonnes. Non testé.</a:t>
            </a:r>
            <a:endParaRPr lang="en-US" sz="1300" dirty="0"/>
          </a:p>
        </p:txBody>
      </p:sp>
      <p:sp>
        <p:nvSpPr>
          <p:cNvPr id="8" name="carte_232"/>
          <p:cNvSpPr/>
          <p:nvPr/>
        </p:nvSpPr>
        <p:spPr>
          <a:xfrm>
            <a:off x="548640" y="2670048"/>
            <a:ext cx="11064240" cy="914400"/>
          </a:xfrm>
          <a:prstGeom prst="roundRect">
            <a:avLst>
              <a:gd name="adj" fmla="val 8000"/>
            </a:avLst>
          </a:prstGeom>
          <a:solidFill>
            <a:schemeClr val="bg2"/>
          </a:solidFill>
          <a:ln w="12700">
            <a:solidFill>
              <a:schemeClr val="bg2"/>
            </a:solidFill>
            <a:prstDash val="solid"/>
          </a:ln>
        </p:spPr>
      </p:sp>
      <p:sp>
        <p:nvSpPr>
          <p:cNvPr id="9" name="texte_233"/>
          <p:cNvSpPr txBox="1"/>
          <p:nvPr/>
        </p:nvSpPr>
        <p:spPr>
          <a:xfrm>
            <a:off x="731520" y="2761488"/>
            <a:ext cx="2468880" cy="320040"/>
          </a:xfrm>
          <a:prstGeom prst="rect">
            <a:avLst/>
          </a:prstGeom>
          <a:noFill/>
          <a:ln/>
        </p:spPr>
        <p:txBody>
          <a:bodyPr wrap="square" lIns="0" tIns="0" rIns="0" bIns="0" rtlCol="0" anchor="t"/>
          <a:lstStyle/>
          <a:p>
            <a:pPr indent="0" marL="0">
              <a:buNone/>
            </a:pPr>
            <a:r>
              <a:rPr lang="en-US" sz="1400" b="1" dirty="0">
                <a:solidFill>
                  <a:schemeClr val="accent2"/>
                </a:solidFill>
              </a:rPr>
              <a:t>Recherche d'hyperparamètres</a:t>
            </a:r>
            <a:endParaRPr lang="en-US" sz="1400" dirty="0"/>
          </a:p>
        </p:txBody>
      </p:sp>
      <p:sp>
        <p:nvSpPr>
          <p:cNvPr id="10" name="texte_234"/>
          <p:cNvSpPr txBox="1"/>
          <p:nvPr/>
        </p:nvSpPr>
        <p:spPr>
          <a:xfrm>
            <a:off x="731520" y="3108960"/>
            <a:ext cx="2468880" cy="411480"/>
          </a:xfrm>
          <a:prstGeom prst="rect">
            <a:avLst/>
          </a:prstGeom>
          <a:noFill/>
          <a:ln/>
        </p:spPr>
        <p:txBody>
          <a:bodyPr wrap="square" lIns="0" tIns="0" rIns="0" bIns="0" rtlCol="0" anchor="t"/>
          <a:lstStyle/>
          <a:p>
            <a:pPr indent="0" marL="0">
              <a:buNone/>
            </a:pPr>
            <a:r>
              <a:rPr lang="en-US" sz="1200" dirty="0">
                <a:solidFill>
                  <a:schemeClr val="tx1"/>
                </a:solidFill>
              </a:rPr>
              <a:t>GridSearchCV / RandomizedSearchCV</a:t>
            </a:r>
            <a:endParaRPr lang="en-US" sz="1200" dirty="0"/>
          </a:p>
        </p:txBody>
      </p:sp>
      <p:sp>
        <p:nvSpPr>
          <p:cNvPr id="11" name="texte_235"/>
          <p:cNvSpPr txBox="1"/>
          <p:nvPr/>
        </p:nvSpPr>
        <p:spPr>
          <a:xfrm>
            <a:off x="3383280" y="2743200"/>
            <a:ext cx="8046720" cy="768096"/>
          </a:xfrm>
          <a:prstGeom prst="rect">
            <a:avLst/>
          </a:prstGeom>
          <a:noFill/>
          <a:ln/>
        </p:spPr>
        <p:txBody>
          <a:bodyPr wrap="square" lIns="0" tIns="0" rIns="0" bIns="0" rtlCol="0" anchor="ctr"/>
          <a:lstStyle/>
          <a:p>
            <a:pPr indent="0" marL="0">
              <a:buNone/>
            </a:pPr>
            <a:r>
              <a:rPr lang="en-US" sz="1300" dirty="0">
                <a:solidFill>
                  <a:schemeClr val="tx2"/>
                </a:solidFill>
              </a:rPr>
              <a:t>Aurait permis de régler les arbres et XGBoost sans utiliser le jeu de test. Non utilisé dans le projet.</a:t>
            </a:r>
            <a:endParaRPr lang="en-US" sz="1300" dirty="0"/>
          </a:p>
        </p:txBody>
      </p:sp>
      <p:sp>
        <p:nvSpPr>
          <p:cNvPr id="12" name="carte_236"/>
          <p:cNvSpPr/>
          <p:nvPr/>
        </p:nvSpPr>
        <p:spPr>
          <a:xfrm>
            <a:off x="548640" y="3694176"/>
            <a:ext cx="11064240" cy="914400"/>
          </a:xfrm>
          <a:prstGeom prst="roundRect">
            <a:avLst>
              <a:gd name="adj" fmla="val 8000"/>
            </a:avLst>
          </a:prstGeom>
          <a:solidFill>
            <a:schemeClr val="bg2"/>
          </a:solidFill>
          <a:ln w="12700">
            <a:solidFill>
              <a:schemeClr val="bg2"/>
            </a:solidFill>
            <a:prstDash val="solid"/>
          </a:ln>
        </p:spPr>
      </p:sp>
      <p:sp>
        <p:nvSpPr>
          <p:cNvPr id="13" name="texte_237"/>
          <p:cNvSpPr txBox="1"/>
          <p:nvPr/>
        </p:nvSpPr>
        <p:spPr>
          <a:xfrm>
            <a:off x="731520" y="3785616"/>
            <a:ext cx="2468880" cy="320040"/>
          </a:xfrm>
          <a:prstGeom prst="rect">
            <a:avLst/>
          </a:prstGeom>
          <a:noFill/>
          <a:ln/>
        </p:spPr>
        <p:txBody>
          <a:bodyPr wrap="square" lIns="0" tIns="0" rIns="0" bIns="0" rtlCol="0" anchor="t"/>
          <a:lstStyle/>
          <a:p>
            <a:pPr indent="0" marL="0">
              <a:buNone/>
            </a:pPr>
            <a:r>
              <a:rPr lang="en-US" sz="1400" b="1" dirty="0">
                <a:solidFill>
                  <a:schemeClr val="accent2"/>
                </a:solidFill>
              </a:rPr>
              <a:t>Réduction de dimension</a:t>
            </a:r>
            <a:endParaRPr lang="en-US" sz="1400" dirty="0"/>
          </a:p>
        </p:txBody>
      </p:sp>
      <p:sp>
        <p:nvSpPr>
          <p:cNvPr id="14" name="texte_238"/>
          <p:cNvSpPr txBox="1"/>
          <p:nvPr/>
        </p:nvSpPr>
        <p:spPr>
          <a:xfrm>
            <a:off x="731520" y="4133088"/>
            <a:ext cx="2468880" cy="411480"/>
          </a:xfrm>
          <a:prstGeom prst="rect">
            <a:avLst/>
          </a:prstGeom>
          <a:noFill/>
          <a:ln/>
        </p:spPr>
        <p:txBody>
          <a:bodyPr wrap="square" lIns="0" tIns="0" rIns="0" bIns="0" rtlCol="0" anchor="t"/>
          <a:lstStyle/>
          <a:p>
            <a:pPr indent="0" marL="0">
              <a:buNone/>
            </a:pPr>
            <a:r>
              <a:rPr lang="en-US" sz="1200" dirty="0">
                <a:solidFill>
                  <a:schemeClr val="tx1"/>
                </a:solidFill>
              </a:rPr>
              <a:t>PCA</a:t>
            </a:r>
            <a:endParaRPr lang="en-US" sz="1200" dirty="0"/>
          </a:p>
        </p:txBody>
      </p:sp>
      <p:sp>
        <p:nvSpPr>
          <p:cNvPr id="15" name="texte_239"/>
          <p:cNvSpPr txBox="1"/>
          <p:nvPr/>
        </p:nvSpPr>
        <p:spPr>
          <a:xfrm>
            <a:off x="3383280" y="3767328"/>
            <a:ext cx="8046720" cy="768096"/>
          </a:xfrm>
          <a:prstGeom prst="rect">
            <a:avLst/>
          </a:prstGeom>
          <a:noFill/>
          <a:ln/>
        </p:spPr>
        <p:txBody>
          <a:bodyPr wrap="square" lIns="0" tIns="0" rIns="0" bIns="0" rtlCol="0" anchor="ctr"/>
          <a:lstStyle/>
          <a:p>
            <a:pPr indent="0" marL="0">
              <a:buNone/>
            </a:pPr>
            <a:r>
              <a:rPr lang="en-US" sz="1300" dirty="0">
                <a:solidFill>
                  <a:schemeClr val="tx2"/>
                </a:solidFill>
              </a:rPr>
              <a:t>Réduirait les 288 colonnes, mais rend les coefficients moins lisibles ; la régularisation ou le regroupement des modèles rares semblent plus adaptés. Non testé.</a:t>
            </a:r>
            <a:endParaRPr lang="en-US" sz="1300" dirty="0"/>
          </a:p>
        </p:txBody>
      </p:sp>
      <p:sp>
        <p:nvSpPr>
          <p:cNvPr id="16" name="carte_240"/>
          <p:cNvSpPr/>
          <p:nvPr/>
        </p:nvSpPr>
        <p:spPr>
          <a:xfrm>
            <a:off x="548640" y="4718304"/>
            <a:ext cx="11064240" cy="914400"/>
          </a:xfrm>
          <a:prstGeom prst="roundRect">
            <a:avLst>
              <a:gd name="adj" fmla="val 8000"/>
            </a:avLst>
          </a:prstGeom>
          <a:solidFill>
            <a:schemeClr val="bg2"/>
          </a:solidFill>
          <a:ln w="12700">
            <a:solidFill>
              <a:schemeClr val="bg2"/>
            </a:solidFill>
            <a:prstDash val="solid"/>
          </a:ln>
        </p:spPr>
      </p:sp>
      <p:sp>
        <p:nvSpPr>
          <p:cNvPr id="17" name="texte_241"/>
          <p:cNvSpPr txBox="1"/>
          <p:nvPr/>
        </p:nvSpPr>
        <p:spPr>
          <a:xfrm>
            <a:off x="731520" y="4809744"/>
            <a:ext cx="2468880" cy="320040"/>
          </a:xfrm>
          <a:prstGeom prst="rect">
            <a:avLst/>
          </a:prstGeom>
          <a:noFill/>
          <a:ln/>
        </p:spPr>
        <p:txBody>
          <a:bodyPr wrap="square" lIns="0" tIns="0" rIns="0" bIns="0" rtlCol="0" anchor="t"/>
          <a:lstStyle/>
          <a:p>
            <a:pPr indent="0" marL="0">
              <a:buNone/>
            </a:pPr>
            <a:r>
              <a:rPr lang="en-US" sz="1400" b="1" dirty="0">
                <a:solidFill>
                  <a:schemeClr val="accent2"/>
                </a:solidFill>
              </a:rPr>
              <a:t>Exploration</a:t>
            </a:r>
            <a:endParaRPr lang="en-US" sz="1400" dirty="0"/>
          </a:p>
        </p:txBody>
      </p:sp>
      <p:sp>
        <p:nvSpPr>
          <p:cNvPr id="18" name="texte_242"/>
          <p:cNvSpPr txBox="1"/>
          <p:nvPr/>
        </p:nvSpPr>
        <p:spPr>
          <a:xfrm>
            <a:off x="731520" y="5157216"/>
            <a:ext cx="2468880" cy="411480"/>
          </a:xfrm>
          <a:prstGeom prst="rect">
            <a:avLst/>
          </a:prstGeom>
          <a:noFill/>
          <a:ln/>
        </p:spPr>
        <p:txBody>
          <a:bodyPr wrap="square" lIns="0" tIns="0" rIns="0" bIns="0" rtlCol="0" anchor="t"/>
          <a:lstStyle/>
          <a:p>
            <a:pPr indent="0" marL="0">
              <a:buNone/>
            </a:pPr>
            <a:r>
              <a:rPr lang="en-US" sz="1200" dirty="0">
                <a:solidFill>
                  <a:schemeClr val="tx1"/>
                </a:solidFill>
              </a:rPr>
              <a:t>Clustering (k-means…)</a:t>
            </a:r>
            <a:endParaRPr lang="en-US" sz="1200" dirty="0"/>
          </a:p>
        </p:txBody>
      </p:sp>
      <p:sp>
        <p:nvSpPr>
          <p:cNvPr id="19" name="texte_243"/>
          <p:cNvSpPr txBox="1"/>
          <p:nvPr/>
        </p:nvSpPr>
        <p:spPr>
          <a:xfrm>
            <a:off x="3383280" y="4791456"/>
            <a:ext cx="8046720" cy="768096"/>
          </a:xfrm>
          <a:prstGeom prst="rect">
            <a:avLst/>
          </a:prstGeom>
          <a:noFill/>
          <a:ln/>
        </p:spPr>
        <p:txBody>
          <a:bodyPr wrap="square" lIns="0" tIns="0" rIns="0" bIns="0" rtlCol="0" anchor="ctr"/>
          <a:lstStyle/>
          <a:p>
            <a:pPr indent="0" marL="0">
              <a:buNone/>
            </a:pPr>
            <a:r>
              <a:rPr lang="en-US" sz="1300" dirty="0">
                <a:solidFill>
                  <a:schemeClr val="tx2"/>
                </a:solidFill>
              </a:rPr>
              <a:t>Pourrait segmenter le marché (citadines, utilitaires, haut de gamme) ; ne prédit pas le prix à lui seul. Non testé.</a:t>
            </a:r>
            <a:endParaRPr lang="en-US" sz="1300" dirty="0"/>
          </a:p>
        </p:txBody>
      </p:sp>
      <p:sp>
        <p:nvSpPr>
          <p:cNvPr id="20" name="texte_244"/>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200" i="1" dirty="0">
                <a:solidFill>
                  <a:schemeClr val="accent6"/>
                </a:solidFill>
              </a:rPr>
              <a:t>Supports du cours consultés : 022 régression linéaire · 032 fonctions de scoring · 03-1 arbre de décision · 12 approche par ensembles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P Prix Vehicules">
  <a:themeElements>
    <a:clrScheme name="TP Prix Vehicules">
      <a:dk1>
        <a:srgbClr val="1B232B"/>
      </a:dk1>
      <a:lt1>
        <a:srgbClr val="FFFFFF"/>
      </a:lt1>
      <a:dk2>
        <a:srgbClr val="33414E"/>
      </a:dk2>
      <a:lt2>
        <a:srgbClr val="EEF1F4"/>
      </a:lt2>
      <a:accent1>
        <a:srgbClr val="E8A317"/>
      </a:accent1>
      <a:accent2>
        <a:srgbClr val="3E7C8C"/>
      </a:accent2>
      <a:accent3>
        <a:srgbClr val="9AA5B1"/>
      </a:accent3>
      <a:accent4>
        <a:srgbClr val="B5472F"/>
      </a:accent4>
      <a:accent5>
        <a:srgbClr val="4E8A55"/>
      </a:accent5>
      <a:accent6>
        <a:srgbClr val="6B7A89"/>
      </a:accent6>
      <a:hlink>
        <a:srgbClr val="3E7C8C"/>
      </a:hlink>
      <a:folHlink>
        <a:srgbClr val="6B7A89"/>
      </a:folHlink>
    </a:clrScheme>
    <a:fontScheme name="TP Prix Vehicul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Prédiction du prix des véhicules — techniques d'apprentissage</dc:title>
  <dc:subject>PptxGenJS Presentation</dc:subject>
  <dc:creator>Issam Lemterif</dc:creator>
  <cp:lastModifiedBy>Issam Lemterif</cp:lastModifiedBy>
  <cp:revision>1</cp:revision>
  <dcterms:created xsi:type="dcterms:W3CDTF">2026-10-14T21:07:23Z</dcterms:created>
  <dcterms:modified xsi:type="dcterms:W3CDTF">2026-10-14T21:07:23Z</dcterms:modified>
</cp:coreProperties>
</file>